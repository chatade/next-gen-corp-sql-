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234" y="2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lanwa Ogunlolu" userId="f501263d49f667bf" providerId="LiveId" clId="{36B3742A-B73C-47BA-A184-CAD362153118}"/>
    <pc:docChg chg="undo custSel modSld">
      <pc:chgData name="Adelanwa Ogunlolu" userId="f501263d49f667bf" providerId="LiveId" clId="{36B3742A-B73C-47BA-A184-CAD362153118}" dt="2025-09-25T01:55:15.483" v="16" actId="13926"/>
      <pc:docMkLst>
        <pc:docMk/>
      </pc:docMkLst>
      <pc:sldChg chg="addSp delSp modSp mod">
        <pc:chgData name="Adelanwa Ogunlolu" userId="f501263d49f667bf" providerId="LiveId" clId="{36B3742A-B73C-47BA-A184-CAD362153118}" dt="2025-09-25T01:38:22.536" v="14" actId="166"/>
        <pc:sldMkLst>
          <pc:docMk/>
          <pc:sldMk cId="0" sldId="256"/>
        </pc:sldMkLst>
        <pc:spChg chg="add del mod ord">
          <ac:chgData name="Adelanwa Ogunlolu" userId="f501263d49f667bf" providerId="LiveId" clId="{36B3742A-B73C-47BA-A184-CAD362153118}" dt="2025-09-25T01:38:22.536" v="14" actId="166"/>
          <ac:spMkLst>
            <pc:docMk/>
            <pc:sldMk cId="0" sldId="256"/>
            <ac:spMk id="2" creationId="{00000000-0000-0000-0000-000000000000}"/>
          </ac:spMkLst>
        </pc:spChg>
        <pc:spChg chg="mod">
          <ac:chgData name="Adelanwa Ogunlolu" userId="f501263d49f667bf" providerId="LiveId" clId="{36B3742A-B73C-47BA-A184-CAD362153118}" dt="2025-09-25T01:37:01.112" v="3" actId="1076"/>
          <ac:spMkLst>
            <pc:docMk/>
            <pc:sldMk cId="0" sldId="256"/>
            <ac:spMk id="3" creationId="{00000000-0000-0000-0000-000000000000}"/>
          </ac:spMkLst>
        </pc:spChg>
      </pc:sldChg>
      <pc:sldChg chg="modSp mod">
        <pc:chgData name="Adelanwa Ogunlolu" userId="f501263d49f667bf" providerId="LiveId" clId="{36B3742A-B73C-47BA-A184-CAD362153118}" dt="2025-09-25T01:55:15.483" v="16" actId="13926"/>
        <pc:sldMkLst>
          <pc:docMk/>
          <pc:sldMk cId="0" sldId="259"/>
        </pc:sldMkLst>
        <pc:spChg chg="mod">
          <ac:chgData name="Adelanwa Ogunlolu" userId="f501263d49f667bf" providerId="LiveId" clId="{36B3742A-B73C-47BA-A184-CAD362153118}" dt="2025-09-25T01:55:05.235" v="15" actId="13926"/>
          <ac:spMkLst>
            <pc:docMk/>
            <pc:sldMk cId="0" sldId="259"/>
            <ac:spMk id="2" creationId="{00000000-0000-0000-0000-000000000000}"/>
          </ac:spMkLst>
        </pc:spChg>
        <pc:spChg chg="mod">
          <ac:chgData name="Adelanwa Ogunlolu" userId="f501263d49f667bf" providerId="LiveId" clId="{36B3742A-B73C-47BA-A184-CAD362153118}" dt="2025-09-25T01:55:15.483" v="16" actId="13926"/>
          <ac:spMkLst>
            <pc:docMk/>
            <pc:sldMk cId="0" sldId="25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accent3"/>
              </a:solidFill>
            </a:endParaRPr>
          </a:p>
        </p:txBody>
      </p:sp>
      <p:sp>
        <p:nvSpPr>
          <p:cNvPr id="3" name="Freeform 3"/>
          <p:cNvSpPr/>
          <p:nvPr/>
        </p:nvSpPr>
        <p:spPr>
          <a:xfrm>
            <a:off x="145859"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TextBox 4"/>
          <p:cNvSpPr txBox="1"/>
          <p:nvPr/>
        </p:nvSpPr>
        <p:spPr>
          <a:xfrm>
            <a:off x="2544191" y="1491143"/>
            <a:ext cx="4417064" cy="2006600"/>
          </a:xfrm>
          <a:prstGeom prst="rect">
            <a:avLst/>
          </a:prstGeom>
          <a:noFill/>
        </p:spPr>
        <p:txBody>
          <a:bodyPr wrap="none" lIns="0" tIns="0" rIns="0" bIns="0" rtlCol="0">
            <a:spAutoFit/>
          </a:bodyPr>
          <a:lstStyle/>
          <a:p>
            <a:pPr>
              <a:lnSpc>
                <a:spcPts val="6600"/>
              </a:lnSpc>
              <a:spcBef>
                <a:spcPts val="0"/>
              </a:spcBef>
            </a:pPr>
            <a:r>
              <a:rPr lang="en-US" altLang="zh-CN" sz="6698" b="0" i="0" dirty="0">
                <a:solidFill>
                  <a:srgbClr val="5C5C5F"/>
                </a:solidFill>
                <a:latin typeface="5 Regular" pitchFamily="18" charset="0"/>
                <a:cs typeface="5 Regular" pitchFamily="18" charset="0"/>
              </a:rPr>
              <a:t>NEXT GEN </a:t>
            </a:r>
          </a:p>
          <a:p>
            <a:pPr marL="809244">
              <a:lnSpc>
                <a:spcPts val="9200"/>
              </a:lnSpc>
              <a:spcBef>
                <a:spcPts val="0"/>
              </a:spcBef>
            </a:pPr>
            <a:r>
              <a:rPr lang="en-US" altLang="zh-CN" sz="6698" b="0" i="0" dirty="0">
                <a:solidFill>
                  <a:srgbClr val="5C5C5F"/>
                </a:solidFill>
                <a:latin typeface="5 Regular" pitchFamily="18" charset="0"/>
                <a:cs typeface="5 Regular" pitchFamily="18" charset="0"/>
              </a:rPr>
              <a:t>CORP.</a:t>
            </a:r>
          </a:p>
        </p:txBody>
      </p:sp>
      <p:sp>
        <p:nvSpPr>
          <p:cNvPr id="5" name="TextBox 5"/>
          <p:cNvSpPr txBox="1"/>
          <p:nvPr/>
        </p:nvSpPr>
        <p:spPr>
          <a:xfrm>
            <a:off x="2743200" y="3714750"/>
            <a:ext cx="2631554" cy="390620"/>
          </a:xfrm>
          <a:prstGeom prst="rect">
            <a:avLst/>
          </a:prstGeom>
          <a:noFill/>
        </p:spPr>
        <p:txBody>
          <a:bodyPr wrap="none" lIns="0" tIns="0" rIns="0" bIns="0" rtlCol="0">
            <a:spAutoFit/>
          </a:bodyPr>
          <a:lstStyle/>
          <a:p>
            <a:pPr>
              <a:lnSpc>
                <a:spcPts val="1500"/>
              </a:lnSpc>
              <a:spcBef>
                <a:spcPts val="0"/>
              </a:spcBef>
            </a:pPr>
            <a:r>
              <a:rPr lang="en-US" altLang="zh-CN" sz="1596" b="0" i="0" dirty="0">
                <a:solidFill>
                  <a:srgbClr val="5C5C5F"/>
                </a:solidFill>
                <a:latin typeface="1 Regular" pitchFamily="18" charset="0"/>
                <a:cs typeface="1 Regular" pitchFamily="18" charset="0"/>
              </a:rPr>
              <a:t>	PRESENTED BY </a:t>
            </a:r>
          </a:p>
          <a:p>
            <a:pPr>
              <a:lnSpc>
                <a:spcPts val="1500"/>
              </a:lnSpc>
              <a:spcBef>
                <a:spcPts val="0"/>
              </a:spcBef>
            </a:pPr>
            <a:r>
              <a:rPr lang="en-US" altLang="zh-CN" sz="1596" dirty="0">
                <a:solidFill>
                  <a:srgbClr val="5C5C5F"/>
                </a:solidFill>
                <a:latin typeface="1 Regular" pitchFamily="18" charset="0"/>
                <a:cs typeface="1 Regular" pitchFamily="18" charset="0"/>
              </a:rPr>
              <a:t>              </a:t>
            </a:r>
            <a:r>
              <a:rPr lang="en-US" altLang="zh-CN" sz="1596" b="0" i="0" dirty="0">
                <a:solidFill>
                  <a:srgbClr val="5C5C5F"/>
                </a:solidFill>
                <a:latin typeface="1 Regular" pitchFamily="18" charset="0"/>
                <a:cs typeface="1 Regular" pitchFamily="18" charset="0"/>
              </a:rPr>
              <a:t>ADELANWA OGUNLOLU</a:t>
            </a:r>
          </a:p>
        </p:txBody>
      </p:sp>
      <p:sp>
        <p:nvSpPr>
          <p:cNvPr id="6" name="Freeform 6"/>
          <p:cNvSpPr/>
          <p:nvPr/>
        </p:nvSpPr>
        <p:spPr>
          <a:xfrm>
            <a:off x="1562481" y="2506726"/>
            <a:ext cx="6018911" cy="82931"/>
          </a:xfrm>
          <a:custGeom>
            <a:avLst/>
            <a:gdLst>
              <a:gd name="connsiteX0" fmla="*/ 38100 w 6018911"/>
              <a:gd name="connsiteY0" fmla="*/ 54229 h 82931"/>
              <a:gd name="connsiteX1" fmla="*/ 5980811 w 6018911"/>
              <a:gd name="connsiteY1" fmla="*/ 47625 h 82931"/>
              <a:gd name="connsiteX2" fmla="*/ 5980811 w 6018911"/>
              <a:gd name="connsiteY2" fmla="*/ 28575 h 82931"/>
              <a:gd name="connsiteX3" fmla="*/ 38100 w 6018911"/>
              <a:gd name="connsiteY3" fmla="*/ 35179 h 82931"/>
              <a:gd name="connsiteX5" fmla="*/ 38100 w 6018911"/>
              <a:gd name="connsiteY5" fmla="*/ 6604 h 82931"/>
              <a:gd name="connsiteX6" fmla="*/ 0 w 6018911"/>
              <a:gd name="connsiteY6" fmla="*/ 44831 h 82931"/>
              <a:gd name="connsiteX7" fmla="*/ 38100 w 6018911"/>
              <a:gd name="connsiteY7" fmla="*/ 82804 h 82931"/>
              <a:gd name="connsiteX8" fmla="*/ 76200 w 6018911"/>
              <a:gd name="connsiteY8" fmla="*/ 44704 h 82931"/>
              <a:gd name="connsiteX9" fmla="*/ 38100 w 6018911"/>
              <a:gd name="connsiteY9" fmla="*/ 6604 h 82931"/>
              <a:gd name="connsiteX11" fmla="*/ 5980811 w 6018911"/>
              <a:gd name="connsiteY11" fmla="*/ 76200 h 82931"/>
              <a:gd name="connsiteX12" fmla="*/ 6018911 w 6018911"/>
              <a:gd name="connsiteY12" fmla="*/ 38100 h 82931"/>
              <a:gd name="connsiteX13" fmla="*/ 5980811 w 6018911"/>
              <a:gd name="connsiteY13" fmla="*/ 0 h 82931"/>
              <a:gd name="connsiteX14" fmla="*/ 5942711 w 6018911"/>
              <a:gd name="connsiteY14" fmla="*/ 38227 h 82931"/>
              <a:gd name="connsiteX15" fmla="*/ 5980811 w 6018911"/>
              <a:gd name="connsiteY15" fmla="*/ 76200 h 82931"/>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931">
                <a:moveTo>
                  <a:pt x="38100" y="54229"/>
                </a:moveTo>
                <a:lnTo>
                  <a:pt x="5980811" y="47625"/>
                </a:lnTo>
                <a:lnTo>
                  <a:pt x="5980811" y="28575"/>
                </a:lnTo>
                <a:lnTo>
                  <a:pt x="38100" y="35179"/>
                </a:lnTo>
                <a:moveTo>
                  <a:pt x="38100" y="6604"/>
                </a:moveTo>
                <a:cubicBezTo>
                  <a:pt x="17018" y="6731"/>
                  <a:pt x="0" y="23749"/>
                  <a:pt x="0" y="44831"/>
                </a:cubicBezTo>
                <a:cubicBezTo>
                  <a:pt x="0" y="65786"/>
                  <a:pt x="17145" y="82931"/>
                  <a:pt x="38100" y="82804"/>
                </a:cubicBezTo>
                <a:cubicBezTo>
                  <a:pt x="59182" y="82804"/>
                  <a:pt x="76200" y="65786"/>
                  <a:pt x="76200" y="44704"/>
                </a:cubicBezTo>
                <a:cubicBezTo>
                  <a:pt x="76200" y="23622"/>
                  <a:pt x="59055" y="6604"/>
                  <a:pt x="38100" y="6604"/>
                </a:cubicBezTo>
                <a:moveTo>
                  <a:pt x="5980811" y="76200"/>
                </a:moveTo>
                <a:cubicBezTo>
                  <a:pt x="6001893" y="76200"/>
                  <a:pt x="6018911" y="59182"/>
                  <a:pt x="6018911" y="38100"/>
                </a:cubicBezTo>
                <a:cubicBezTo>
                  <a:pt x="6018911" y="17018"/>
                  <a:pt x="6001766" y="0"/>
                  <a:pt x="5980811" y="0"/>
                </a:cubicBezTo>
                <a:cubicBezTo>
                  <a:pt x="5959729" y="127"/>
                  <a:pt x="5942711" y="17145"/>
                  <a:pt x="5942711" y="38227"/>
                </a:cubicBezTo>
                <a:cubicBezTo>
                  <a:pt x="5942711" y="59309"/>
                  <a:pt x="5959856" y="76327"/>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1562481" y="1310513"/>
            <a:ext cx="6018911" cy="82931"/>
          </a:xfrm>
          <a:custGeom>
            <a:avLst/>
            <a:gdLst>
              <a:gd name="connsiteX0" fmla="*/ 38100 w 6018911"/>
              <a:gd name="connsiteY0" fmla="*/ 54229 h 82931"/>
              <a:gd name="connsiteX1" fmla="*/ 5980811 w 6018911"/>
              <a:gd name="connsiteY1" fmla="*/ 47625 h 82931"/>
              <a:gd name="connsiteX2" fmla="*/ 5980811 w 6018911"/>
              <a:gd name="connsiteY2" fmla="*/ 28575 h 82931"/>
              <a:gd name="connsiteX3" fmla="*/ 38100 w 6018911"/>
              <a:gd name="connsiteY3" fmla="*/ 35179 h 82931"/>
              <a:gd name="connsiteX5" fmla="*/ 38100 w 6018911"/>
              <a:gd name="connsiteY5" fmla="*/ 6604 h 82931"/>
              <a:gd name="connsiteX6" fmla="*/ 0 w 6018911"/>
              <a:gd name="connsiteY6" fmla="*/ 44831 h 82931"/>
              <a:gd name="connsiteX7" fmla="*/ 38100 w 6018911"/>
              <a:gd name="connsiteY7" fmla="*/ 82804 h 82931"/>
              <a:gd name="connsiteX8" fmla="*/ 76200 w 6018911"/>
              <a:gd name="connsiteY8" fmla="*/ 44704 h 82931"/>
              <a:gd name="connsiteX9" fmla="*/ 38100 w 6018911"/>
              <a:gd name="connsiteY9" fmla="*/ 6604 h 82931"/>
              <a:gd name="connsiteX11" fmla="*/ 5980811 w 6018911"/>
              <a:gd name="connsiteY11" fmla="*/ 76200 h 82931"/>
              <a:gd name="connsiteX12" fmla="*/ 6018911 w 6018911"/>
              <a:gd name="connsiteY12" fmla="*/ 38100 h 82931"/>
              <a:gd name="connsiteX13" fmla="*/ 5980811 w 6018911"/>
              <a:gd name="connsiteY13" fmla="*/ 0 h 82931"/>
              <a:gd name="connsiteX14" fmla="*/ 5942711 w 6018911"/>
              <a:gd name="connsiteY14" fmla="*/ 38227 h 82931"/>
              <a:gd name="connsiteX15" fmla="*/ 5980811 w 6018911"/>
              <a:gd name="connsiteY15" fmla="*/ 76200 h 82931"/>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931">
                <a:moveTo>
                  <a:pt x="38100" y="54229"/>
                </a:moveTo>
                <a:lnTo>
                  <a:pt x="5980811" y="47625"/>
                </a:lnTo>
                <a:lnTo>
                  <a:pt x="5980811" y="28575"/>
                </a:lnTo>
                <a:lnTo>
                  <a:pt x="38100" y="35179"/>
                </a:lnTo>
                <a:moveTo>
                  <a:pt x="38100" y="6604"/>
                </a:moveTo>
                <a:cubicBezTo>
                  <a:pt x="17018" y="6731"/>
                  <a:pt x="0" y="23749"/>
                  <a:pt x="0" y="44831"/>
                </a:cubicBezTo>
                <a:cubicBezTo>
                  <a:pt x="0" y="65786"/>
                  <a:pt x="17145" y="82931"/>
                  <a:pt x="38100" y="82804"/>
                </a:cubicBezTo>
                <a:cubicBezTo>
                  <a:pt x="59182" y="82804"/>
                  <a:pt x="76200" y="65786"/>
                  <a:pt x="76200" y="44704"/>
                </a:cubicBezTo>
                <a:cubicBezTo>
                  <a:pt x="76200" y="23622"/>
                  <a:pt x="59055" y="6604"/>
                  <a:pt x="38100" y="6604"/>
                </a:cubicBezTo>
                <a:moveTo>
                  <a:pt x="5980811" y="76200"/>
                </a:moveTo>
                <a:cubicBezTo>
                  <a:pt x="6001893" y="76200"/>
                  <a:pt x="6018911" y="59182"/>
                  <a:pt x="6018911" y="38100"/>
                </a:cubicBezTo>
                <a:cubicBezTo>
                  <a:pt x="6018911" y="17018"/>
                  <a:pt x="6001766" y="0"/>
                  <a:pt x="5980811" y="0"/>
                </a:cubicBezTo>
                <a:cubicBezTo>
                  <a:pt x="5959729" y="127"/>
                  <a:pt x="5942711" y="17145"/>
                  <a:pt x="5942711" y="38227"/>
                </a:cubicBezTo>
                <a:cubicBezTo>
                  <a:pt x="5942711" y="59182"/>
                  <a:pt x="5959856" y="76327"/>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2422779" y="1865503"/>
            <a:ext cx="239395" cy="239395"/>
          </a:xfrm>
          <a:custGeom>
            <a:avLst/>
            <a:gdLst>
              <a:gd name="connsiteX0" fmla="*/ 0 w 239395"/>
              <a:gd name="connsiteY0" fmla="*/ 119761 h 239395"/>
              <a:gd name="connsiteX1" fmla="*/ 93091 w 239395"/>
              <a:gd name="connsiteY1" fmla="*/ 93091 h 239395"/>
              <a:gd name="connsiteX2" fmla="*/ 119761 w 239395"/>
              <a:gd name="connsiteY2" fmla="*/ 0 h 239395"/>
              <a:gd name="connsiteX3" fmla="*/ 146431 w 239395"/>
              <a:gd name="connsiteY3" fmla="*/ 93091 h 239395"/>
              <a:gd name="connsiteX4" fmla="*/ 239395 w 239395"/>
              <a:gd name="connsiteY4" fmla="*/ 119761 h 239395"/>
              <a:gd name="connsiteX5" fmla="*/ 146431 w 239395"/>
              <a:gd name="connsiteY5" fmla="*/ 146304 h 239395"/>
              <a:gd name="connsiteX6" fmla="*/ 119761 w 239395"/>
              <a:gd name="connsiteY6" fmla="*/ 239395 h 239395"/>
              <a:gd name="connsiteX7" fmla="*/ 93091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3091" y="93091"/>
                </a:lnTo>
                <a:lnTo>
                  <a:pt x="119761" y="0"/>
                </a:lnTo>
                <a:lnTo>
                  <a:pt x="146431" y="93091"/>
                </a:lnTo>
                <a:lnTo>
                  <a:pt x="239395"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Freeform 9"/>
          <p:cNvSpPr/>
          <p:nvPr/>
        </p:nvSpPr>
        <p:spPr>
          <a:xfrm>
            <a:off x="6733540" y="1865503"/>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811682" y="597662"/>
            <a:ext cx="3399409" cy="381000"/>
          </a:xfrm>
          <a:prstGeom prst="rect">
            <a:avLst/>
          </a:prstGeom>
          <a:noFill/>
        </p:spPr>
        <p:txBody>
          <a:bodyPr wrap="none" lIns="0" tIns="0" rIns="0" bIns="0" rtlCol="0">
            <a:spAutoFit/>
          </a:bodyPr>
          <a:lstStyle/>
          <a:p>
            <a:pPr>
              <a:lnSpc>
                <a:spcPts val="3000"/>
              </a:lnSpc>
              <a:spcBef>
                <a:spcPts val="0"/>
              </a:spcBef>
            </a:pPr>
            <a:r>
              <a:rPr lang="en-US" altLang="zh-CN" sz="3000" b="1" i="0" dirty="0">
                <a:solidFill>
                  <a:srgbClr val="5C5C5F"/>
                </a:solidFill>
                <a:latin typeface="6 Bold" pitchFamily="18" charset="0"/>
                <a:cs typeface="6 Bold" pitchFamily="18" charset="0"/>
              </a:rPr>
              <a:t>Table of contents</a:t>
            </a:r>
          </a:p>
        </p:txBody>
      </p:sp>
      <p:sp>
        <p:nvSpPr>
          <p:cNvPr id="10" name="TextBox 10"/>
          <p:cNvSpPr txBox="1"/>
          <p:nvPr/>
        </p:nvSpPr>
        <p:spPr>
          <a:xfrm>
            <a:off x="804672" y="1199804"/>
            <a:ext cx="483463" cy="342900"/>
          </a:xfrm>
          <a:prstGeom prst="rect">
            <a:avLst/>
          </a:prstGeom>
          <a:noFill/>
        </p:spPr>
        <p:txBody>
          <a:bodyPr wrap="none" lIns="0" tIns="0" rIns="0" bIns="0" rtlCol="0">
            <a:spAutoFit/>
          </a:bodyPr>
          <a:lstStyle/>
          <a:p>
            <a:pPr>
              <a:lnSpc>
                <a:spcPts val="2700"/>
              </a:lnSpc>
              <a:spcBef>
                <a:spcPts val="0"/>
              </a:spcBef>
            </a:pPr>
            <a:r>
              <a:rPr lang="en-US" altLang="zh-CN" sz="2798" b="1" i="0" dirty="0">
                <a:solidFill>
                  <a:srgbClr val="85789C"/>
                </a:solidFill>
                <a:latin typeface="6 Bold" pitchFamily="18" charset="0"/>
                <a:cs typeface="6 Bold" pitchFamily="18" charset="0"/>
              </a:rPr>
              <a:t>01</a:t>
            </a:r>
          </a:p>
        </p:txBody>
      </p:sp>
      <p:sp>
        <p:nvSpPr>
          <p:cNvPr id="11" name="TextBox 11"/>
          <p:cNvSpPr txBox="1"/>
          <p:nvPr/>
        </p:nvSpPr>
        <p:spPr>
          <a:xfrm>
            <a:off x="3450971" y="3053741"/>
            <a:ext cx="549559" cy="342900"/>
          </a:xfrm>
          <a:prstGeom prst="rect">
            <a:avLst/>
          </a:prstGeom>
          <a:noFill/>
        </p:spPr>
        <p:txBody>
          <a:bodyPr wrap="none" lIns="0" tIns="0" rIns="0" bIns="0" rtlCol="0">
            <a:spAutoFit/>
          </a:bodyPr>
          <a:lstStyle/>
          <a:p>
            <a:pPr>
              <a:lnSpc>
                <a:spcPts val="2700"/>
              </a:lnSpc>
              <a:spcBef>
                <a:spcPts val="0"/>
              </a:spcBef>
            </a:pPr>
            <a:r>
              <a:rPr lang="en-US" altLang="zh-CN" sz="2796" b="1" i="0" dirty="0">
                <a:solidFill>
                  <a:srgbClr val="85789C"/>
                </a:solidFill>
                <a:latin typeface="6 Bold" pitchFamily="18" charset="0"/>
                <a:cs typeface="6 Bold" pitchFamily="18" charset="0"/>
              </a:rPr>
              <a:t>05</a:t>
            </a:r>
          </a:p>
        </p:txBody>
      </p:sp>
      <p:sp>
        <p:nvSpPr>
          <p:cNvPr id="12" name="TextBox 12"/>
          <p:cNvSpPr txBox="1"/>
          <p:nvPr/>
        </p:nvSpPr>
        <p:spPr>
          <a:xfrm>
            <a:off x="804672" y="3053741"/>
            <a:ext cx="553821" cy="342900"/>
          </a:xfrm>
          <a:prstGeom prst="rect">
            <a:avLst/>
          </a:prstGeom>
          <a:noFill/>
        </p:spPr>
        <p:txBody>
          <a:bodyPr wrap="none" lIns="0" tIns="0" rIns="0" bIns="0" rtlCol="0">
            <a:spAutoFit/>
          </a:bodyPr>
          <a:lstStyle/>
          <a:p>
            <a:pPr>
              <a:lnSpc>
                <a:spcPts val="2700"/>
              </a:lnSpc>
              <a:spcBef>
                <a:spcPts val="0"/>
              </a:spcBef>
            </a:pPr>
            <a:r>
              <a:rPr lang="en-US" altLang="zh-CN" sz="2796" b="1" i="0" dirty="0">
                <a:solidFill>
                  <a:srgbClr val="85789C"/>
                </a:solidFill>
                <a:latin typeface="6 Bold" pitchFamily="18" charset="0"/>
                <a:cs typeface="6 Bold" pitchFamily="18" charset="0"/>
              </a:rPr>
              <a:t>04</a:t>
            </a:r>
          </a:p>
        </p:txBody>
      </p:sp>
      <p:sp>
        <p:nvSpPr>
          <p:cNvPr id="13" name="TextBox 13"/>
          <p:cNvSpPr txBox="1"/>
          <p:nvPr/>
        </p:nvSpPr>
        <p:spPr>
          <a:xfrm>
            <a:off x="3450971" y="1200937"/>
            <a:ext cx="547074" cy="342900"/>
          </a:xfrm>
          <a:prstGeom prst="rect">
            <a:avLst/>
          </a:prstGeom>
          <a:noFill/>
        </p:spPr>
        <p:txBody>
          <a:bodyPr wrap="none" lIns="0" tIns="0" rIns="0" bIns="0" rtlCol="0">
            <a:spAutoFit/>
          </a:bodyPr>
          <a:lstStyle/>
          <a:p>
            <a:pPr>
              <a:lnSpc>
                <a:spcPts val="2700"/>
              </a:lnSpc>
              <a:spcBef>
                <a:spcPts val="0"/>
              </a:spcBef>
            </a:pPr>
            <a:r>
              <a:rPr lang="en-US" altLang="zh-CN" sz="2796" b="1" i="0" dirty="0">
                <a:solidFill>
                  <a:srgbClr val="85789C"/>
                </a:solidFill>
                <a:latin typeface="6 Bold" pitchFamily="18" charset="0"/>
                <a:cs typeface="6 Bold" pitchFamily="18" charset="0"/>
              </a:rPr>
              <a:t>02</a:t>
            </a:r>
          </a:p>
        </p:txBody>
      </p:sp>
      <p:sp>
        <p:nvSpPr>
          <p:cNvPr id="14" name="TextBox 14"/>
          <p:cNvSpPr txBox="1"/>
          <p:nvPr/>
        </p:nvSpPr>
        <p:spPr>
          <a:xfrm>
            <a:off x="6089904" y="1200937"/>
            <a:ext cx="535711" cy="342900"/>
          </a:xfrm>
          <a:prstGeom prst="rect">
            <a:avLst/>
          </a:prstGeom>
          <a:noFill/>
        </p:spPr>
        <p:txBody>
          <a:bodyPr wrap="none" lIns="0" tIns="0" rIns="0" bIns="0" rtlCol="0">
            <a:spAutoFit/>
          </a:bodyPr>
          <a:lstStyle/>
          <a:p>
            <a:pPr>
              <a:lnSpc>
                <a:spcPts val="2700"/>
              </a:lnSpc>
              <a:spcBef>
                <a:spcPts val="0"/>
              </a:spcBef>
            </a:pPr>
            <a:r>
              <a:rPr lang="en-US" altLang="zh-CN" sz="2796" b="1" i="0" dirty="0">
                <a:solidFill>
                  <a:srgbClr val="85789C"/>
                </a:solidFill>
                <a:latin typeface="6 Bold" pitchFamily="18" charset="0"/>
                <a:cs typeface="6 Bold" pitchFamily="18" charset="0"/>
              </a:rPr>
              <a:t>03</a:t>
            </a:r>
          </a:p>
        </p:txBody>
      </p:sp>
      <p:sp>
        <p:nvSpPr>
          <p:cNvPr id="15" name="Freeform 15"/>
          <p:cNvSpPr/>
          <p:nvPr/>
        </p:nvSpPr>
        <p:spPr>
          <a:xfrm>
            <a:off x="713219" y="1594638"/>
            <a:ext cx="2423160" cy="837920"/>
          </a:xfrm>
          <a:custGeom>
            <a:avLst/>
            <a:gdLst>
              <a:gd name="connsiteX0" fmla="*/ 0 w 2423160"/>
              <a:gd name="connsiteY0" fmla="*/ 837920 h 837920"/>
              <a:gd name="connsiteX1" fmla="*/ 2423160 w 2423160"/>
              <a:gd name="connsiteY1" fmla="*/ 837920 h 837920"/>
              <a:gd name="connsiteX2" fmla="*/ 2423160 w 2423160"/>
              <a:gd name="connsiteY2" fmla="*/ 0 h 837920"/>
              <a:gd name="connsiteX3" fmla="*/ 0 w 2423160"/>
              <a:gd name="connsiteY3" fmla="*/ 0 h 837920"/>
            </a:gdLst>
            <a:ahLst/>
            <a:cxnLst>
              <a:cxn ang="0">
                <a:pos x="connsiteX0" y="connsiteY0"/>
              </a:cxn>
              <a:cxn ang="1">
                <a:pos x="connsiteX1" y="connsiteY1"/>
              </a:cxn>
              <a:cxn ang="2">
                <a:pos x="connsiteX2" y="connsiteY2"/>
              </a:cxn>
              <a:cxn ang="3">
                <a:pos x="connsiteX3" y="connsiteY3"/>
              </a:cxn>
            </a:cxnLst>
            <a:rect l="l" t="t" r="r" b="b"/>
            <a:pathLst>
              <a:path w="2423160" h="837920">
                <a:moveTo>
                  <a:pt x="0" y="837920"/>
                </a:moveTo>
                <a:lnTo>
                  <a:pt x="2423160" y="837920"/>
                </a:lnTo>
                <a:lnTo>
                  <a:pt x="2423160"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TextBox 16"/>
          <p:cNvSpPr txBox="1"/>
          <p:nvPr/>
        </p:nvSpPr>
        <p:spPr>
          <a:xfrm>
            <a:off x="804672" y="1909826"/>
            <a:ext cx="2159482"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Buisness Overview</a:t>
            </a:r>
          </a:p>
        </p:txBody>
      </p:sp>
      <p:sp>
        <p:nvSpPr>
          <p:cNvPr id="17" name="Freeform 17"/>
          <p:cNvSpPr/>
          <p:nvPr/>
        </p:nvSpPr>
        <p:spPr>
          <a:xfrm>
            <a:off x="713219" y="3447135"/>
            <a:ext cx="2423160" cy="837146"/>
          </a:xfrm>
          <a:custGeom>
            <a:avLst/>
            <a:gdLst>
              <a:gd name="connsiteX0" fmla="*/ 0 w 2423160"/>
              <a:gd name="connsiteY0" fmla="*/ 837146 h 837146"/>
              <a:gd name="connsiteX1" fmla="*/ 2423160 w 2423160"/>
              <a:gd name="connsiteY1" fmla="*/ 837146 h 837146"/>
              <a:gd name="connsiteX2" fmla="*/ 2423160 w 2423160"/>
              <a:gd name="connsiteY2" fmla="*/ 0 h 837146"/>
              <a:gd name="connsiteX3" fmla="*/ 0 w 2423160"/>
              <a:gd name="connsiteY3" fmla="*/ 0 h 837146"/>
            </a:gdLst>
            <a:ahLst/>
            <a:cxnLst>
              <a:cxn ang="0">
                <a:pos x="connsiteX0" y="connsiteY0"/>
              </a:cxn>
              <a:cxn ang="1">
                <a:pos x="connsiteX1" y="connsiteY1"/>
              </a:cxn>
              <a:cxn ang="2">
                <a:pos x="connsiteX2" y="connsiteY2"/>
              </a:cxn>
              <a:cxn ang="3">
                <a:pos x="connsiteX3" y="connsiteY3"/>
              </a:cxn>
            </a:cxnLst>
            <a:rect l="l" t="t" r="r" b="b"/>
            <a:pathLst>
              <a:path w="2423160" h="837146">
                <a:moveTo>
                  <a:pt x="0" y="837146"/>
                </a:moveTo>
                <a:lnTo>
                  <a:pt x="2423160" y="837146"/>
                </a:lnTo>
                <a:lnTo>
                  <a:pt x="2423160"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TextBox 18"/>
          <p:cNvSpPr txBox="1"/>
          <p:nvPr/>
        </p:nvSpPr>
        <p:spPr>
          <a:xfrm>
            <a:off x="804672" y="3762451"/>
            <a:ext cx="1805838"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Salary Analysis</a:t>
            </a:r>
          </a:p>
        </p:txBody>
      </p:sp>
      <p:sp>
        <p:nvSpPr>
          <p:cNvPr id="19" name="Freeform 19"/>
          <p:cNvSpPr/>
          <p:nvPr/>
        </p:nvSpPr>
        <p:spPr>
          <a:xfrm>
            <a:off x="3359150" y="3447123"/>
            <a:ext cx="2423160" cy="837159"/>
          </a:xfrm>
          <a:custGeom>
            <a:avLst/>
            <a:gdLst>
              <a:gd name="connsiteX0" fmla="*/ 0 w 2423160"/>
              <a:gd name="connsiteY0" fmla="*/ 837159 h 837159"/>
              <a:gd name="connsiteX1" fmla="*/ 2423160 w 2423160"/>
              <a:gd name="connsiteY1" fmla="*/ 837159 h 837159"/>
              <a:gd name="connsiteX2" fmla="*/ 2423160 w 2423160"/>
              <a:gd name="connsiteY2" fmla="*/ 0 h 837159"/>
              <a:gd name="connsiteX3" fmla="*/ 0 w 2423160"/>
              <a:gd name="connsiteY3" fmla="*/ 0 h 837159"/>
            </a:gdLst>
            <a:ahLst/>
            <a:cxnLst>
              <a:cxn ang="0">
                <a:pos x="connsiteX0" y="connsiteY0"/>
              </a:cxn>
              <a:cxn ang="1">
                <a:pos x="connsiteX1" y="connsiteY1"/>
              </a:cxn>
              <a:cxn ang="2">
                <a:pos x="connsiteX2" y="connsiteY2"/>
              </a:cxn>
              <a:cxn ang="3">
                <a:pos x="connsiteX3" y="connsiteY3"/>
              </a:cxn>
            </a:cxnLst>
            <a:rect l="l" t="t" r="r" b="b"/>
            <a:pathLst>
              <a:path w="2423160" h="837159">
                <a:moveTo>
                  <a:pt x="0" y="837159"/>
                </a:moveTo>
                <a:lnTo>
                  <a:pt x="2423160" y="837159"/>
                </a:lnTo>
                <a:lnTo>
                  <a:pt x="2423160"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TextBox 20"/>
          <p:cNvSpPr txBox="1"/>
          <p:nvPr/>
        </p:nvSpPr>
        <p:spPr>
          <a:xfrm>
            <a:off x="3450971" y="3604514"/>
            <a:ext cx="1417218"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Conclusions</a:t>
            </a:r>
          </a:p>
        </p:txBody>
      </p:sp>
      <p:sp>
        <p:nvSpPr>
          <p:cNvPr id="21" name="Freeform 21"/>
          <p:cNvSpPr/>
          <p:nvPr/>
        </p:nvSpPr>
        <p:spPr>
          <a:xfrm>
            <a:off x="3359150" y="1594638"/>
            <a:ext cx="2423160" cy="837158"/>
          </a:xfrm>
          <a:custGeom>
            <a:avLst/>
            <a:gdLst>
              <a:gd name="connsiteX0" fmla="*/ 0 w 2423160"/>
              <a:gd name="connsiteY0" fmla="*/ 837158 h 837158"/>
              <a:gd name="connsiteX1" fmla="*/ 2423160 w 2423160"/>
              <a:gd name="connsiteY1" fmla="*/ 837158 h 837158"/>
              <a:gd name="connsiteX2" fmla="*/ 2423160 w 2423160"/>
              <a:gd name="connsiteY2" fmla="*/ 0 h 837158"/>
              <a:gd name="connsiteX3" fmla="*/ 0 w 2423160"/>
              <a:gd name="connsiteY3" fmla="*/ 0 h 837158"/>
            </a:gdLst>
            <a:ahLst/>
            <a:cxnLst>
              <a:cxn ang="0">
                <a:pos x="connsiteX0" y="connsiteY0"/>
              </a:cxn>
              <a:cxn ang="1">
                <a:pos x="connsiteX1" y="connsiteY1"/>
              </a:cxn>
              <a:cxn ang="2">
                <a:pos x="connsiteX2" y="connsiteY2"/>
              </a:cxn>
              <a:cxn ang="3">
                <a:pos x="connsiteX3" y="connsiteY3"/>
              </a:cxn>
            </a:cxnLst>
            <a:rect l="l" t="t" r="r" b="b"/>
            <a:pathLst>
              <a:path w="2423160" h="837158">
                <a:moveTo>
                  <a:pt x="0" y="837158"/>
                </a:moveTo>
                <a:lnTo>
                  <a:pt x="2423160" y="837158"/>
                </a:lnTo>
                <a:lnTo>
                  <a:pt x="2423160"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TextBox 22"/>
          <p:cNvSpPr txBox="1"/>
          <p:nvPr/>
        </p:nvSpPr>
        <p:spPr>
          <a:xfrm>
            <a:off x="3450971" y="1751711"/>
            <a:ext cx="2169997" cy="5334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Employee </a:t>
            </a:r>
          </a:p>
          <a:p>
            <a:pPr>
              <a:lnSpc>
                <a:spcPts val="2400"/>
              </a:lnSpc>
              <a:spcBef>
                <a:spcPts val="0"/>
              </a:spcBef>
            </a:pPr>
            <a:r>
              <a:rPr lang="en-US" altLang="zh-CN" sz="1800" b="1" i="0" dirty="0">
                <a:solidFill>
                  <a:srgbClr val="5C5C5F"/>
                </a:solidFill>
                <a:latin typeface="6 Bold" pitchFamily="18" charset="0"/>
                <a:cs typeface="6 Bold" pitchFamily="18" charset="0"/>
              </a:rPr>
              <a:t>Retention Analysis</a:t>
            </a:r>
          </a:p>
        </p:txBody>
      </p:sp>
      <p:sp>
        <p:nvSpPr>
          <p:cNvPr id="23" name="Freeform 23"/>
          <p:cNvSpPr/>
          <p:nvPr/>
        </p:nvSpPr>
        <p:spPr>
          <a:xfrm>
            <a:off x="5997575" y="1594510"/>
            <a:ext cx="2423160" cy="837159"/>
          </a:xfrm>
          <a:custGeom>
            <a:avLst/>
            <a:gdLst>
              <a:gd name="connsiteX0" fmla="*/ 0 w 2423160"/>
              <a:gd name="connsiteY0" fmla="*/ 837159 h 837159"/>
              <a:gd name="connsiteX1" fmla="*/ 2423160 w 2423160"/>
              <a:gd name="connsiteY1" fmla="*/ 837159 h 837159"/>
              <a:gd name="connsiteX2" fmla="*/ 2423160 w 2423160"/>
              <a:gd name="connsiteY2" fmla="*/ 0 h 837159"/>
              <a:gd name="connsiteX3" fmla="*/ 0 w 2423160"/>
              <a:gd name="connsiteY3" fmla="*/ 0 h 837159"/>
            </a:gdLst>
            <a:ahLst/>
            <a:cxnLst>
              <a:cxn ang="0">
                <a:pos x="connsiteX0" y="connsiteY0"/>
              </a:cxn>
              <a:cxn ang="1">
                <a:pos x="connsiteX1" y="connsiteY1"/>
              </a:cxn>
              <a:cxn ang="2">
                <a:pos x="connsiteX2" y="connsiteY2"/>
              </a:cxn>
              <a:cxn ang="3">
                <a:pos x="connsiteX3" y="connsiteY3"/>
              </a:cxn>
            </a:cxnLst>
            <a:rect l="l" t="t" r="r" b="b"/>
            <a:pathLst>
              <a:path w="2423160" h="837159">
                <a:moveTo>
                  <a:pt x="0" y="837159"/>
                </a:moveTo>
                <a:lnTo>
                  <a:pt x="2423160" y="837159"/>
                </a:lnTo>
                <a:lnTo>
                  <a:pt x="2423160"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6089904" y="1751711"/>
            <a:ext cx="1649020" cy="5334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Performance </a:t>
            </a:r>
          </a:p>
          <a:p>
            <a:pPr>
              <a:lnSpc>
                <a:spcPts val="2400"/>
              </a:lnSpc>
              <a:spcBef>
                <a:spcPts val="0"/>
              </a:spcBef>
            </a:pPr>
            <a:r>
              <a:rPr lang="en-US" altLang="zh-CN" sz="1800" b="1" i="0" dirty="0">
                <a:solidFill>
                  <a:srgbClr val="5C5C5F"/>
                </a:solidFill>
                <a:latin typeface="6 Bold" pitchFamily="18" charset="0"/>
                <a:cs typeface="6 Bold" pitchFamily="18" charset="0"/>
              </a:rPr>
              <a:t>Analysis</a:t>
            </a:r>
          </a:p>
        </p:txBody>
      </p:sp>
      <p:sp>
        <p:nvSpPr>
          <p:cNvPr id="25" name="TextBox 25"/>
          <p:cNvSpPr txBox="1"/>
          <p:nvPr/>
        </p:nvSpPr>
        <p:spPr>
          <a:xfrm>
            <a:off x="4522597" y="4722440"/>
            <a:ext cx="225755"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8723249"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055" y="1061212"/>
                  <a:pt x="38100" y="1061212"/>
                </a:cubicBezTo>
                <a:cubicBezTo>
                  <a:pt x="17018" y="1061212"/>
                  <a:pt x="0" y="1044067"/>
                  <a:pt x="0" y="1023112"/>
                </a:cubicBezTo>
                <a:cubicBezTo>
                  <a:pt x="0" y="1002030"/>
                  <a:pt x="17018" y="985012"/>
                  <a:pt x="38100" y="985012"/>
                </a:cubicBezTo>
                <a:cubicBezTo>
                  <a:pt x="59055" y="985012"/>
                  <a:pt x="76200" y="1002030"/>
                  <a:pt x="76200" y="1023112"/>
                </a:cubicBezTo>
                <a:moveTo>
                  <a:pt x="0" y="38100"/>
                </a:moveTo>
                <a:cubicBezTo>
                  <a:pt x="0" y="17145"/>
                  <a:pt x="17018" y="0"/>
                  <a:pt x="38100" y="0"/>
                </a:cubicBezTo>
                <a:cubicBezTo>
                  <a:pt x="59055" y="0"/>
                  <a:pt x="76200" y="17145"/>
                  <a:pt x="76200" y="38100"/>
                </a:cubicBezTo>
                <a:cubicBezTo>
                  <a:pt x="76200" y="59182"/>
                  <a:pt x="59055" y="76200"/>
                  <a:pt x="38100" y="76200"/>
                </a:cubicBezTo>
                <a:cubicBezTo>
                  <a:pt x="17018"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Freeform 9"/>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0" name="Freeform 10"/>
          <p:cNvSpPr/>
          <p:nvPr/>
        </p:nvSpPr>
        <p:spPr>
          <a:xfrm>
            <a:off x="356248"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144" y="1061212"/>
                  <a:pt x="38100" y="1061212"/>
                </a:cubicBezTo>
                <a:cubicBezTo>
                  <a:pt x="17056" y="1061212"/>
                  <a:pt x="0" y="1044067"/>
                  <a:pt x="0" y="1023112"/>
                </a:cubicBezTo>
                <a:cubicBezTo>
                  <a:pt x="0" y="1002030"/>
                  <a:pt x="17056" y="985012"/>
                  <a:pt x="38100" y="985012"/>
                </a:cubicBezTo>
                <a:cubicBezTo>
                  <a:pt x="59144" y="985012"/>
                  <a:pt x="76200" y="1002030"/>
                  <a:pt x="76200" y="1023112"/>
                </a:cubicBezTo>
                <a:moveTo>
                  <a:pt x="0" y="38100"/>
                </a:moveTo>
                <a:cubicBezTo>
                  <a:pt x="0" y="17145"/>
                  <a:pt x="17056" y="0"/>
                  <a:pt x="38100" y="0"/>
                </a:cubicBezTo>
                <a:cubicBezTo>
                  <a:pt x="59144" y="0"/>
                  <a:pt x="76200" y="17145"/>
                  <a:pt x="76200" y="38100"/>
                </a:cubicBezTo>
                <a:cubicBezTo>
                  <a:pt x="76200" y="59182"/>
                  <a:pt x="59144" y="76200"/>
                  <a:pt x="38100" y="76200"/>
                </a:cubicBezTo>
                <a:cubicBezTo>
                  <a:pt x="17056"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1" name="TextBox 11"/>
          <p:cNvSpPr txBox="1"/>
          <p:nvPr/>
        </p:nvSpPr>
        <p:spPr>
          <a:xfrm>
            <a:off x="3744214" y="2172335"/>
            <a:ext cx="4191964" cy="457200"/>
          </a:xfrm>
          <a:prstGeom prst="rect">
            <a:avLst/>
          </a:prstGeom>
          <a:noFill/>
        </p:spPr>
        <p:txBody>
          <a:bodyPr wrap="none" lIns="0" tIns="0" rIns="0" bIns="0" rtlCol="0">
            <a:spAutoFit/>
          </a:bodyPr>
          <a:lstStyle/>
          <a:p>
            <a:pPr>
              <a:lnSpc>
                <a:spcPts val="3600"/>
              </a:lnSpc>
              <a:spcBef>
                <a:spcPts val="0"/>
              </a:spcBef>
            </a:pPr>
            <a:r>
              <a:rPr lang="en-US" altLang="zh-CN" sz="3600" b="1" i="0" dirty="0">
                <a:solidFill>
                  <a:srgbClr val="5C5C5F"/>
                </a:solidFill>
                <a:latin typeface="6 Bold" pitchFamily="18" charset="0"/>
                <a:cs typeface="6 Bold" pitchFamily="18" charset="0"/>
              </a:rPr>
              <a:t>Buisness Overview</a:t>
            </a:r>
          </a:p>
        </p:txBody>
      </p:sp>
      <p:sp>
        <p:nvSpPr>
          <p:cNvPr id="12" name="TextBox 12"/>
          <p:cNvSpPr txBox="1"/>
          <p:nvPr/>
        </p:nvSpPr>
        <p:spPr>
          <a:xfrm>
            <a:off x="2171700" y="1940941"/>
            <a:ext cx="891286" cy="762000"/>
          </a:xfrm>
          <a:prstGeom prst="rect">
            <a:avLst/>
          </a:prstGeom>
          <a:noFill/>
        </p:spPr>
        <p:txBody>
          <a:bodyPr wrap="none" lIns="0" tIns="0" rIns="0" bIns="0" rtlCol="0">
            <a:spAutoFit/>
          </a:bodyPr>
          <a:lstStyle/>
          <a:p>
            <a:pPr>
              <a:lnSpc>
                <a:spcPts val="6000"/>
              </a:lnSpc>
              <a:spcBef>
                <a:spcPts val="0"/>
              </a:spcBef>
            </a:pPr>
            <a:r>
              <a:rPr lang="en-US" altLang="zh-CN" sz="6000" b="1" i="0" dirty="0">
                <a:solidFill>
                  <a:srgbClr val="85789C"/>
                </a:solidFill>
                <a:latin typeface="6 Bold" pitchFamily="18" charset="0"/>
                <a:cs typeface="6 Bold" pitchFamily="18" charset="0"/>
              </a:rPr>
              <a:t>01</a:t>
            </a:r>
          </a:p>
        </p:txBody>
      </p:sp>
      <p:sp>
        <p:nvSpPr>
          <p:cNvPr id="13" name="TextBox 13"/>
          <p:cNvSpPr txBox="1"/>
          <p:nvPr/>
        </p:nvSpPr>
        <p:spPr>
          <a:xfrm>
            <a:off x="4522597" y="4722440"/>
            <a:ext cx="225755"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3</a:t>
            </a:r>
          </a:p>
        </p:txBody>
      </p:sp>
      <p:sp>
        <p:nvSpPr>
          <p:cNvPr id="14" name="Freeform 14"/>
          <p:cNvSpPr/>
          <p:nvPr/>
        </p:nvSpPr>
        <p:spPr>
          <a:xfrm>
            <a:off x="1562481" y="2872486"/>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8100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8100"/>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1562481" y="1676273"/>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7973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7973"/>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3244850" y="2217928"/>
            <a:ext cx="239395" cy="239395"/>
          </a:xfrm>
          <a:custGeom>
            <a:avLst/>
            <a:gdLst>
              <a:gd name="connsiteX0" fmla="*/ 0 w 239395"/>
              <a:gd name="connsiteY0" fmla="*/ 119761 h 239395"/>
              <a:gd name="connsiteX1" fmla="*/ 92964 w 239395"/>
              <a:gd name="connsiteY1" fmla="*/ 93091 h 239395"/>
              <a:gd name="connsiteX2" fmla="*/ 119634 w 239395"/>
              <a:gd name="connsiteY2" fmla="*/ 0 h 239395"/>
              <a:gd name="connsiteX3" fmla="*/ 146304 w 239395"/>
              <a:gd name="connsiteY3" fmla="*/ 93091 h 239395"/>
              <a:gd name="connsiteX4" fmla="*/ 239395 w 239395"/>
              <a:gd name="connsiteY4" fmla="*/ 119761 h 239395"/>
              <a:gd name="connsiteX5" fmla="*/ 146304 w 239395"/>
              <a:gd name="connsiteY5" fmla="*/ 146304 h 239395"/>
              <a:gd name="connsiteX6" fmla="*/ 119634 w 239395"/>
              <a:gd name="connsiteY6" fmla="*/ 239395 h 239395"/>
              <a:gd name="connsiteX7" fmla="*/ 92964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2964" y="93091"/>
                </a:lnTo>
                <a:lnTo>
                  <a:pt x="119634" y="0"/>
                </a:lnTo>
                <a:lnTo>
                  <a:pt x="146304" y="93091"/>
                </a:lnTo>
                <a:lnTo>
                  <a:pt x="239395" y="119761"/>
                </a:lnTo>
                <a:lnTo>
                  <a:pt x="146304" y="146304"/>
                </a:lnTo>
                <a:lnTo>
                  <a:pt x="119634" y="239395"/>
                </a:lnTo>
                <a:lnTo>
                  <a:pt x="92964"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7280529" y="2217928"/>
            <a:ext cx="239395" cy="239395"/>
          </a:xfrm>
          <a:custGeom>
            <a:avLst/>
            <a:gdLst>
              <a:gd name="connsiteX0" fmla="*/ 0 w 239395"/>
              <a:gd name="connsiteY0" fmla="*/ 119761 h 239395"/>
              <a:gd name="connsiteX1" fmla="*/ 93090 w 239395"/>
              <a:gd name="connsiteY1" fmla="*/ 93091 h 239395"/>
              <a:gd name="connsiteX2" fmla="*/ 119634 w 239395"/>
              <a:gd name="connsiteY2" fmla="*/ 0 h 239395"/>
              <a:gd name="connsiteX3" fmla="*/ 146303 w 239395"/>
              <a:gd name="connsiteY3" fmla="*/ 93091 h 239395"/>
              <a:gd name="connsiteX4" fmla="*/ 239395 w 239395"/>
              <a:gd name="connsiteY4" fmla="*/ 119761 h 239395"/>
              <a:gd name="connsiteX5" fmla="*/ 146303 w 239395"/>
              <a:gd name="connsiteY5" fmla="*/ 146304 h 239395"/>
              <a:gd name="connsiteX6" fmla="*/ 119634 w 239395"/>
              <a:gd name="connsiteY6" fmla="*/ 239395 h 239395"/>
              <a:gd name="connsiteX7" fmla="*/ 93090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3090" y="93091"/>
                </a:lnTo>
                <a:lnTo>
                  <a:pt x="119634" y="0"/>
                </a:lnTo>
                <a:lnTo>
                  <a:pt x="146303" y="93091"/>
                </a:lnTo>
                <a:lnTo>
                  <a:pt x="239395" y="119761"/>
                </a:lnTo>
                <a:lnTo>
                  <a:pt x="146303" y="146304"/>
                </a:lnTo>
                <a:lnTo>
                  <a:pt x="119634" y="239395"/>
                </a:lnTo>
                <a:lnTo>
                  <a:pt x="93090"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highlight>
                <a:srgbClr val="00FFFF"/>
              </a:highlight>
            </a:endParaRPr>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highlight>
                <a:srgbClr val="008080"/>
              </a:highlight>
            </a:endParaRPr>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861974" y="946871"/>
            <a:ext cx="7528922" cy="901700"/>
          </a:xfrm>
          <a:prstGeom prst="rect">
            <a:avLst/>
          </a:prstGeom>
          <a:noFill/>
        </p:spPr>
        <p:txBody>
          <a:bodyPr wrap="none" lIns="0" tIns="0" rIns="0" bIns="0" rtlCol="0">
            <a:spAutoFit/>
          </a:bodyPr>
          <a:lstStyle/>
          <a:p>
            <a:pPr>
              <a:lnSpc>
                <a:spcPts val="1400"/>
              </a:lnSpc>
              <a:spcBef>
                <a:spcPts val="0"/>
              </a:spcBef>
            </a:pPr>
            <a:r>
              <a:rPr lang="en-US" altLang="zh-CN" sz="1404" b="1" i="0" dirty="0">
                <a:solidFill>
                  <a:srgbClr val="5C5C5F"/>
                </a:solidFill>
                <a:latin typeface="2 Bold" pitchFamily="18" charset="0"/>
                <a:cs typeface="2 Bold" pitchFamily="18" charset="0"/>
              </a:rPr>
              <a:t>Next Gen Corp is a rapidly growing technology company that specializes in creating </a:t>
            </a:r>
          </a:p>
          <a:p>
            <a:pPr>
              <a:lnSpc>
                <a:spcPts val="1900"/>
              </a:lnSpc>
              <a:spcBef>
                <a:spcPts val="0"/>
              </a:spcBef>
            </a:pPr>
            <a:r>
              <a:rPr lang="en-US" altLang="zh-CN" sz="1404" b="1" i="0" dirty="0">
                <a:solidFill>
                  <a:srgbClr val="5C5C5F"/>
                </a:solidFill>
                <a:latin typeface="2 Bold" pitchFamily="18" charset="0"/>
                <a:cs typeface="2 Bold" pitchFamily="18" charset="0"/>
              </a:rPr>
              <a:t>cutting edge hardware and software solutions. In order to ensure expansion, the </a:t>
            </a:r>
          </a:p>
          <a:p>
            <a:pPr>
              <a:lnSpc>
                <a:spcPts val="1900"/>
              </a:lnSpc>
              <a:spcBef>
                <a:spcPts val="0"/>
              </a:spcBef>
            </a:pPr>
            <a:r>
              <a:rPr lang="en-US" altLang="zh-CN" sz="1404" b="1" i="0" dirty="0">
                <a:solidFill>
                  <a:srgbClr val="5C5C5F"/>
                </a:solidFill>
                <a:latin typeface="2 Bold" pitchFamily="18" charset="0"/>
                <a:cs typeface="2 Bold" pitchFamily="18" charset="0"/>
              </a:rPr>
              <a:t>organization takes pride in luring top talents across the globe, and upholding excellent </a:t>
            </a:r>
          </a:p>
          <a:p>
            <a:pPr>
              <a:lnSpc>
                <a:spcPts val="1900"/>
              </a:lnSpc>
              <a:spcBef>
                <a:spcPts val="0"/>
              </a:spcBef>
            </a:pPr>
            <a:r>
              <a:rPr lang="en-US" altLang="zh-CN" sz="1406" b="1" i="0" dirty="0">
                <a:solidFill>
                  <a:srgbClr val="5C5C5F"/>
                </a:solidFill>
                <a:latin typeface="2 Bold" pitchFamily="18" charset="0"/>
                <a:cs typeface="2 Bold" pitchFamily="18" charset="0"/>
              </a:rPr>
              <a:t>employee satisfaction.</a:t>
            </a:r>
          </a:p>
        </p:txBody>
      </p:sp>
      <p:sp>
        <p:nvSpPr>
          <p:cNvPr id="10" name="TextBox 10"/>
          <p:cNvSpPr txBox="1"/>
          <p:nvPr/>
        </p:nvSpPr>
        <p:spPr>
          <a:xfrm>
            <a:off x="811682" y="2426676"/>
            <a:ext cx="6660917" cy="419100"/>
          </a:xfrm>
          <a:prstGeom prst="rect">
            <a:avLst/>
          </a:prstGeom>
          <a:noFill/>
        </p:spPr>
        <p:txBody>
          <a:bodyPr wrap="none" lIns="0" tIns="0" rIns="0" bIns="0" rtlCol="0">
            <a:spAutoFit/>
          </a:bodyPr>
          <a:lstStyle/>
          <a:p>
            <a:pPr>
              <a:lnSpc>
                <a:spcPts val="1400"/>
              </a:lnSpc>
              <a:spcBef>
                <a:spcPts val="0"/>
              </a:spcBef>
            </a:pPr>
            <a:r>
              <a:rPr lang="en-US" altLang="zh-CN" sz="1404" b="1" i="0" dirty="0">
                <a:solidFill>
                  <a:srgbClr val="5C5C5F"/>
                </a:solidFill>
                <a:latin typeface="2 Bold" pitchFamily="18" charset="0"/>
                <a:cs typeface="2 Bold" pitchFamily="18" charset="0"/>
              </a:rPr>
              <a:t>There are growing concerns about employee turnover, salary disparities and </a:t>
            </a:r>
          </a:p>
          <a:p>
            <a:pPr>
              <a:lnSpc>
                <a:spcPts val="1900"/>
              </a:lnSpc>
              <a:spcBef>
                <a:spcPts val="0"/>
              </a:spcBef>
            </a:pPr>
            <a:r>
              <a:rPr lang="en-US" altLang="zh-CN" sz="1406" b="1" i="0" dirty="0">
                <a:solidFill>
                  <a:srgbClr val="5C5C5F"/>
                </a:solidFill>
                <a:latin typeface="2 Bold" pitchFamily="18" charset="0"/>
                <a:cs typeface="2 Bold" pitchFamily="18" charset="0"/>
              </a:rPr>
              <a:t>performance variability within departments.</a:t>
            </a:r>
          </a:p>
        </p:txBody>
      </p:sp>
      <p:sp>
        <p:nvSpPr>
          <p:cNvPr id="11" name="TextBox 11"/>
          <p:cNvSpPr txBox="1"/>
          <p:nvPr/>
        </p:nvSpPr>
        <p:spPr>
          <a:xfrm>
            <a:off x="811682" y="3489761"/>
            <a:ext cx="189408" cy="1778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p>
        </p:txBody>
      </p:sp>
      <p:sp>
        <p:nvSpPr>
          <p:cNvPr id="12" name="TextBox 12"/>
          <p:cNvSpPr txBox="1"/>
          <p:nvPr/>
        </p:nvSpPr>
        <p:spPr>
          <a:xfrm>
            <a:off x="811682" y="3491697"/>
            <a:ext cx="7310643" cy="419100"/>
          </a:xfrm>
          <a:prstGeom prst="rect">
            <a:avLst/>
          </a:prstGeom>
          <a:noFill/>
        </p:spPr>
        <p:txBody>
          <a:bodyPr wrap="none" lIns="0" tIns="0" rIns="0" bIns="0" rtlCol="0">
            <a:spAutoFit/>
          </a:bodyPr>
          <a:lstStyle/>
          <a:p>
            <a:pPr marL="286512">
              <a:lnSpc>
                <a:spcPts val="1400"/>
              </a:lnSpc>
              <a:spcBef>
                <a:spcPts val="0"/>
              </a:spcBef>
            </a:pPr>
            <a:r>
              <a:rPr lang="en-US" altLang="zh-CN" sz="1404" b="1" i="0" dirty="0">
                <a:solidFill>
                  <a:srgbClr val="5C5C5F"/>
                </a:solidFill>
                <a:latin typeface="2 Bold" pitchFamily="18" charset="0"/>
                <a:cs typeface="2 Bold" pitchFamily="18" charset="0"/>
              </a:rPr>
              <a:t>Analyse employee turnover trends and identify root causes of high turnover rates</a:t>
            </a:r>
          </a:p>
          <a:p>
            <a:pPr>
              <a:lnSpc>
                <a:spcPts val="1900"/>
              </a:lnSpc>
              <a:spcBef>
                <a:spcPts val="0"/>
              </a:spcBef>
            </a:pPr>
            <a:r>
              <a:rPr lang="en-US" altLang="zh-CN" sz="1404" b="0" i="0" dirty="0">
                <a:solidFill>
                  <a:srgbClr val="5C5C5F"/>
                </a:solidFill>
                <a:latin typeface="Arial" pitchFamily="18" charset="0"/>
                <a:cs typeface="Arial" pitchFamily="18" charset="0"/>
              </a:rPr>
              <a:t>•</a:t>
            </a:r>
          </a:p>
        </p:txBody>
      </p:sp>
      <p:sp>
        <p:nvSpPr>
          <p:cNvPr id="13" name="TextBox 13"/>
          <p:cNvSpPr txBox="1"/>
          <p:nvPr/>
        </p:nvSpPr>
        <p:spPr>
          <a:xfrm>
            <a:off x="811682" y="3737011"/>
            <a:ext cx="7252693" cy="660400"/>
          </a:xfrm>
          <a:prstGeom prst="rect">
            <a:avLst/>
          </a:prstGeom>
          <a:noFill/>
        </p:spPr>
        <p:txBody>
          <a:bodyPr wrap="none" lIns="0" tIns="0" rIns="0" bIns="0" rtlCol="0">
            <a:spAutoFit/>
          </a:bodyPr>
          <a:lstStyle/>
          <a:p>
            <a:pPr marL="286512">
              <a:lnSpc>
                <a:spcPts val="1400"/>
              </a:lnSpc>
              <a:spcBef>
                <a:spcPts val="0"/>
              </a:spcBef>
            </a:pPr>
            <a:r>
              <a:rPr lang="en-US" altLang="zh-CN" sz="1404" b="1" i="0" dirty="0">
                <a:solidFill>
                  <a:srgbClr val="5C5C5F"/>
                </a:solidFill>
                <a:latin typeface="2 Bold" pitchFamily="18" charset="0"/>
                <a:cs typeface="2 Bold" pitchFamily="18" charset="0"/>
              </a:rPr>
              <a:t>Analyse employee performance across different departments and identify areas </a:t>
            </a:r>
          </a:p>
          <a:p>
            <a:pPr marL="286512">
              <a:lnSpc>
                <a:spcPts val="1900"/>
              </a:lnSpc>
              <a:spcBef>
                <a:spcPts val="0"/>
              </a:spcBef>
            </a:pPr>
            <a:r>
              <a:rPr lang="en-US" altLang="zh-CN" sz="1404" b="1" i="0" dirty="0">
                <a:solidFill>
                  <a:srgbClr val="5C5C5F"/>
                </a:solidFill>
                <a:latin typeface="2 Bold" pitchFamily="18" charset="0"/>
                <a:cs typeface="2 Bold" pitchFamily="18" charset="0"/>
              </a:rPr>
              <a:t>where performance can be improved</a:t>
            </a:r>
          </a:p>
          <a:p>
            <a:pPr>
              <a:lnSpc>
                <a:spcPts val="1900"/>
              </a:lnSpc>
              <a:spcBef>
                <a:spcPts val="0"/>
              </a:spcBef>
            </a:pPr>
            <a:r>
              <a:rPr lang="en-US" altLang="zh-CN" sz="1406" b="0" i="0" dirty="0">
                <a:solidFill>
                  <a:srgbClr val="5C5C5F"/>
                </a:solidFill>
                <a:latin typeface="Arial" pitchFamily="18" charset="0"/>
                <a:cs typeface="Arial" pitchFamily="18" charset="0"/>
              </a:rPr>
              <a:t>•</a:t>
            </a:r>
          </a:p>
        </p:txBody>
      </p:sp>
      <p:sp>
        <p:nvSpPr>
          <p:cNvPr id="14" name="TextBox 14"/>
          <p:cNvSpPr txBox="1"/>
          <p:nvPr/>
        </p:nvSpPr>
        <p:spPr>
          <a:xfrm>
            <a:off x="1098194" y="4227494"/>
            <a:ext cx="6823549" cy="419100"/>
          </a:xfrm>
          <a:prstGeom prst="rect">
            <a:avLst/>
          </a:prstGeom>
          <a:noFill/>
        </p:spPr>
        <p:txBody>
          <a:bodyPr wrap="none" lIns="0" tIns="0" rIns="0" bIns="0" rtlCol="0">
            <a:spAutoFit/>
          </a:bodyPr>
          <a:lstStyle/>
          <a:p>
            <a:pPr>
              <a:lnSpc>
                <a:spcPts val="1400"/>
              </a:lnSpc>
              <a:spcBef>
                <a:spcPts val="0"/>
              </a:spcBef>
            </a:pPr>
            <a:r>
              <a:rPr lang="en-US" altLang="zh-CN" sz="1406" b="1" i="0" dirty="0">
                <a:solidFill>
                  <a:srgbClr val="5C5C5F"/>
                </a:solidFill>
                <a:latin typeface="2 Bold" pitchFamily="18" charset="0"/>
                <a:cs typeface="2 Bold" pitchFamily="18" charset="0"/>
              </a:rPr>
              <a:t>Analyse salary distribution and ensure fair compensation on performance and </a:t>
            </a:r>
          </a:p>
          <a:p>
            <a:pPr>
              <a:lnSpc>
                <a:spcPts val="1900"/>
              </a:lnSpc>
              <a:spcBef>
                <a:spcPts val="0"/>
              </a:spcBef>
            </a:pPr>
            <a:r>
              <a:rPr lang="en-US" altLang="zh-CN" sz="1404" b="1" i="0" dirty="0">
                <a:solidFill>
                  <a:srgbClr val="5C5C5F"/>
                </a:solidFill>
                <a:latin typeface="2 Bold" pitchFamily="18" charset="0"/>
                <a:cs typeface="2 Bold" pitchFamily="18" charset="0"/>
              </a:rPr>
              <a:t>departmental benchmarks.</a:t>
            </a:r>
          </a:p>
        </p:txBody>
      </p:sp>
      <p:sp>
        <p:nvSpPr>
          <p:cNvPr id="15" name="Freeform 15"/>
          <p:cNvSpPr/>
          <p:nvPr/>
        </p:nvSpPr>
        <p:spPr>
          <a:xfrm>
            <a:off x="720001" y="455752"/>
            <a:ext cx="7703947" cy="308407"/>
          </a:xfrm>
          <a:custGeom>
            <a:avLst/>
            <a:gdLst>
              <a:gd name="connsiteX0" fmla="*/ 0 w 7703947"/>
              <a:gd name="connsiteY0" fmla="*/ 308407 h 308407"/>
              <a:gd name="connsiteX1" fmla="*/ 7703947 w 7703947"/>
              <a:gd name="connsiteY1" fmla="*/ 308407 h 308407"/>
              <a:gd name="connsiteX2" fmla="*/ 7703947 w 7703947"/>
              <a:gd name="connsiteY2" fmla="*/ 0 h 308407"/>
              <a:gd name="connsiteX3" fmla="*/ 0 w 7703947"/>
              <a:gd name="connsiteY3" fmla="*/ 0 h 308407"/>
            </a:gdLst>
            <a:ahLst/>
            <a:cxnLst>
              <a:cxn ang="0">
                <a:pos x="connsiteX0" y="connsiteY0"/>
              </a:cxn>
              <a:cxn ang="1">
                <a:pos x="connsiteX1" y="connsiteY1"/>
              </a:cxn>
              <a:cxn ang="2">
                <a:pos x="connsiteX2" y="connsiteY2"/>
              </a:cxn>
              <a:cxn ang="3">
                <a:pos x="connsiteX3" y="connsiteY3"/>
              </a:cxn>
            </a:cxnLst>
            <a:rect l="l" t="t" r="r" b="b"/>
            <a:pathLst>
              <a:path w="7703947" h="308407">
                <a:moveTo>
                  <a:pt x="0" y="308407"/>
                </a:moveTo>
                <a:lnTo>
                  <a:pt x="7703947" y="308407"/>
                </a:lnTo>
                <a:lnTo>
                  <a:pt x="7703947"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TextBox 16"/>
          <p:cNvSpPr txBox="1"/>
          <p:nvPr/>
        </p:nvSpPr>
        <p:spPr>
          <a:xfrm>
            <a:off x="811682" y="495021"/>
            <a:ext cx="1272540" cy="254000"/>
          </a:xfrm>
          <a:prstGeom prst="rect">
            <a:avLst/>
          </a:prstGeom>
          <a:noFill/>
        </p:spPr>
        <p:txBody>
          <a:bodyPr wrap="none" lIns="0" tIns="0" rIns="0" bIns="0" rtlCol="0">
            <a:spAutoFit/>
          </a:bodyPr>
          <a:lstStyle/>
          <a:p>
            <a:pPr>
              <a:lnSpc>
                <a:spcPts val="2000"/>
              </a:lnSpc>
              <a:spcBef>
                <a:spcPts val="0"/>
              </a:spcBef>
            </a:pPr>
            <a:r>
              <a:rPr lang="en-US" altLang="zh-CN" sz="2004" b="1" i="0" dirty="0">
                <a:solidFill>
                  <a:srgbClr val="85789C"/>
                </a:solidFill>
                <a:latin typeface="6 Bold" pitchFamily="18" charset="0"/>
                <a:cs typeface="6 Bold" pitchFamily="18" charset="0"/>
              </a:rPr>
              <a:t>Overview</a:t>
            </a:r>
          </a:p>
        </p:txBody>
      </p:sp>
      <p:sp>
        <p:nvSpPr>
          <p:cNvPr id="17" name="Freeform 17"/>
          <p:cNvSpPr/>
          <p:nvPr/>
        </p:nvSpPr>
        <p:spPr>
          <a:xfrm>
            <a:off x="720001" y="2041728"/>
            <a:ext cx="7703947" cy="308407"/>
          </a:xfrm>
          <a:custGeom>
            <a:avLst/>
            <a:gdLst>
              <a:gd name="connsiteX0" fmla="*/ 0 w 7703947"/>
              <a:gd name="connsiteY0" fmla="*/ 308407 h 308407"/>
              <a:gd name="connsiteX1" fmla="*/ 7703947 w 7703947"/>
              <a:gd name="connsiteY1" fmla="*/ 308407 h 308407"/>
              <a:gd name="connsiteX2" fmla="*/ 7703947 w 7703947"/>
              <a:gd name="connsiteY2" fmla="*/ 0 h 308407"/>
              <a:gd name="connsiteX3" fmla="*/ 0 w 7703947"/>
              <a:gd name="connsiteY3" fmla="*/ 0 h 308407"/>
            </a:gdLst>
            <a:ahLst/>
            <a:cxnLst>
              <a:cxn ang="0">
                <a:pos x="connsiteX0" y="connsiteY0"/>
              </a:cxn>
              <a:cxn ang="1">
                <a:pos x="connsiteX1" y="connsiteY1"/>
              </a:cxn>
              <a:cxn ang="2">
                <a:pos x="connsiteX2" y="connsiteY2"/>
              </a:cxn>
              <a:cxn ang="3">
                <a:pos x="connsiteX3" y="connsiteY3"/>
              </a:cxn>
            </a:cxnLst>
            <a:rect l="l" t="t" r="r" b="b"/>
            <a:pathLst>
              <a:path w="7703947" h="308407">
                <a:moveTo>
                  <a:pt x="0" y="308407"/>
                </a:moveTo>
                <a:lnTo>
                  <a:pt x="7703947" y="308407"/>
                </a:lnTo>
                <a:lnTo>
                  <a:pt x="7703947"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TextBox 18"/>
          <p:cNvSpPr txBox="1"/>
          <p:nvPr/>
        </p:nvSpPr>
        <p:spPr>
          <a:xfrm>
            <a:off x="811682" y="2081505"/>
            <a:ext cx="2545081" cy="254000"/>
          </a:xfrm>
          <a:prstGeom prst="rect">
            <a:avLst/>
          </a:prstGeom>
          <a:noFill/>
        </p:spPr>
        <p:txBody>
          <a:bodyPr wrap="none" lIns="0" tIns="0" rIns="0" bIns="0" rtlCol="0">
            <a:spAutoFit/>
          </a:bodyPr>
          <a:lstStyle/>
          <a:p>
            <a:pPr>
              <a:lnSpc>
                <a:spcPts val="2000"/>
              </a:lnSpc>
              <a:spcBef>
                <a:spcPts val="0"/>
              </a:spcBef>
            </a:pPr>
            <a:r>
              <a:rPr lang="en-US" altLang="zh-CN" sz="2004" b="1" i="0" dirty="0">
                <a:solidFill>
                  <a:srgbClr val="85789C"/>
                </a:solidFill>
                <a:latin typeface="6 Bold" pitchFamily="18" charset="0"/>
                <a:cs typeface="6 Bold" pitchFamily="18" charset="0"/>
              </a:rPr>
              <a:t>Problem Statement</a:t>
            </a:r>
          </a:p>
        </p:txBody>
      </p:sp>
      <p:sp>
        <p:nvSpPr>
          <p:cNvPr id="19" name="Freeform 19"/>
          <p:cNvSpPr/>
          <p:nvPr/>
        </p:nvSpPr>
        <p:spPr>
          <a:xfrm>
            <a:off x="720001" y="3011881"/>
            <a:ext cx="7703947" cy="308407"/>
          </a:xfrm>
          <a:custGeom>
            <a:avLst/>
            <a:gdLst>
              <a:gd name="connsiteX0" fmla="*/ 0 w 7703947"/>
              <a:gd name="connsiteY0" fmla="*/ 308407 h 308407"/>
              <a:gd name="connsiteX1" fmla="*/ 7703947 w 7703947"/>
              <a:gd name="connsiteY1" fmla="*/ 308407 h 308407"/>
              <a:gd name="connsiteX2" fmla="*/ 7703947 w 7703947"/>
              <a:gd name="connsiteY2" fmla="*/ 0 h 308407"/>
              <a:gd name="connsiteX3" fmla="*/ 0 w 7703947"/>
              <a:gd name="connsiteY3" fmla="*/ 0 h 308407"/>
            </a:gdLst>
            <a:ahLst/>
            <a:cxnLst>
              <a:cxn ang="0">
                <a:pos x="connsiteX0" y="connsiteY0"/>
              </a:cxn>
              <a:cxn ang="1">
                <a:pos x="connsiteX1" y="connsiteY1"/>
              </a:cxn>
              <a:cxn ang="2">
                <a:pos x="connsiteX2" y="connsiteY2"/>
              </a:cxn>
              <a:cxn ang="3">
                <a:pos x="connsiteX3" y="connsiteY3"/>
              </a:cxn>
            </a:cxnLst>
            <a:rect l="l" t="t" r="r" b="b"/>
            <a:pathLst>
              <a:path w="7703947" h="308407">
                <a:moveTo>
                  <a:pt x="0" y="308407"/>
                </a:moveTo>
                <a:lnTo>
                  <a:pt x="7703947" y="308407"/>
                </a:lnTo>
                <a:lnTo>
                  <a:pt x="7703947"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TextBox 20"/>
          <p:cNvSpPr txBox="1"/>
          <p:nvPr/>
        </p:nvSpPr>
        <p:spPr>
          <a:xfrm>
            <a:off x="811682" y="3051414"/>
            <a:ext cx="1388833" cy="254000"/>
          </a:xfrm>
          <a:prstGeom prst="rect">
            <a:avLst/>
          </a:prstGeom>
          <a:noFill/>
        </p:spPr>
        <p:txBody>
          <a:bodyPr wrap="none" lIns="0" tIns="0" rIns="0" bIns="0" rtlCol="0">
            <a:spAutoFit/>
          </a:bodyPr>
          <a:lstStyle/>
          <a:p>
            <a:pPr>
              <a:lnSpc>
                <a:spcPts val="2000"/>
              </a:lnSpc>
              <a:spcBef>
                <a:spcPts val="0"/>
              </a:spcBef>
            </a:pPr>
            <a:r>
              <a:rPr lang="en-US" altLang="zh-CN" sz="2006" b="1" i="0" dirty="0">
                <a:solidFill>
                  <a:srgbClr val="85789C"/>
                </a:solidFill>
                <a:latin typeface="6 Bold" pitchFamily="18" charset="0"/>
                <a:cs typeface="6 Bold" pitchFamily="18" charset="0"/>
              </a:rPr>
              <a:t>Solutions?</a:t>
            </a:r>
          </a:p>
        </p:txBody>
      </p:sp>
      <p:sp>
        <p:nvSpPr>
          <p:cNvPr id="21" name="TextBox 21"/>
          <p:cNvSpPr txBox="1"/>
          <p:nvPr/>
        </p:nvSpPr>
        <p:spPr>
          <a:xfrm>
            <a:off x="4522597" y="4722440"/>
            <a:ext cx="225755"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8723249"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055" y="1061212"/>
                  <a:pt x="38100" y="1061212"/>
                </a:cubicBezTo>
                <a:cubicBezTo>
                  <a:pt x="17018" y="1061212"/>
                  <a:pt x="0" y="1044067"/>
                  <a:pt x="0" y="1023112"/>
                </a:cubicBezTo>
                <a:cubicBezTo>
                  <a:pt x="0" y="1002030"/>
                  <a:pt x="17018" y="985012"/>
                  <a:pt x="38100" y="985012"/>
                </a:cubicBezTo>
                <a:cubicBezTo>
                  <a:pt x="59055" y="985012"/>
                  <a:pt x="76200" y="1002030"/>
                  <a:pt x="76200" y="1023112"/>
                </a:cubicBezTo>
                <a:moveTo>
                  <a:pt x="0" y="38100"/>
                </a:moveTo>
                <a:cubicBezTo>
                  <a:pt x="0" y="17145"/>
                  <a:pt x="17018" y="0"/>
                  <a:pt x="38100" y="0"/>
                </a:cubicBezTo>
                <a:cubicBezTo>
                  <a:pt x="59055" y="0"/>
                  <a:pt x="76200" y="17145"/>
                  <a:pt x="76200" y="38100"/>
                </a:cubicBezTo>
                <a:cubicBezTo>
                  <a:pt x="76200" y="59182"/>
                  <a:pt x="59055" y="76200"/>
                  <a:pt x="38100" y="76200"/>
                </a:cubicBezTo>
                <a:cubicBezTo>
                  <a:pt x="17018"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Freeform 9"/>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0" name="Freeform 10"/>
          <p:cNvSpPr/>
          <p:nvPr/>
        </p:nvSpPr>
        <p:spPr>
          <a:xfrm>
            <a:off x="356248"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144" y="1061212"/>
                  <a:pt x="38100" y="1061212"/>
                </a:cubicBezTo>
                <a:cubicBezTo>
                  <a:pt x="17056" y="1061212"/>
                  <a:pt x="0" y="1044067"/>
                  <a:pt x="0" y="1023112"/>
                </a:cubicBezTo>
                <a:cubicBezTo>
                  <a:pt x="0" y="1002030"/>
                  <a:pt x="17056" y="985012"/>
                  <a:pt x="38100" y="985012"/>
                </a:cubicBezTo>
                <a:cubicBezTo>
                  <a:pt x="59144" y="985012"/>
                  <a:pt x="76200" y="1002030"/>
                  <a:pt x="76200" y="1023112"/>
                </a:cubicBezTo>
                <a:moveTo>
                  <a:pt x="0" y="38100"/>
                </a:moveTo>
                <a:cubicBezTo>
                  <a:pt x="0" y="17145"/>
                  <a:pt x="17056" y="0"/>
                  <a:pt x="38100" y="0"/>
                </a:cubicBezTo>
                <a:cubicBezTo>
                  <a:pt x="59144" y="0"/>
                  <a:pt x="76200" y="17145"/>
                  <a:pt x="76200" y="38100"/>
                </a:cubicBezTo>
                <a:cubicBezTo>
                  <a:pt x="76200" y="59182"/>
                  <a:pt x="59144" y="76200"/>
                  <a:pt x="38100" y="76200"/>
                </a:cubicBezTo>
                <a:cubicBezTo>
                  <a:pt x="17056"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1" name="TextBox 11"/>
          <p:cNvSpPr txBox="1"/>
          <p:nvPr/>
        </p:nvSpPr>
        <p:spPr>
          <a:xfrm>
            <a:off x="3733546" y="1897390"/>
            <a:ext cx="4212994" cy="1003300"/>
          </a:xfrm>
          <a:prstGeom prst="rect">
            <a:avLst/>
          </a:prstGeom>
          <a:noFill/>
        </p:spPr>
        <p:txBody>
          <a:bodyPr wrap="none" lIns="0" tIns="0" rIns="0" bIns="0" rtlCol="0">
            <a:spAutoFit/>
          </a:bodyPr>
          <a:lstStyle/>
          <a:p>
            <a:pPr marL="952500">
              <a:lnSpc>
                <a:spcPts val="3600"/>
              </a:lnSpc>
              <a:spcBef>
                <a:spcPts val="0"/>
              </a:spcBef>
            </a:pPr>
            <a:r>
              <a:rPr lang="en-US" altLang="zh-CN" sz="3602" b="1" i="0" dirty="0">
                <a:solidFill>
                  <a:srgbClr val="5C5C5F"/>
                </a:solidFill>
                <a:latin typeface="6 Bold" pitchFamily="18" charset="0"/>
                <a:cs typeface="6 Bold" pitchFamily="18" charset="0"/>
              </a:rPr>
              <a:t>Employee </a:t>
            </a:r>
          </a:p>
          <a:p>
            <a:pPr>
              <a:lnSpc>
                <a:spcPts val="4300"/>
              </a:lnSpc>
              <a:spcBef>
                <a:spcPts val="0"/>
              </a:spcBef>
            </a:pPr>
            <a:r>
              <a:rPr lang="en-US" altLang="zh-CN" sz="3600" b="1" i="0" dirty="0">
                <a:solidFill>
                  <a:srgbClr val="5C5C5F"/>
                </a:solidFill>
                <a:latin typeface="6 Bold" pitchFamily="18" charset="0"/>
                <a:cs typeface="6 Bold" pitchFamily="18" charset="0"/>
              </a:rPr>
              <a:t>Retention Analysis</a:t>
            </a:r>
          </a:p>
        </p:txBody>
      </p:sp>
      <p:sp>
        <p:nvSpPr>
          <p:cNvPr id="12" name="TextBox 12"/>
          <p:cNvSpPr txBox="1"/>
          <p:nvPr/>
        </p:nvSpPr>
        <p:spPr>
          <a:xfrm>
            <a:off x="2103120" y="1940941"/>
            <a:ext cx="1028446" cy="762000"/>
          </a:xfrm>
          <a:prstGeom prst="rect">
            <a:avLst/>
          </a:prstGeom>
          <a:noFill/>
        </p:spPr>
        <p:txBody>
          <a:bodyPr wrap="none" lIns="0" tIns="0" rIns="0" bIns="0" rtlCol="0">
            <a:spAutoFit/>
          </a:bodyPr>
          <a:lstStyle/>
          <a:p>
            <a:pPr>
              <a:lnSpc>
                <a:spcPts val="6000"/>
              </a:lnSpc>
              <a:spcBef>
                <a:spcPts val="0"/>
              </a:spcBef>
            </a:pPr>
            <a:r>
              <a:rPr lang="en-US" altLang="zh-CN" sz="6000" b="1" i="0" dirty="0">
                <a:solidFill>
                  <a:srgbClr val="85789C"/>
                </a:solidFill>
                <a:latin typeface="6 Bold" pitchFamily="18" charset="0"/>
                <a:cs typeface="6 Bold" pitchFamily="18" charset="0"/>
              </a:rPr>
              <a:t>02</a:t>
            </a:r>
          </a:p>
        </p:txBody>
      </p:sp>
      <p:sp>
        <p:nvSpPr>
          <p:cNvPr id="13" name="TextBox 13"/>
          <p:cNvSpPr txBox="1"/>
          <p:nvPr/>
        </p:nvSpPr>
        <p:spPr>
          <a:xfrm>
            <a:off x="4522597" y="4722440"/>
            <a:ext cx="225755"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5</a:t>
            </a:r>
          </a:p>
        </p:txBody>
      </p:sp>
      <p:sp>
        <p:nvSpPr>
          <p:cNvPr id="14" name="Freeform 14"/>
          <p:cNvSpPr/>
          <p:nvPr/>
        </p:nvSpPr>
        <p:spPr>
          <a:xfrm>
            <a:off x="1562481" y="2872486"/>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8100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8100"/>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1562481" y="1676273"/>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7973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7973"/>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3244850" y="2217928"/>
            <a:ext cx="239395" cy="239395"/>
          </a:xfrm>
          <a:custGeom>
            <a:avLst/>
            <a:gdLst>
              <a:gd name="connsiteX0" fmla="*/ 0 w 239395"/>
              <a:gd name="connsiteY0" fmla="*/ 119761 h 239395"/>
              <a:gd name="connsiteX1" fmla="*/ 92964 w 239395"/>
              <a:gd name="connsiteY1" fmla="*/ 93091 h 239395"/>
              <a:gd name="connsiteX2" fmla="*/ 119634 w 239395"/>
              <a:gd name="connsiteY2" fmla="*/ 0 h 239395"/>
              <a:gd name="connsiteX3" fmla="*/ 146304 w 239395"/>
              <a:gd name="connsiteY3" fmla="*/ 93091 h 239395"/>
              <a:gd name="connsiteX4" fmla="*/ 239395 w 239395"/>
              <a:gd name="connsiteY4" fmla="*/ 119761 h 239395"/>
              <a:gd name="connsiteX5" fmla="*/ 146304 w 239395"/>
              <a:gd name="connsiteY5" fmla="*/ 146304 h 239395"/>
              <a:gd name="connsiteX6" fmla="*/ 119634 w 239395"/>
              <a:gd name="connsiteY6" fmla="*/ 239395 h 239395"/>
              <a:gd name="connsiteX7" fmla="*/ 92964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2964" y="93091"/>
                </a:lnTo>
                <a:lnTo>
                  <a:pt x="119634" y="0"/>
                </a:lnTo>
                <a:lnTo>
                  <a:pt x="146304" y="93091"/>
                </a:lnTo>
                <a:lnTo>
                  <a:pt x="239395" y="119761"/>
                </a:lnTo>
                <a:lnTo>
                  <a:pt x="146304" y="146304"/>
                </a:lnTo>
                <a:lnTo>
                  <a:pt x="119634" y="239395"/>
                </a:lnTo>
                <a:lnTo>
                  <a:pt x="92964"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7280529" y="2217928"/>
            <a:ext cx="239395" cy="239395"/>
          </a:xfrm>
          <a:custGeom>
            <a:avLst/>
            <a:gdLst>
              <a:gd name="connsiteX0" fmla="*/ 0 w 239395"/>
              <a:gd name="connsiteY0" fmla="*/ 119761 h 239395"/>
              <a:gd name="connsiteX1" fmla="*/ 93090 w 239395"/>
              <a:gd name="connsiteY1" fmla="*/ 93091 h 239395"/>
              <a:gd name="connsiteX2" fmla="*/ 119634 w 239395"/>
              <a:gd name="connsiteY2" fmla="*/ 0 h 239395"/>
              <a:gd name="connsiteX3" fmla="*/ 146303 w 239395"/>
              <a:gd name="connsiteY3" fmla="*/ 93091 h 239395"/>
              <a:gd name="connsiteX4" fmla="*/ 239395 w 239395"/>
              <a:gd name="connsiteY4" fmla="*/ 119761 h 239395"/>
              <a:gd name="connsiteX5" fmla="*/ 146303 w 239395"/>
              <a:gd name="connsiteY5" fmla="*/ 146304 h 239395"/>
              <a:gd name="connsiteX6" fmla="*/ 119634 w 239395"/>
              <a:gd name="connsiteY6" fmla="*/ 239395 h 239395"/>
              <a:gd name="connsiteX7" fmla="*/ 93090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3090" y="93091"/>
                </a:lnTo>
                <a:lnTo>
                  <a:pt x="119634" y="0"/>
                </a:lnTo>
                <a:lnTo>
                  <a:pt x="146303" y="93091"/>
                </a:lnTo>
                <a:lnTo>
                  <a:pt x="239395" y="119761"/>
                </a:lnTo>
                <a:lnTo>
                  <a:pt x="146303" y="146304"/>
                </a:lnTo>
                <a:lnTo>
                  <a:pt x="119634" y="239395"/>
                </a:lnTo>
                <a:lnTo>
                  <a:pt x="93090"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522597" y="4722440"/>
            <a:ext cx="225755"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6</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259580" y="866140"/>
            <a:ext cx="76200" cy="3774834"/>
          </a:xfrm>
          <a:custGeom>
            <a:avLst/>
            <a:gdLst>
              <a:gd name="connsiteX0" fmla="*/ 47625 w 76200"/>
              <a:gd name="connsiteY0" fmla="*/ 38100 h 3774834"/>
              <a:gd name="connsiteX1" fmla="*/ 47625 w 76200"/>
              <a:gd name="connsiteY1" fmla="*/ 3736734 h 3774834"/>
              <a:gd name="connsiteX2" fmla="*/ 28575 w 76200"/>
              <a:gd name="connsiteY2" fmla="*/ 3736734 h 3774834"/>
              <a:gd name="connsiteX3" fmla="*/ 28575 w 76200"/>
              <a:gd name="connsiteY3" fmla="*/ 38100 h 3774834"/>
              <a:gd name="connsiteX5" fmla="*/ 0 w 76200"/>
              <a:gd name="connsiteY5" fmla="*/ 38100 h 3774834"/>
              <a:gd name="connsiteX6" fmla="*/ 38100 w 76200"/>
              <a:gd name="connsiteY6" fmla="*/ 0 h 3774834"/>
              <a:gd name="connsiteX7" fmla="*/ 76200 w 76200"/>
              <a:gd name="connsiteY7" fmla="*/ 38100 h 3774834"/>
              <a:gd name="connsiteX8" fmla="*/ 38100 w 76200"/>
              <a:gd name="connsiteY8" fmla="*/ 76200 h 3774834"/>
              <a:gd name="connsiteX9" fmla="*/ 0 w 76200"/>
              <a:gd name="connsiteY9" fmla="*/ 38100 h 3774834"/>
              <a:gd name="connsiteX11" fmla="*/ 76200 w 76200"/>
              <a:gd name="connsiteY11" fmla="*/ 3736734 h 3774834"/>
              <a:gd name="connsiteX12" fmla="*/ 38100 w 76200"/>
              <a:gd name="connsiteY12" fmla="*/ 3774834 h 3774834"/>
              <a:gd name="connsiteX13" fmla="*/ 0 w 76200"/>
              <a:gd name="connsiteY13" fmla="*/ 3736734 h 3774834"/>
              <a:gd name="connsiteX14" fmla="*/ 38100 w 76200"/>
              <a:gd name="connsiteY14" fmla="*/ 3698634 h 3774834"/>
              <a:gd name="connsiteX15" fmla="*/ 76200 w 76200"/>
              <a:gd name="connsiteY15" fmla="*/ 3736734 h 377483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34">
                <a:moveTo>
                  <a:pt x="47625" y="38100"/>
                </a:moveTo>
                <a:lnTo>
                  <a:pt x="47625" y="3736734"/>
                </a:lnTo>
                <a:lnTo>
                  <a:pt x="28575" y="3736734"/>
                </a:lnTo>
                <a:lnTo>
                  <a:pt x="28575" y="38100"/>
                </a:lnTo>
                <a:moveTo>
                  <a:pt x="0" y="38100"/>
                </a:moveTo>
                <a:cubicBezTo>
                  <a:pt x="0" y="17145"/>
                  <a:pt x="17018" y="0"/>
                  <a:pt x="38100" y="0"/>
                </a:cubicBezTo>
                <a:cubicBezTo>
                  <a:pt x="59055" y="0"/>
                  <a:pt x="76200" y="17145"/>
                  <a:pt x="76200" y="38100"/>
                </a:cubicBezTo>
                <a:cubicBezTo>
                  <a:pt x="76200" y="59182"/>
                  <a:pt x="59055" y="76200"/>
                  <a:pt x="38100" y="76200"/>
                </a:cubicBezTo>
                <a:cubicBezTo>
                  <a:pt x="17018" y="76200"/>
                  <a:pt x="0" y="59182"/>
                  <a:pt x="0" y="38100"/>
                </a:cubicBezTo>
                <a:moveTo>
                  <a:pt x="76200" y="3736734"/>
                </a:moveTo>
                <a:cubicBezTo>
                  <a:pt x="76200" y="3757778"/>
                  <a:pt x="59055" y="3774834"/>
                  <a:pt x="38100" y="3774834"/>
                </a:cubicBezTo>
                <a:cubicBezTo>
                  <a:pt x="17018" y="3774834"/>
                  <a:pt x="0" y="3757778"/>
                  <a:pt x="0" y="3736734"/>
                </a:cubicBezTo>
                <a:cubicBezTo>
                  <a:pt x="0" y="3715689"/>
                  <a:pt x="17018" y="3698634"/>
                  <a:pt x="38100" y="3698634"/>
                </a:cubicBezTo>
                <a:cubicBezTo>
                  <a:pt x="59055" y="3698634"/>
                  <a:pt x="76200" y="3715689"/>
                  <a:pt x="76200" y="3736734"/>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30073" y="363601"/>
            <a:ext cx="2804668"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1. Who are the top 5 highest serving </a:t>
            </a:r>
          </a:p>
          <a:p>
            <a:pPr>
              <a:lnSpc>
                <a:spcPts val="1400"/>
              </a:lnSpc>
              <a:spcBef>
                <a:spcPts val="0"/>
              </a:spcBef>
            </a:pPr>
            <a:r>
              <a:rPr lang="en-US" altLang="zh-CN" sz="1200" b="1" i="0" dirty="0">
                <a:solidFill>
                  <a:srgbClr val="5C5C5F"/>
                </a:solidFill>
                <a:latin typeface="6 Bold" pitchFamily="18" charset="0"/>
                <a:cs typeface="6 Bold" pitchFamily="18" charset="0"/>
              </a:rPr>
              <a:t>employees?</a:t>
            </a:r>
          </a:p>
        </p:txBody>
      </p:sp>
      <p:pic>
        <p:nvPicPr>
          <p:cNvPr id="25" name="Picture 25"/>
          <p:cNvPicPr>
            <a:picLocks/>
          </p:cNvPicPr>
          <p:nvPr/>
        </p:nvPicPr>
        <p:blipFill>
          <a:blip r:embed="rId2" cstate="print"/>
          <a:srcRect/>
          <a:stretch>
            <a:fillRect/>
          </a:stretch>
        </p:blipFill>
        <p:spPr bwMode="auto">
          <a:xfrm>
            <a:off x="221679" y="814667"/>
            <a:ext cx="3890391" cy="3896614"/>
          </a:xfrm>
          <a:prstGeom prst="rect">
            <a:avLst/>
          </a:prstGeom>
          <a:noFill/>
        </p:spPr>
      </p:pic>
      <p:sp>
        <p:nvSpPr>
          <p:cNvPr id="26" name="TextBox 26"/>
          <p:cNvSpPr txBox="1"/>
          <p:nvPr/>
        </p:nvSpPr>
        <p:spPr>
          <a:xfrm>
            <a:off x="4617720" y="812805"/>
            <a:ext cx="743153"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Findings</a:t>
            </a:r>
          </a:p>
        </p:txBody>
      </p:sp>
      <p:sp>
        <p:nvSpPr>
          <p:cNvPr id="27" name="Freeform 27"/>
          <p:cNvSpPr/>
          <p:nvPr/>
        </p:nvSpPr>
        <p:spPr>
          <a:xfrm>
            <a:off x="4617085" y="948309"/>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8" name="TextBox 28"/>
          <p:cNvSpPr txBox="1"/>
          <p:nvPr/>
        </p:nvSpPr>
        <p:spPr>
          <a:xfrm>
            <a:off x="4617720" y="1021215"/>
            <a:ext cx="4365782" cy="1371600"/>
          </a:xfrm>
          <a:prstGeom prst="rect">
            <a:avLst/>
          </a:prstGeom>
          <a:noFill/>
        </p:spPr>
        <p:txBody>
          <a:bodyPr wrap="none" lIns="0" tIns="0" rIns="0" bIns="0" rtlCol="0">
            <a:spAutoFit/>
          </a:bodyPr>
          <a:lstStyle/>
          <a:p>
            <a:pPr>
              <a:lnSpc>
                <a:spcPts val="12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000000"/>
                </a:solidFill>
                <a:latin typeface="2 Bold" pitchFamily="18" charset="0"/>
                <a:cs typeface="2 Bold" pitchFamily="18" charset="0"/>
              </a:rPr>
              <a:t>  Top 5 employees are David Moore, Frank Smith, Jane </a:t>
            </a:r>
          </a:p>
          <a:p>
            <a:pPr marL="172212">
              <a:lnSpc>
                <a:spcPts val="1600"/>
              </a:lnSpc>
              <a:spcBef>
                <a:spcPts val="0"/>
              </a:spcBef>
            </a:pPr>
            <a:r>
              <a:rPr lang="en-US" altLang="zh-CN" sz="1200" b="1" i="0" dirty="0">
                <a:solidFill>
                  <a:srgbClr val="000000"/>
                </a:solidFill>
                <a:latin typeface="2 Bold" pitchFamily="18" charset="0"/>
                <a:cs typeface="2 Bold" pitchFamily="18" charset="0"/>
              </a:rPr>
              <a:t>Brown, John Johnson, and John Doe.</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All top 5 employees have been employed for over 9 </a:t>
            </a:r>
          </a:p>
          <a:p>
            <a:pPr marL="172212">
              <a:lnSpc>
                <a:spcPts val="1600"/>
              </a:lnSpc>
              <a:spcBef>
                <a:spcPts val="0"/>
              </a:spcBef>
            </a:pPr>
            <a:r>
              <a:rPr lang="en-US" altLang="zh-CN" sz="1200" b="1" i="0" dirty="0">
                <a:solidFill>
                  <a:srgbClr val="000000"/>
                </a:solidFill>
                <a:latin typeface="2 Bold" pitchFamily="18" charset="0"/>
                <a:cs typeface="2 Bold" pitchFamily="18" charset="0"/>
              </a:rPr>
              <a:t>years, with David Moore as the longest serving </a:t>
            </a:r>
          </a:p>
          <a:p>
            <a:pPr marL="172212">
              <a:lnSpc>
                <a:spcPts val="1600"/>
              </a:lnSpc>
              <a:spcBef>
                <a:spcPts val="0"/>
              </a:spcBef>
            </a:pPr>
            <a:r>
              <a:rPr lang="en-US" altLang="zh-CN" sz="1200" b="1" i="0" dirty="0">
                <a:solidFill>
                  <a:srgbClr val="000000"/>
                </a:solidFill>
                <a:latin typeface="2 Bold" pitchFamily="18" charset="0"/>
                <a:cs typeface="2 Bold" pitchFamily="18" charset="0"/>
              </a:rPr>
              <a:t>employee at 10 years.</a:t>
            </a:r>
          </a:p>
          <a:p>
            <a:pPr>
              <a:lnSpc>
                <a:spcPts val="16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5C5C5F"/>
                </a:solidFill>
                <a:latin typeface="2 Bold" pitchFamily="18" charset="0"/>
                <a:cs typeface="2 Bold" pitchFamily="18" charset="0"/>
              </a:rPr>
              <a:t>   Majority of long staying employees were hired between </a:t>
            </a:r>
          </a:p>
          <a:p>
            <a:pPr marL="172212">
              <a:lnSpc>
                <a:spcPts val="1600"/>
              </a:lnSpc>
              <a:spcBef>
                <a:spcPts val="0"/>
              </a:spcBef>
            </a:pPr>
            <a:r>
              <a:rPr lang="en-US" altLang="zh-CN" sz="1200" b="1" i="0" dirty="0">
                <a:solidFill>
                  <a:srgbClr val="5C5C5F"/>
                </a:solidFill>
                <a:latin typeface="2 Bold" pitchFamily="18" charset="0"/>
                <a:cs typeface="2 Bold" pitchFamily="18" charset="0"/>
              </a:rPr>
              <a:t>2015 and 2016</a:t>
            </a:r>
          </a:p>
        </p:txBody>
      </p:sp>
      <p:sp>
        <p:nvSpPr>
          <p:cNvPr id="29" name="TextBox 29"/>
          <p:cNvSpPr txBox="1"/>
          <p:nvPr/>
        </p:nvSpPr>
        <p:spPr>
          <a:xfrm>
            <a:off x="4610989" y="2794641"/>
            <a:ext cx="2256637"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0" name="Freeform 30"/>
          <p:cNvSpPr/>
          <p:nvPr/>
        </p:nvSpPr>
        <p:spPr>
          <a:xfrm>
            <a:off x="4610227" y="2929382"/>
            <a:ext cx="2129028" cy="6096"/>
          </a:xfrm>
          <a:custGeom>
            <a:avLst/>
            <a:gdLst>
              <a:gd name="connsiteX0" fmla="*/ 0 w 2129028"/>
              <a:gd name="connsiteY0" fmla="*/ 0 h 6096"/>
              <a:gd name="connsiteX1" fmla="*/ 709676 w 2129028"/>
              <a:gd name="connsiteY1" fmla="*/ 0 h 6096"/>
              <a:gd name="connsiteX2" fmla="*/ 1419352 w 2129028"/>
              <a:gd name="connsiteY2" fmla="*/ 0 h 6096"/>
              <a:gd name="connsiteX3" fmla="*/ 2129028 w 2129028"/>
              <a:gd name="connsiteY3" fmla="*/ 0 h 6096"/>
              <a:gd name="connsiteX4" fmla="*/ 2129028 w 2129028"/>
              <a:gd name="connsiteY4" fmla="*/ 6096 h 6096"/>
              <a:gd name="connsiteX5" fmla="*/ 1419352 w 2129028"/>
              <a:gd name="connsiteY5" fmla="*/ 6096 h 6096"/>
              <a:gd name="connsiteX6" fmla="*/ 709676 w 2129028"/>
              <a:gd name="connsiteY6" fmla="*/ 6096 h 6096"/>
              <a:gd name="connsiteX7" fmla="*/ 0 w 2129028"/>
              <a:gd name="connsiteY7"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129028" h="6096">
                <a:moveTo>
                  <a:pt x="0" y="0"/>
                </a:moveTo>
                <a:lnTo>
                  <a:pt x="709676" y="0"/>
                </a:lnTo>
                <a:lnTo>
                  <a:pt x="1419352" y="0"/>
                </a:lnTo>
                <a:lnTo>
                  <a:pt x="2129028" y="0"/>
                </a:lnTo>
                <a:lnTo>
                  <a:pt x="2129028" y="6096"/>
                </a:lnTo>
                <a:lnTo>
                  <a:pt x="1419352" y="6096"/>
                </a:lnTo>
                <a:lnTo>
                  <a:pt x="709676"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1" name="TextBox 31"/>
          <p:cNvSpPr txBox="1"/>
          <p:nvPr/>
        </p:nvSpPr>
        <p:spPr>
          <a:xfrm>
            <a:off x="4610989" y="3213609"/>
            <a:ext cx="4183129" cy="9652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Conduct comprehensive stay interviews to determine </a:t>
            </a:r>
          </a:p>
          <a:p>
            <a:pPr marL="172212">
              <a:lnSpc>
                <a:spcPts val="1600"/>
              </a:lnSpc>
              <a:spcBef>
                <a:spcPts val="0"/>
              </a:spcBef>
            </a:pPr>
            <a:r>
              <a:rPr lang="en-US" altLang="zh-CN" sz="1200" b="1" i="0" dirty="0">
                <a:solidFill>
                  <a:srgbClr val="5C5C5F"/>
                </a:solidFill>
                <a:latin typeface="2 Bold" pitchFamily="18" charset="0"/>
                <a:cs typeface="2 Bold" pitchFamily="18" charset="0"/>
              </a:rPr>
              <a:t>key drivers for loyalty to replicate across the </a:t>
            </a:r>
          </a:p>
          <a:p>
            <a:pPr marL="172212">
              <a:lnSpc>
                <a:spcPts val="1600"/>
              </a:lnSpc>
              <a:spcBef>
                <a:spcPts val="0"/>
              </a:spcBef>
            </a:pPr>
            <a:r>
              <a:rPr lang="en-US" altLang="zh-CN" sz="1200" b="1" i="0" dirty="0">
                <a:solidFill>
                  <a:srgbClr val="5C5C5F"/>
                </a:solidFill>
                <a:latin typeface="2 Bold" pitchFamily="18" charset="0"/>
                <a:cs typeface="2 Bold" pitchFamily="18" charset="0"/>
              </a:rPr>
              <a:t>organisation</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Analyse the 2015-2016 hiring process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Continuous monitoring of top staying employees.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4389755" y="812805"/>
            <a:ext cx="743153"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Findings</a:t>
            </a:r>
          </a:p>
        </p:txBody>
      </p:sp>
      <p:sp>
        <p:nvSpPr>
          <p:cNvPr id="10" name="Freeform 10"/>
          <p:cNvSpPr/>
          <p:nvPr/>
        </p:nvSpPr>
        <p:spPr>
          <a:xfrm>
            <a:off x="4389120" y="948309"/>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1" name="TextBox 11"/>
          <p:cNvSpPr txBox="1"/>
          <p:nvPr/>
        </p:nvSpPr>
        <p:spPr>
          <a:xfrm>
            <a:off x="4389755" y="1021215"/>
            <a:ext cx="4439314" cy="1574800"/>
          </a:xfrm>
          <a:prstGeom prst="rect">
            <a:avLst/>
          </a:prstGeom>
          <a:noFill/>
        </p:spPr>
        <p:txBody>
          <a:bodyPr wrap="none" lIns="0" tIns="0" rIns="0" bIns="0" rtlCol="0">
            <a:spAutoFit/>
          </a:bodyPr>
          <a:lstStyle/>
          <a:p>
            <a:pPr>
              <a:lnSpc>
                <a:spcPts val="12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000000"/>
                </a:solidFill>
                <a:latin typeface="2 Bold" pitchFamily="18" charset="0"/>
                <a:cs typeface="2 Bold" pitchFamily="18" charset="0"/>
              </a:rPr>
              <a:t>  Marketing (92.86%) and Engineering (66.67%) have </a:t>
            </a:r>
          </a:p>
          <a:p>
            <a:pPr marL="172212">
              <a:lnSpc>
                <a:spcPts val="1600"/>
              </a:lnSpc>
              <a:spcBef>
                <a:spcPts val="0"/>
              </a:spcBef>
            </a:pPr>
            <a:r>
              <a:rPr lang="en-US" altLang="zh-CN" sz="1200" b="1" i="0" dirty="0">
                <a:solidFill>
                  <a:srgbClr val="000000"/>
                </a:solidFill>
                <a:latin typeface="2 Bold" pitchFamily="18" charset="0"/>
                <a:cs typeface="2 Bold" pitchFamily="18" charset="0"/>
              </a:rPr>
              <a:t>alarmingly high turnover rates, indicating severe </a:t>
            </a:r>
          </a:p>
          <a:p>
            <a:pPr marL="172212">
              <a:lnSpc>
                <a:spcPts val="1600"/>
              </a:lnSpc>
              <a:spcBef>
                <a:spcPts val="0"/>
              </a:spcBef>
            </a:pPr>
            <a:r>
              <a:rPr lang="en-US" altLang="zh-CN" sz="1200" b="1" i="0" dirty="0">
                <a:solidFill>
                  <a:srgbClr val="000000"/>
                </a:solidFill>
                <a:latin typeface="2 Bold" pitchFamily="18" charset="0"/>
                <a:cs typeface="2 Bold" pitchFamily="18" charset="0"/>
              </a:rPr>
              <a:t>underlying problems.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Stark contrast between high turnover departments and </a:t>
            </a:r>
          </a:p>
          <a:p>
            <a:pPr marL="172212">
              <a:lnSpc>
                <a:spcPts val="1600"/>
              </a:lnSpc>
              <a:spcBef>
                <a:spcPts val="0"/>
              </a:spcBef>
            </a:pPr>
            <a:r>
              <a:rPr lang="en-US" altLang="zh-CN" sz="1200" b="1" i="0" dirty="0">
                <a:solidFill>
                  <a:srgbClr val="000000"/>
                </a:solidFill>
                <a:latin typeface="2 Bold" pitchFamily="18" charset="0"/>
                <a:cs typeface="2 Bold" pitchFamily="18" charset="0"/>
              </a:rPr>
              <a:t>stable ones (Sales, 27.59% and HR, 27.27%), suggesting </a:t>
            </a:r>
          </a:p>
          <a:p>
            <a:pPr marL="172212">
              <a:lnSpc>
                <a:spcPts val="1600"/>
              </a:lnSpc>
              <a:spcBef>
                <a:spcPts val="0"/>
              </a:spcBef>
            </a:pPr>
            <a:r>
              <a:rPr lang="en-US" altLang="zh-CN" sz="1202" b="1" i="0" dirty="0">
                <a:solidFill>
                  <a:srgbClr val="000000"/>
                </a:solidFill>
                <a:latin typeface="2 Bold" pitchFamily="18" charset="0"/>
                <a:cs typeface="2 Bold" pitchFamily="18" charset="0"/>
              </a:rPr>
              <a:t>localized issues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Marketing's turnover is nearly 1.5x Engineering’s and 3x </a:t>
            </a:r>
          </a:p>
          <a:p>
            <a:pPr marL="172212">
              <a:lnSpc>
                <a:spcPts val="1600"/>
              </a:lnSpc>
              <a:spcBef>
                <a:spcPts val="0"/>
              </a:spcBef>
            </a:pPr>
            <a:r>
              <a:rPr lang="en-US" altLang="zh-CN" sz="1200" b="1" i="0" dirty="0">
                <a:solidFill>
                  <a:srgbClr val="000000"/>
                </a:solidFill>
                <a:latin typeface="2 Bold" pitchFamily="18" charset="0"/>
                <a:cs typeface="2 Bold" pitchFamily="18" charset="0"/>
              </a:rPr>
              <a:t>Sales/HR.</a:t>
            </a:r>
          </a:p>
        </p:txBody>
      </p:sp>
      <p:sp>
        <p:nvSpPr>
          <p:cNvPr id="12" name="TextBox 12"/>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3" name="TextBox 13"/>
          <p:cNvSpPr txBox="1"/>
          <p:nvPr/>
        </p:nvSpPr>
        <p:spPr>
          <a:xfrm>
            <a:off x="4522597" y="4722440"/>
            <a:ext cx="225755"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7</a:t>
            </a:r>
          </a:p>
        </p:txBody>
      </p:sp>
      <p:sp>
        <p:nvSpPr>
          <p:cNvPr id="14" name="Freeform 14"/>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Freeform 24"/>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5" name="Freeform 25"/>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6" name="Freeform 26"/>
          <p:cNvSpPr/>
          <p:nvPr/>
        </p:nvSpPr>
        <p:spPr>
          <a:xfrm>
            <a:off x="4125722" y="875538"/>
            <a:ext cx="76200" cy="3774834"/>
          </a:xfrm>
          <a:custGeom>
            <a:avLst/>
            <a:gdLst>
              <a:gd name="connsiteX0" fmla="*/ 47625 w 76200"/>
              <a:gd name="connsiteY0" fmla="*/ 38100 h 3774834"/>
              <a:gd name="connsiteX1" fmla="*/ 47625 w 76200"/>
              <a:gd name="connsiteY1" fmla="*/ 3736734 h 3774834"/>
              <a:gd name="connsiteX2" fmla="*/ 28575 w 76200"/>
              <a:gd name="connsiteY2" fmla="*/ 3736734 h 3774834"/>
              <a:gd name="connsiteX3" fmla="*/ 28575 w 76200"/>
              <a:gd name="connsiteY3" fmla="*/ 38100 h 3774834"/>
              <a:gd name="connsiteX5" fmla="*/ 0 w 76200"/>
              <a:gd name="connsiteY5" fmla="*/ 38100 h 3774834"/>
              <a:gd name="connsiteX6" fmla="*/ 38100 w 76200"/>
              <a:gd name="connsiteY6" fmla="*/ 0 h 3774834"/>
              <a:gd name="connsiteX7" fmla="*/ 76200 w 76200"/>
              <a:gd name="connsiteY7" fmla="*/ 38100 h 3774834"/>
              <a:gd name="connsiteX8" fmla="*/ 38100 w 76200"/>
              <a:gd name="connsiteY8" fmla="*/ 76200 h 3774834"/>
              <a:gd name="connsiteX9" fmla="*/ 0 w 76200"/>
              <a:gd name="connsiteY9" fmla="*/ 38100 h 3774834"/>
              <a:gd name="connsiteX11" fmla="*/ 76200 w 76200"/>
              <a:gd name="connsiteY11" fmla="*/ 3736734 h 3774834"/>
              <a:gd name="connsiteX12" fmla="*/ 38100 w 76200"/>
              <a:gd name="connsiteY12" fmla="*/ 3774834 h 3774834"/>
              <a:gd name="connsiteX13" fmla="*/ 0 w 76200"/>
              <a:gd name="connsiteY13" fmla="*/ 3736734 h 3774834"/>
              <a:gd name="connsiteX14" fmla="*/ 38100 w 76200"/>
              <a:gd name="connsiteY14" fmla="*/ 3698634 h 3774834"/>
              <a:gd name="connsiteX15" fmla="*/ 76200 w 76200"/>
              <a:gd name="connsiteY15" fmla="*/ 3736734 h 377483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34">
                <a:moveTo>
                  <a:pt x="47625" y="38100"/>
                </a:moveTo>
                <a:lnTo>
                  <a:pt x="47625" y="3736734"/>
                </a:lnTo>
                <a:lnTo>
                  <a:pt x="28575" y="3736734"/>
                </a:lnTo>
                <a:lnTo>
                  <a:pt x="28575" y="38100"/>
                </a:lnTo>
                <a:moveTo>
                  <a:pt x="0" y="38100"/>
                </a:moveTo>
                <a:cubicBezTo>
                  <a:pt x="0" y="17145"/>
                  <a:pt x="17018" y="0"/>
                  <a:pt x="38100" y="0"/>
                </a:cubicBezTo>
                <a:cubicBezTo>
                  <a:pt x="59182" y="0"/>
                  <a:pt x="76200" y="17145"/>
                  <a:pt x="76200" y="38100"/>
                </a:cubicBezTo>
                <a:cubicBezTo>
                  <a:pt x="76200" y="59182"/>
                  <a:pt x="59182" y="76200"/>
                  <a:pt x="38100" y="76200"/>
                </a:cubicBezTo>
                <a:cubicBezTo>
                  <a:pt x="17018" y="76200"/>
                  <a:pt x="0" y="59182"/>
                  <a:pt x="0" y="38100"/>
                </a:cubicBezTo>
                <a:moveTo>
                  <a:pt x="76200" y="3736734"/>
                </a:moveTo>
                <a:cubicBezTo>
                  <a:pt x="76200" y="3757778"/>
                  <a:pt x="59182" y="3774834"/>
                  <a:pt x="38100" y="3774834"/>
                </a:cubicBezTo>
                <a:cubicBezTo>
                  <a:pt x="17018" y="3774834"/>
                  <a:pt x="0" y="3757778"/>
                  <a:pt x="0" y="3736734"/>
                </a:cubicBezTo>
                <a:cubicBezTo>
                  <a:pt x="0" y="3715690"/>
                  <a:pt x="17018" y="3698634"/>
                  <a:pt x="38100" y="3698634"/>
                </a:cubicBezTo>
                <a:cubicBezTo>
                  <a:pt x="59182" y="3698634"/>
                  <a:pt x="76200" y="3715690"/>
                  <a:pt x="76200" y="3736734"/>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7" name="TextBox 27"/>
          <p:cNvSpPr txBox="1"/>
          <p:nvPr/>
        </p:nvSpPr>
        <p:spPr>
          <a:xfrm>
            <a:off x="430073" y="411226"/>
            <a:ext cx="2876753"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2. What is the turnover rate for each </a:t>
            </a:r>
          </a:p>
          <a:p>
            <a:pPr>
              <a:lnSpc>
                <a:spcPts val="1400"/>
              </a:lnSpc>
              <a:spcBef>
                <a:spcPts val="0"/>
              </a:spcBef>
            </a:pPr>
            <a:r>
              <a:rPr lang="en-US" altLang="zh-CN" sz="1200" b="1" i="0" dirty="0">
                <a:solidFill>
                  <a:srgbClr val="5C5C5F"/>
                </a:solidFill>
                <a:latin typeface="6 Bold" pitchFamily="18" charset="0"/>
                <a:cs typeface="6 Bold" pitchFamily="18" charset="0"/>
              </a:rPr>
              <a:t>department?</a:t>
            </a:r>
          </a:p>
        </p:txBody>
      </p:sp>
      <p:pic>
        <p:nvPicPr>
          <p:cNvPr id="28" name="Picture 28"/>
          <p:cNvPicPr>
            <a:picLocks/>
          </p:cNvPicPr>
          <p:nvPr/>
        </p:nvPicPr>
        <p:blipFill>
          <a:blip r:embed="rId2" cstate="print"/>
          <a:srcRect/>
          <a:stretch>
            <a:fillRect/>
          </a:stretch>
        </p:blipFill>
        <p:spPr bwMode="auto">
          <a:xfrm>
            <a:off x="342900" y="812800"/>
            <a:ext cx="3632200" cy="3898900"/>
          </a:xfrm>
          <a:prstGeom prst="rect">
            <a:avLst/>
          </a:prstGeom>
          <a:noFill/>
        </p:spPr>
      </p:pic>
      <p:sp>
        <p:nvSpPr>
          <p:cNvPr id="29" name="TextBox 29"/>
          <p:cNvSpPr txBox="1"/>
          <p:nvPr/>
        </p:nvSpPr>
        <p:spPr>
          <a:xfrm>
            <a:off x="4339463" y="2891796"/>
            <a:ext cx="2303729"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0" name="Freeform 30"/>
          <p:cNvSpPr/>
          <p:nvPr/>
        </p:nvSpPr>
        <p:spPr>
          <a:xfrm>
            <a:off x="4338701" y="3026664"/>
            <a:ext cx="2176272" cy="6096"/>
          </a:xfrm>
          <a:custGeom>
            <a:avLst/>
            <a:gdLst>
              <a:gd name="connsiteX0" fmla="*/ 0 w 2176272"/>
              <a:gd name="connsiteY0" fmla="*/ 0 h 6096"/>
              <a:gd name="connsiteX1" fmla="*/ 1088136 w 2176272"/>
              <a:gd name="connsiteY1" fmla="*/ 0 h 6096"/>
              <a:gd name="connsiteX2" fmla="*/ 2176272 w 2176272"/>
              <a:gd name="connsiteY2" fmla="*/ 0 h 6096"/>
              <a:gd name="connsiteX3" fmla="*/ 2176272 w 2176272"/>
              <a:gd name="connsiteY3" fmla="*/ 6096 h 6096"/>
              <a:gd name="connsiteX4" fmla="*/ 1088136 w 2176272"/>
              <a:gd name="connsiteY4" fmla="*/ 6096 h 6096"/>
              <a:gd name="connsiteX5" fmla="*/ 0 w 2176272"/>
              <a:gd name="connsiteY5"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176272" h="6096">
                <a:moveTo>
                  <a:pt x="0" y="0"/>
                </a:moveTo>
                <a:lnTo>
                  <a:pt x="1088136" y="0"/>
                </a:lnTo>
                <a:lnTo>
                  <a:pt x="2176272" y="0"/>
                </a:lnTo>
                <a:lnTo>
                  <a:pt x="2176272" y="6096"/>
                </a:lnTo>
                <a:lnTo>
                  <a:pt x="1088136"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1" name="TextBox 31"/>
          <p:cNvSpPr txBox="1"/>
          <p:nvPr/>
        </p:nvSpPr>
        <p:spPr>
          <a:xfrm>
            <a:off x="4339463" y="3100452"/>
            <a:ext cx="4573577" cy="13716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Deep-dive root cause analysis i.e conduct exit/stay </a:t>
            </a:r>
          </a:p>
          <a:p>
            <a:pPr marL="172212">
              <a:lnSpc>
                <a:spcPts val="1600"/>
              </a:lnSpc>
              <a:spcBef>
                <a:spcPts val="0"/>
              </a:spcBef>
            </a:pPr>
            <a:r>
              <a:rPr lang="en-US" altLang="zh-CN" sz="1200" b="1" i="0" dirty="0">
                <a:solidFill>
                  <a:srgbClr val="5C5C5F"/>
                </a:solidFill>
                <a:latin typeface="2 Bold" pitchFamily="18" charset="0"/>
                <a:cs typeface="2 Bold" pitchFamily="18" charset="0"/>
              </a:rPr>
              <a:t>interviews and surveys, etc</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Targeted retention strategies in low turnover departments </a:t>
            </a:r>
          </a:p>
          <a:p>
            <a:pPr marL="172212">
              <a:lnSpc>
                <a:spcPts val="1600"/>
              </a:lnSpc>
              <a:spcBef>
                <a:spcPts val="0"/>
              </a:spcBef>
            </a:pPr>
            <a:r>
              <a:rPr lang="en-US" altLang="zh-CN" sz="1202" b="1" i="0" dirty="0">
                <a:solidFill>
                  <a:srgbClr val="5C5C5F"/>
                </a:solidFill>
                <a:latin typeface="2 Bold" pitchFamily="18" charset="0"/>
                <a:cs typeface="2 Bold" pitchFamily="18" charset="0"/>
              </a:rPr>
              <a:t>i.e career pathing, competitive compensation, improved </a:t>
            </a:r>
          </a:p>
          <a:p>
            <a:pPr marL="172212">
              <a:lnSpc>
                <a:spcPts val="1600"/>
              </a:lnSpc>
              <a:spcBef>
                <a:spcPts val="0"/>
              </a:spcBef>
            </a:pPr>
            <a:r>
              <a:rPr lang="en-US" altLang="zh-CN" sz="1200" b="1" i="0" dirty="0">
                <a:solidFill>
                  <a:srgbClr val="5C5C5F"/>
                </a:solidFill>
                <a:latin typeface="2 Bold" pitchFamily="18" charset="0"/>
                <a:cs typeface="2 Bold" pitchFamily="18" charset="0"/>
              </a:rPr>
              <a:t>work-life balance and recognition programs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Best practise transfer; Cross departmental workshops, </a:t>
            </a:r>
          </a:p>
          <a:p>
            <a:pPr marL="172212">
              <a:lnSpc>
                <a:spcPts val="1600"/>
              </a:lnSpc>
              <a:spcBef>
                <a:spcPts val="0"/>
              </a:spcBef>
            </a:pPr>
            <a:r>
              <a:rPr lang="en-US" altLang="zh-CN" sz="1200" b="1" i="0" dirty="0">
                <a:solidFill>
                  <a:srgbClr val="5C5C5F"/>
                </a:solidFill>
                <a:latin typeface="2 Bold" pitchFamily="18" charset="0"/>
                <a:cs typeface="2 Bold" pitchFamily="18" charset="0"/>
              </a:rPr>
              <a:t>mentorship programs and policy review from Sale/HR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522597" y="4722440"/>
            <a:ext cx="225755"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8</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498086" y="742315"/>
            <a:ext cx="76200" cy="3774808"/>
          </a:xfrm>
          <a:custGeom>
            <a:avLst/>
            <a:gdLst>
              <a:gd name="connsiteX0" fmla="*/ 47625 w 76200"/>
              <a:gd name="connsiteY0" fmla="*/ 38100 h 3774808"/>
              <a:gd name="connsiteX1" fmla="*/ 47625 w 76200"/>
              <a:gd name="connsiteY1" fmla="*/ 3736696 h 3774808"/>
              <a:gd name="connsiteX2" fmla="*/ 28575 w 76200"/>
              <a:gd name="connsiteY2" fmla="*/ 3736708 h 3774808"/>
              <a:gd name="connsiteX3" fmla="*/ 28575 w 76200"/>
              <a:gd name="connsiteY3" fmla="*/ 38100 h 3774808"/>
              <a:gd name="connsiteX5" fmla="*/ 0 w 76200"/>
              <a:gd name="connsiteY5" fmla="*/ 38100 h 3774808"/>
              <a:gd name="connsiteX6" fmla="*/ 38100 w 76200"/>
              <a:gd name="connsiteY6" fmla="*/ 0 h 3774808"/>
              <a:gd name="connsiteX7" fmla="*/ 76200 w 76200"/>
              <a:gd name="connsiteY7" fmla="*/ 38100 h 3774808"/>
              <a:gd name="connsiteX8" fmla="*/ 38100 w 76200"/>
              <a:gd name="connsiteY8" fmla="*/ 76200 h 3774808"/>
              <a:gd name="connsiteX9" fmla="*/ 0 w 76200"/>
              <a:gd name="connsiteY9" fmla="*/ 38100 h 3774808"/>
              <a:gd name="connsiteX11" fmla="*/ 76200 w 76200"/>
              <a:gd name="connsiteY11" fmla="*/ 3736696 h 3774808"/>
              <a:gd name="connsiteX12" fmla="*/ 38100 w 76200"/>
              <a:gd name="connsiteY12" fmla="*/ 3774808 h 3774808"/>
              <a:gd name="connsiteX13" fmla="*/ 0 w 76200"/>
              <a:gd name="connsiteY13" fmla="*/ 3736708 h 3774808"/>
              <a:gd name="connsiteX14" fmla="*/ 38100 w 76200"/>
              <a:gd name="connsiteY14" fmla="*/ 3698608 h 3774808"/>
              <a:gd name="connsiteX15" fmla="*/ 76200 w 76200"/>
              <a:gd name="connsiteY15" fmla="*/ 3736696 h 3774808"/>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08">
                <a:moveTo>
                  <a:pt x="47625" y="38100"/>
                </a:moveTo>
                <a:lnTo>
                  <a:pt x="47625" y="3736696"/>
                </a:lnTo>
                <a:lnTo>
                  <a:pt x="28575" y="3736708"/>
                </a:lnTo>
                <a:lnTo>
                  <a:pt x="28575" y="38100"/>
                </a:lnTo>
                <a:moveTo>
                  <a:pt x="0" y="38100"/>
                </a:moveTo>
                <a:cubicBezTo>
                  <a:pt x="0" y="17018"/>
                  <a:pt x="17145" y="0"/>
                  <a:pt x="38100" y="0"/>
                </a:cubicBezTo>
                <a:cubicBezTo>
                  <a:pt x="59182" y="0"/>
                  <a:pt x="76200" y="17018"/>
                  <a:pt x="76200" y="38100"/>
                </a:cubicBezTo>
                <a:cubicBezTo>
                  <a:pt x="76200" y="59182"/>
                  <a:pt x="59182" y="76200"/>
                  <a:pt x="38100" y="76200"/>
                </a:cubicBezTo>
                <a:cubicBezTo>
                  <a:pt x="17145" y="76200"/>
                  <a:pt x="0" y="59182"/>
                  <a:pt x="0" y="38100"/>
                </a:cubicBezTo>
                <a:moveTo>
                  <a:pt x="76200" y="3736696"/>
                </a:moveTo>
                <a:cubicBezTo>
                  <a:pt x="76200" y="3757739"/>
                  <a:pt x="59182" y="3774796"/>
                  <a:pt x="38100" y="3774808"/>
                </a:cubicBezTo>
                <a:cubicBezTo>
                  <a:pt x="17145" y="3774808"/>
                  <a:pt x="0" y="3757739"/>
                  <a:pt x="0" y="3736708"/>
                </a:cubicBezTo>
                <a:cubicBezTo>
                  <a:pt x="0" y="3715664"/>
                  <a:pt x="17145" y="3698608"/>
                  <a:pt x="38100" y="3698608"/>
                </a:cubicBezTo>
                <a:cubicBezTo>
                  <a:pt x="59182" y="3698596"/>
                  <a:pt x="76200" y="3715664"/>
                  <a:pt x="76200" y="3736696"/>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30073" y="411226"/>
            <a:ext cx="3201061"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3. Which employees are at risk of leaving </a:t>
            </a:r>
          </a:p>
          <a:p>
            <a:pPr>
              <a:lnSpc>
                <a:spcPts val="1400"/>
              </a:lnSpc>
              <a:spcBef>
                <a:spcPts val="0"/>
              </a:spcBef>
            </a:pPr>
            <a:r>
              <a:rPr lang="en-US" altLang="zh-CN" sz="1200" b="1" i="0" dirty="0">
                <a:solidFill>
                  <a:srgbClr val="5C5C5F"/>
                </a:solidFill>
                <a:latin typeface="6 Bold" pitchFamily="18" charset="0"/>
                <a:cs typeface="6 Bold" pitchFamily="18" charset="0"/>
              </a:rPr>
              <a:t>based on their performance?</a:t>
            </a:r>
          </a:p>
        </p:txBody>
      </p:sp>
      <p:pic>
        <p:nvPicPr>
          <p:cNvPr id="25" name="Picture 25"/>
          <p:cNvPicPr>
            <a:picLocks/>
          </p:cNvPicPr>
          <p:nvPr/>
        </p:nvPicPr>
        <p:blipFill>
          <a:blip r:embed="rId2" cstate="print"/>
          <a:srcRect/>
          <a:stretch>
            <a:fillRect/>
          </a:stretch>
        </p:blipFill>
        <p:spPr bwMode="auto">
          <a:xfrm>
            <a:off x="139700" y="812800"/>
            <a:ext cx="4279900" cy="3975100"/>
          </a:xfrm>
          <a:prstGeom prst="rect">
            <a:avLst/>
          </a:prstGeom>
          <a:noFill/>
        </p:spPr>
      </p:pic>
      <p:sp>
        <p:nvSpPr>
          <p:cNvPr id="26" name="TextBox 26"/>
          <p:cNvSpPr txBox="1"/>
          <p:nvPr/>
        </p:nvSpPr>
        <p:spPr>
          <a:xfrm>
            <a:off x="4839970" y="895355"/>
            <a:ext cx="743153"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Findings</a:t>
            </a:r>
          </a:p>
        </p:txBody>
      </p:sp>
      <p:sp>
        <p:nvSpPr>
          <p:cNvPr id="27" name="Freeform 27"/>
          <p:cNvSpPr/>
          <p:nvPr/>
        </p:nvSpPr>
        <p:spPr>
          <a:xfrm>
            <a:off x="4839208" y="1030732"/>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8" name="TextBox 28"/>
          <p:cNvSpPr txBox="1"/>
          <p:nvPr/>
        </p:nvSpPr>
        <p:spPr>
          <a:xfrm>
            <a:off x="4839970" y="1314324"/>
            <a:ext cx="3905151" cy="5588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Grace Wilson in Sales is the only employee with a </a:t>
            </a:r>
          </a:p>
          <a:p>
            <a:pPr marL="172212">
              <a:lnSpc>
                <a:spcPts val="1600"/>
              </a:lnSpc>
              <a:spcBef>
                <a:spcPts val="0"/>
              </a:spcBef>
            </a:pPr>
            <a:r>
              <a:rPr lang="en-US" altLang="zh-CN" sz="1200" b="1" i="0" dirty="0">
                <a:solidFill>
                  <a:srgbClr val="5C5C5F"/>
                </a:solidFill>
                <a:latin typeface="2 Bold" pitchFamily="18" charset="0"/>
                <a:cs typeface="2 Bold" pitchFamily="18" charset="0"/>
              </a:rPr>
              <a:t>moderate risk of leaving the company.</a:t>
            </a:r>
          </a:p>
          <a:p>
            <a:pPr>
              <a:lnSpc>
                <a:spcPts val="16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5C5C5F"/>
                </a:solidFill>
                <a:latin typeface="2 Bold" pitchFamily="18" charset="0"/>
                <a:cs typeface="2 Bold" pitchFamily="18" charset="0"/>
              </a:rPr>
              <a:t>   She has an average performance score of 3.43</a:t>
            </a:r>
          </a:p>
        </p:txBody>
      </p:sp>
      <p:sp>
        <p:nvSpPr>
          <p:cNvPr id="29" name="TextBox 29"/>
          <p:cNvSpPr txBox="1"/>
          <p:nvPr/>
        </p:nvSpPr>
        <p:spPr>
          <a:xfrm>
            <a:off x="4866386" y="2929896"/>
            <a:ext cx="2256637"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0" name="Freeform 30"/>
          <p:cNvSpPr/>
          <p:nvPr/>
        </p:nvSpPr>
        <p:spPr>
          <a:xfrm>
            <a:off x="4865878" y="3064764"/>
            <a:ext cx="2129028" cy="6096"/>
          </a:xfrm>
          <a:custGeom>
            <a:avLst/>
            <a:gdLst>
              <a:gd name="connsiteX0" fmla="*/ 0 w 2129028"/>
              <a:gd name="connsiteY0" fmla="*/ 0 h 6096"/>
              <a:gd name="connsiteX1" fmla="*/ 709676 w 2129028"/>
              <a:gd name="connsiteY1" fmla="*/ 0 h 6096"/>
              <a:gd name="connsiteX2" fmla="*/ 1419352 w 2129028"/>
              <a:gd name="connsiteY2" fmla="*/ 0 h 6096"/>
              <a:gd name="connsiteX3" fmla="*/ 2129028 w 2129028"/>
              <a:gd name="connsiteY3" fmla="*/ 0 h 6096"/>
              <a:gd name="connsiteX4" fmla="*/ 2129028 w 2129028"/>
              <a:gd name="connsiteY4" fmla="*/ 6096 h 6096"/>
              <a:gd name="connsiteX5" fmla="*/ 1419352 w 2129028"/>
              <a:gd name="connsiteY5" fmla="*/ 6096 h 6096"/>
              <a:gd name="connsiteX6" fmla="*/ 709676 w 2129028"/>
              <a:gd name="connsiteY6" fmla="*/ 6096 h 6096"/>
              <a:gd name="connsiteX7" fmla="*/ 0 w 2129028"/>
              <a:gd name="connsiteY7"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129028" h="6096">
                <a:moveTo>
                  <a:pt x="0" y="0"/>
                </a:moveTo>
                <a:lnTo>
                  <a:pt x="709676" y="0"/>
                </a:lnTo>
                <a:lnTo>
                  <a:pt x="1419352" y="0"/>
                </a:lnTo>
                <a:lnTo>
                  <a:pt x="2129028" y="0"/>
                </a:lnTo>
                <a:lnTo>
                  <a:pt x="2129028" y="6096"/>
                </a:lnTo>
                <a:lnTo>
                  <a:pt x="1419352" y="6096"/>
                </a:lnTo>
                <a:lnTo>
                  <a:pt x="709676"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1" name="TextBox 31"/>
          <p:cNvSpPr txBox="1"/>
          <p:nvPr/>
        </p:nvSpPr>
        <p:spPr>
          <a:xfrm>
            <a:off x="4866386" y="3138552"/>
            <a:ext cx="3069469" cy="5588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Managerial check-in</a:t>
            </a:r>
          </a:p>
          <a:p>
            <a:pPr>
              <a:lnSpc>
                <a:spcPts val="16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000000"/>
                </a:solidFill>
                <a:latin typeface="2 Bold" pitchFamily="18" charset="0"/>
                <a:cs typeface="2 Bold" pitchFamily="18" charset="0"/>
              </a:rPr>
              <a:t>   Performance improvement plans (PIP)</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Focused mentorship plans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522597" y="4722440"/>
            <a:ext cx="225755"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9</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186936" y="805815"/>
            <a:ext cx="76200" cy="3774796"/>
          </a:xfrm>
          <a:custGeom>
            <a:avLst/>
            <a:gdLst>
              <a:gd name="connsiteX0" fmla="*/ 47625 w 76200"/>
              <a:gd name="connsiteY0" fmla="*/ 38100 h 3774796"/>
              <a:gd name="connsiteX1" fmla="*/ 47625 w 76200"/>
              <a:gd name="connsiteY1" fmla="*/ 3736696 h 3774796"/>
              <a:gd name="connsiteX2" fmla="*/ 28575 w 76200"/>
              <a:gd name="connsiteY2" fmla="*/ 3736696 h 3774796"/>
              <a:gd name="connsiteX3" fmla="*/ 28575 w 76200"/>
              <a:gd name="connsiteY3" fmla="*/ 38100 h 3774796"/>
              <a:gd name="connsiteX5" fmla="*/ 0 w 76200"/>
              <a:gd name="connsiteY5" fmla="*/ 38100 h 3774796"/>
              <a:gd name="connsiteX6" fmla="*/ 38100 w 76200"/>
              <a:gd name="connsiteY6" fmla="*/ 0 h 3774796"/>
              <a:gd name="connsiteX7" fmla="*/ 76200 w 76200"/>
              <a:gd name="connsiteY7" fmla="*/ 38100 h 3774796"/>
              <a:gd name="connsiteX8" fmla="*/ 38100 w 76200"/>
              <a:gd name="connsiteY8" fmla="*/ 76200 h 3774796"/>
              <a:gd name="connsiteX9" fmla="*/ 0 w 76200"/>
              <a:gd name="connsiteY9" fmla="*/ 38100 h 3774796"/>
              <a:gd name="connsiteX11" fmla="*/ 76200 w 76200"/>
              <a:gd name="connsiteY11" fmla="*/ 3736696 h 3774796"/>
              <a:gd name="connsiteX12" fmla="*/ 38100 w 76200"/>
              <a:gd name="connsiteY12" fmla="*/ 3774796 h 3774796"/>
              <a:gd name="connsiteX13" fmla="*/ 0 w 76200"/>
              <a:gd name="connsiteY13" fmla="*/ 3736696 h 3774796"/>
              <a:gd name="connsiteX14" fmla="*/ 38100 w 76200"/>
              <a:gd name="connsiteY14" fmla="*/ 3698596 h 3774796"/>
              <a:gd name="connsiteX15" fmla="*/ 76200 w 76200"/>
              <a:gd name="connsiteY15" fmla="*/ 3736696 h 3774796"/>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796">
                <a:moveTo>
                  <a:pt x="47625" y="38100"/>
                </a:moveTo>
                <a:lnTo>
                  <a:pt x="47625" y="3736696"/>
                </a:lnTo>
                <a:lnTo>
                  <a:pt x="28575" y="3736696"/>
                </a:lnTo>
                <a:lnTo>
                  <a:pt x="28575" y="38100"/>
                </a:lnTo>
                <a:moveTo>
                  <a:pt x="0" y="38100"/>
                </a:moveTo>
                <a:cubicBezTo>
                  <a:pt x="0" y="17018"/>
                  <a:pt x="17145" y="0"/>
                  <a:pt x="38100" y="0"/>
                </a:cubicBezTo>
                <a:cubicBezTo>
                  <a:pt x="59182" y="0"/>
                  <a:pt x="76200" y="17018"/>
                  <a:pt x="76200" y="38100"/>
                </a:cubicBezTo>
                <a:cubicBezTo>
                  <a:pt x="76200" y="59182"/>
                  <a:pt x="59182" y="76200"/>
                  <a:pt x="38100" y="76200"/>
                </a:cubicBezTo>
                <a:cubicBezTo>
                  <a:pt x="17145" y="76200"/>
                  <a:pt x="0" y="59182"/>
                  <a:pt x="0" y="38100"/>
                </a:cubicBezTo>
                <a:moveTo>
                  <a:pt x="76200" y="3736696"/>
                </a:moveTo>
                <a:cubicBezTo>
                  <a:pt x="76200" y="3757739"/>
                  <a:pt x="59182" y="3774796"/>
                  <a:pt x="38100" y="3774796"/>
                </a:cubicBezTo>
                <a:cubicBezTo>
                  <a:pt x="17145" y="3774796"/>
                  <a:pt x="0" y="3757739"/>
                  <a:pt x="0" y="3736696"/>
                </a:cubicBezTo>
                <a:cubicBezTo>
                  <a:pt x="0" y="3715651"/>
                  <a:pt x="17145" y="3698596"/>
                  <a:pt x="38100" y="3698596"/>
                </a:cubicBezTo>
                <a:cubicBezTo>
                  <a:pt x="59182" y="3698596"/>
                  <a:pt x="76200" y="3715651"/>
                  <a:pt x="76200" y="3736696"/>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pic>
        <p:nvPicPr>
          <p:cNvPr id="24" name="Picture 24"/>
          <p:cNvPicPr>
            <a:picLocks/>
          </p:cNvPicPr>
          <p:nvPr/>
        </p:nvPicPr>
        <p:blipFill>
          <a:blip r:embed="rId2" cstate="print"/>
          <a:srcRect/>
          <a:stretch>
            <a:fillRect/>
          </a:stretch>
        </p:blipFill>
        <p:spPr bwMode="auto">
          <a:xfrm>
            <a:off x="279400" y="901700"/>
            <a:ext cx="3873500" cy="3810000"/>
          </a:xfrm>
          <a:prstGeom prst="rect">
            <a:avLst/>
          </a:prstGeom>
          <a:noFill/>
        </p:spPr>
      </p:pic>
      <p:sp>
        <p:nvSpPr>
          <p:cNvPr id="25" name="TextBox 25"/>
          <p:cNvSpPr txBox="1"/>
          <p:nvPr/>
        </p:nvSpPr>
        <p:spPr>
          <a:xfrm>
            <a:off x="430073" y="411226"/>
            <a:ext cx="3484828"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4. What are the main reasons employees are </a:t>
            </a:r>
          </a:p>
          <a:p>
            <a:pPr>
              <a:lnSpc>
                <a:spcPts val="1400"/>
              </a:lnSpc>
              <a:spcBef>
                <a:spcPts val="0"/>
              </a:spcBef>
            </a:pPr>
            <a:r>
              <a:rPr lang="en-US" altLang="zh-CN" sz="1200" b="1" i="0" dirty="0">
                <a:solidFill>
                  <a:srgbClr val="5C5C5F"/>
                </a:solidFill>
                <a:latin typeface="6 Bold" pitchFamily="18" charset="0"/>
                <a:cs typeface="6 Bold" pitchFamily="18" charset="0"/>
              </a:rPr>
              <a:t>leaving the company?</a:t>
            </a:r>
          </a:p>
        </p:txBody>
      </p:sp>
      <p:sp>
        <p:nvSpPr>
          <p:cNvPr id="26" name="TextBox 26"/>
          <p:cNvSpPr txBox="1"/>
          <p:nvPr/>
        </p:nvSpPr>
        <p:spPr>
          <a:xfrm>
            <a:off x="4499737" y="895355"/>
            <a:ext cx="743153"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Findings</a:t>
            </a:r>
          </a:p>
        </p:txBody>
      </p:sp>
      <p:sp>
        <p:nvSpPr>
          <p:cNvPr id="27" name="Freeform 27"/>
          <p:cNvSpPr/>
          <p:nvPr/>
        </p:nvSpPr>
        <p:spPr>
          <a:xfrm>
            <a:off x="4499102" y="1030732"/>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8" name="TextBox 28"/>
          <p:cNvSpPr txBox="1"/>
          <p:nvPr/>
        </p:nvSpPr>
        <p:spPr>
          <a:xfrm>
            <a:off x="4499737" y="1104012"/>
            <a:ext cx="4409290" cy="13716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0" i="0" dirty="0">
                <a:solidFill>
                  <a:srgbClr val="000000"/>
                </a:solidFill>
                <a:latin typeface="5 Regular" pitchFamily="18" charset="0"/>
                <a:cs typeface="5 Regular" pitchFamily="18" charset="0"/>
              </a:rPr>
              <a:t>   ‘</a:t>
            </a:r>
            <a:r>
              <a:rPr lang="en-US" altLang="zh-CN" sz="1200" b="1" i="0" dirty="0">
                <a:solidFill>
                  <a:srgbClr val="000000"/>
                </a:solidFill>
                <a:latin typeface="2 Bold" pitchFamily="18" charset="0"/>
                <a:cs typeface="2 Bold" pitchFamily="18" charset="0"/>
              </a:rPr>
              <a:t>Personal’ reasons accounts for the largest proportion of </a:t>
            </a:r>
          </a:p>
          <a:p>
            <a:pPr marL="172212">
              <a:lnSpc>
                <a:spcPts val="1600"/>
              </a:lnSpc>
              <a:spcBef>
                <a:spcPts val="0"/>
              </a:spcBef>
            </a:pPr>
            <a:r>
              <a:rPr lang="en-US" altLang="zh-CN" sz="1200" b="1" i="0" dirty="0">
                <a:solidFill>
                  <a:srgbClr val="000000"/>
                </a:solidFill>
                <a:latin typeface="2 Bold" pitchFamily="18" charset="0"/>
                <a:cs typeface="2 Bold" pitchFamily="18" charset="0"/>
              </a:rPr>
              <a:t>exits (39.29%).</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‘Found another Job’ (25%) highlights external market </a:t>
            </a:r>
          </a:p>
          <a:p>
            <a:pPr marL="172212">
              <a:lnSpc>
                <a:spcPts val="1600"/>
              </a:lnSpc>
              <a:spcBef>
                <a:spcPts val="0"/>
              </a:spcBef>
            </a:pPr>
            <a:r>
              <a:rPr lang="en-US" altLang="zh-CN" sz="1202" b="1" i="0" dirty="0">
                <a:solidFill>
                  <a:srgbClr val="000000"/>
                </a:solidFill>
                <a:latin typeface="2 Bold" pitchFamily="18" charset="0"/>
                <a:cs typeface="2 Bold" pitchFamily="18" charset="0"/>
              </a:rPr>
              <a:t>influence and company competitiveness in talent </a:t>
            </a:r>
          </a:p>
          <a:p>
            <a:pPr marL="172212">
              <a:lnSpc>
                <a:spcPts val="1600"/>
              </a:lnSpc>
              <a:spcBef>
                <a:spcPts val="0"/>
              </a:spcBef>
            </a:pPr>
            <a:r>
              <a:rPr lang="en-US" altLang="zh-CN" sz="1200" b="1" i="0" dirty="0">
                <a:solidFill>
                  <a:srgbClr val="000000"/>
                </a:solidFill>
                <a:latin typeface="2 Bold" pitchFamily="18" charset="0"/>
                <a:cs typeface="2 Bold" pitchFamily="18" charset="0"/>
              </a:rPr>
              <a:t>retention.</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‘Career growth’ (17.86%) indicates potential gaps in </a:t>
            </a:r>
          </a:p>
          <a:p>
            <a:pPr marL="172212">
              <a:lnSpc>
                <a:spcPts val="1600"/>
              </a:lnSpc>
              <a:spcBef>
                <a:spcPts val="0"/>
              </a:spcBef>
            </a:pPr>
            <a:r>
              <a:rPr lang="en-US" altLang="zh-CN" sz="1200" b="1" i="0" dirty="0">
                <a:solidFill>
                  <a:srgbClr val="000000"/>
                </a:solidFill>
                <a:latin typeface="2 Bold" pitchFamily="18" charset="0"/>
                <a:cs typeface="2 Bold" pitchFamily="18" charset="0"/>
              </a:rPr>
              <a:t>internal advancement opportunities</a:t>
            </a:r>
          </a:p>
        </p:txBody>
      </p:sp>
      <p:sp>
        <p:nvSpPr>
          <p:cNvPr id="29" name="TextBox 29"/>
          <p:cNvSpPr txBox="1"/>
          <p:nvPr/>
        </p:nvSpPr>
        <p:spPr>
          <a:xfrm>
            <a:off x="4475988" y="2758319"/>
            <a:ext cx="2303729"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0" name="Freeform 30"/>
          <p:cNvSpPr/>
          <p:nvPr/>
        </p:nvSpPr>
        <p:spPr>
          <a:xfrm>
            <a:off x="4475226" y="2893314"/>
            <a:ext cx="2176272" cy="6096"/>
          </a:xfrm>
          <a:custGeom>
            <a:avLst/>
            <a:gdLst>
              <a:gd name="connsiteX0" fmla="*/ 0 w 2176272"/>
              <a:gd name="connsiteY0" fmla="*/ 0 h 6096"/>
              <a:gd name="connsiteX1" fmla="*/ 725424 w 2176272"/>
              <a:gd name="connsiteY1" fmla="*/ 0 h 6096"/>
              <a:gd name="connsiteX2" fmla="*/ 1450848 w 2176272"/>
              <a:gd name="connsiteY2" fmla="*/ 0 h 6096"/>
              <a:gd name="connsiteX3" fmla="*/ 2176272 w 2176272"/>
              <a:gd name="connsiteY3" fmla="*/ 0 h 6096"/>
              <a:gd name="connsiteX4" fmla="*/ 2176272 w 2176272"/>
              <a:gd name="connsiteY4" fmla="*/ 6096 h 6096"/>
              <a:gd name="connsiteX5" fmla="*/ 1450848 w 2176272"/>
              <a:gd name="connsiteY5" fmla="*/ 6096 h 6096"/>
              <a:gd name="connsiteX6" fmla="*/ 725424 w 2176272"/>
              <a:gd name="connsiteY6" fmla="*/ 6096 h 6096"/>
              <a:gd name="connsiteX7" fmla="*/ 0 w 2176272"/>
              <a:gd name="connsiteY7"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176272" h="6096">
                <a:moveTo>
                  <a:pt x="0" y="0"/>
                </a:moveTo>
                <a:lnTo>
                  <a:pt x="725424" y="0"/>
                </a:lnTo>
                <a:lnTo>
                  <a:pt x="1450848" y="0"/>
                </a:lnTo>
                <a:lnTo>
                  <a:pt x="2176272" y="0"/>
                </a:lnTo>
                <a:lnTo>
                  <a:pt x="2176272" y="6096"/>
                </a:lnTo>
                <a:lnTo>
                  <a:pt x="1450848" y="6096"/>
                </a:lnTo>
                <a:lnTo>
                  <a:pt x="725424"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1" name="TextBox 31"/>
          <p:cNvSpPr txBox="1"/>
          <p:nvPr/>
        </p:nvSpPr>
        <p:spPr>
          <a:xfrm>
            <a:off x="4475988" y="2967229"/>
            <a:ext cx="4214064" cy="13716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Deep-dive into ‘Personal’ reasons for leaving, by </a:t>
            </a:r>
          </a:p>
          <a:p>
            <a:pPr marL="172212">
              <a:lnSpc>
                <a:spcPts val="1600"/>
              </a:lnSpc>
              <a:spcBef>
                <a:spcPts val="0"/>
              </a:spcBef>
            </a:pPr>
            <a:r>
              <a:rPr lang="en-US" altLang="zh-CN" sz="1200" b="1" i="0" dirty="0">
                <a:solidFill>
                  <a:srgbClr val="000000"/>
                </a:solidFill>
                <a:latin typeface="2 Bold" pitchFamily="18" charset="0"/>
                <a:cs typeface="2 Bold" pitchFamily="18" charset="0"/>
              </a:rPr>
              <a:t>conducting enhanced exit interviews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Provide regular compensation/benefits review, career </a:t>
            </a:r>
          </a:p>
          <a:p>
            <a:pPr marL="172212">
              <a:lnSpc>
                <a:spcPts val="1600"/>
              </a:lnSpc>
              <a:spcBef>
                <a:spcPts val="0"/>
              </a:spcBef>
            </a:pPr>
            <a:r>
              <a:rPr lang="en-US" altLang="zh-CN" sz="1200" b="1" i="0" dirty="0">
                <a:solidFill>
                  <a:srgbClr val="000000"/>
                </a:solidFill>
                <a:latin typeface="2 Bold" pitchFamily="18" charset="0"/>
                <a:cs typeface="2 Bold" pitchFamily="18" charset="0"/>
              </a:rPr>
              <a:t>development opportunities and recognition programs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Conduct regular pulse surveys, HR analytics </a:t>
            </a:r>
          </a:p>
          <a:p>
            <a:pPr marL="172212">
              <a:lnSpc>
                <a:spcPts val="1600"/>
              </a:lnSpc>
              <a:spcBef>
                <a:spcPts val="0"/>
              </a:spcBef>
            </a:pPr>
            <a:r>
              <a:rPr lang="en-US" altLang="zh-CN" sz="1200" b="1" i="0" dirty="0">
                <a:solidFill>
                  <a:srgbClr val="000000"/>
                </a:solidFill>
                <a:latin typeface="2 Bold" pitchFamily="18" charset="0"/>
                <a:cs typeface="2 Bold" pitchFamily="18" charset="0"/>
              </a:rPr>
              <a:t>dashboards and manager training on retention</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Cultivate a positive work environment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8723249"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055" y="1061212"/>
                  <a:pt x="38100" y="1061212"/>
                </a:cubicBezTo>
                <a:cubicBezTo>
                  <a:pt x="17018" y="1061212"/>
                  <a:pt x="0" y="1044067"/>
                  <a:pt x="0" y="1023112"/>
                </a:cubicBezTo>
                <a:cubicBezTo>
                  <a:pt x="0" y="1002030"/>
                  <a:pt x="17018" y="985012"/>
                  <a:pt x="38100" y="985012"/>
                </a:cubicBezTo>
                <a:cubicBezTo>
                  <a:pt x="59055" y="985012"/>
                  <a:pt x="76200" y="1002030"/>
                  <a:pt x="76200" y="1023112"/>
                </a:cubicBezTo>
                <a:moveTo>
                  <a:pt x="0" y="38100"/>
                </a:moveTo>
                <a:cubicBezTo>
                  <a:pt x="0" y="17145"/>
                  <a:pt x="17018" y="0"/>
                  <a:pt x="38100" y="0"/>
                </a:cubicBezTo>
                <a:cubicBezTo>
                  <a:pt x="59055" y="0"/>
                  <a:pt x="76200" y="17145"/>
                  <a:pt x="76200" y="38100"/>
                </a:cubicBezTo>
                <a:cubicBezTo>
                  <a:pt x="76200" y="59182"/>
                  <a:pt x="59055" y="76200"/>
                  <a:pt x="38100" y="76200"/>
                </a:cubicBezTo>
                <a:cubicBezTo>
                  <a:pt x="17018"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Freeform 9"/>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0" name="Freeform 10"/>
          <p:cNvSpPr/>
          <p:nvPr/>
        </p:nvSpPr>
        <p:spPr>
          <a:xfrm>
            <a:off x="356248"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144" y="1061212"/>
                  <a:pt x="38100" y="1061212"/>
                </a:cubicBezTo>
                <a:cubicBezTo>
                  <a:pt x="17056" y="1061212"/>
                  <a:pt x="0" y="1044067"/>
                  <a:pt x="0" y="1023112"/>
                </a:cubicBezTo>
                <a:cubicBezTo>
                  <a:pt x="0" y="1002030"/>
                  <a:pt x="17056" y="985012"/>
                  <a:pt x="38100" y="985012"/>
                </a:cubicBezTo>
                <a:cubicBezTo>
                  <a:pt x="59144" y="985012"/>
                  <a:pt x="76200" y="1002030"/>
                  <a:pt x="76200" y="1023112"/>
                </a:cubicBezTo>
                <a:moveTo>
                  <a:pt x="0" y="38100"/>
                </a:moveTo>
                <a:cubicBezTo>
                  <a:pt x="0" y="17145"/>
                  <a:pt x="17056" y="0"/>
                  <a:pt x="38100" y="0"/>
                </a:cubicBezTo>
                <a:cubicBezTo>
                  <a:pt x="59144" y="0"/>
                  <a:pt x="76200" y="17145"/>
                  <a:pt x="76200" y="38100"/>
                </a:cubicBezTo>
                <a:cubicBezTo>
                  <a:pt x="76200" y="59182"/>
                  <a:pt x="59144" y="76200"/>
                  <a:pt x="38100" y="76200"/>
                </a:cubicBezTo>
                <a:cubicBezTo>
                  <a:pt x="17056"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1" name="TextBox 11"/>
          <p:cNvSpPr txBox="1"/>
          <p:nvPr/>
        </p:nvSpPr>
        <p:spPr>
          <a:xfrm>
            <a:off x="4321810" y="1897390"/>
            <a:ext cx="3173067" cy="1003300"/>
          </a:xfrm>
          <a:prstGeom prst="rect">
            <a:avLst/>
          </a:prstGeom>
          <a:noFill/>
        </p:spPr>
        <p:txBody>
          <a:bodyPr wrap="none" lIns="0" tIns="0" rIns="0" bIns="0" rtlCol="0">
            <a:spAutoFit/>
          </a:bodyPr>
          <a:lstStyle/>
          <a:p>
            <a:pPr>
              <a:lnSpc>
                <a:spcPts val="3600"/>
              </a:lnSpc>
              <a:spcBef>
                <a:spcPts val="0"/>
              </a:spcBef>
            </a:pPr>
            <a:r>
              <a:rPr lang="en-US" altLang="zh-CN" sz="3602" b="1" i="0" dirty="0">
                <a:solidFill>
                  <a:srgbClr val="5C5C5F"/>
                </a:solidFill>
                <a:latin typeface="6 Bold" pitchFamily="18" charset="0"/>
                <a:cs typeface="6 Bold" pitchFamily="18" charset="0"/>
              </a:rPr>
              <a:t>Performance </a:t>
            </a:r>
          </a:p>
          <a:p>
            <a:pPr marL="560832">
              <a:lnSpc>
                <a:spcPts val="4300"/>
              </a:lnSpc>
              <a:spcBef>
                <a:spcPts val="0"/>
              </a:spcBef>
            </a:pPr>
            <a:r>
              <a:rPr lang="en-US" altLang="zh-CN" sz="3600" b="1" i="0" dirty="0">
                <a:solidFill>
                  <a:srgbClr val="5C5C5F"/>
                </a:solidFill>
                <a:latin typeface="6 Bold" pitchFamily="18" charset="0"/>
                <a:cs typeface="6 Bold" pitchFamily="18" charset="0"/>
              </a:rPr>
              <a:t>Analysis</a:t>
            </a:r>
          </a:p>
        </p:txBody>
      </p:sp>
      <p:sp>
        <p:nvSpPr>
          <p:cNvPr id="12" name="TextBox 12"/>
          <p:cNvSpPr txBox="1"/>
          <p:nvPr/>
        </p:nvSpPr>
        <p:spPr>
          <a:xfrm>
            <a:off x="2115312" y="1940941"/>
            <a:ext cx="1004062" cy="762000"/>
          </a:xfrm>
          <a:prstGeom prst="rect">
            <a:avLst/>
          </a:prstGeom>
          <a:noFill/>
        </p:spPr>
        <p:txBody>
          <a:bodyPr wrap="none" lIns="0" tIns="0" rIns="0" bIns="0" rtlCol="0">
            <a:spAutoFit/>
          </a:bodyPr>
          <a:lstStyle/>
          <a:p>
            <a:pPr>
              <a:lnSpc>
                <a:spcPts val="6000"/>
              </a:lnSpc>
              <a:spcBef>
                <a:spcPts val="0"/>
              </a:spcBef>
            </a:pPr>
            <a:r>
              <a:rPr lang="en-US" altLang="zh-CN" sz="6000" b="1" i="0" dirty="0">
                <a:solidFill>
                  <a:srgbClr val="85789C"/>
                </a:solidFill>
                <a:latin typeface="6 Bold" pitchFamily="18" charset="0"/>
                <a:cs typeface="6 Bold" pitchFamily="18" charset="0"/>
              </a:rPr>
              <a:t>03</a:t>
            </a:r>
          </a:p>
        </p:txBody>
      </p:sp>
      <p:sp>
        <p:nvSpPr>
          <p:cNvPr id="13" name="TextBox 13"/>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10</a:t>
            </a:r>
          </a:p>
        </p:txBody>
      </p:sp>
      <p:sp>
        <p:nvSpPr>
          <p:cNvPr id="14" name="Freeform 14"/>
          <p:cNvSpPr/>
          <p:nvPr/>
        </p:nvSpPr>
        <p:spPr>
          <a:xfrm>
            <a:off x="1562481" y="2872486"/>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8100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8100"/>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1562481" y="1676273"/>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7973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7973"/>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3244850" y="2217928"/>
            <a:ext cx="239395" cy="239395"/>
          </a:xfrm>
          <a:custGeom>
            <a:avLst/>
            <a:gdLst>
              <a:gd name="connsiteX0" fmla="*/ 0 w 239395"/>
              <a:gd name="connsiteY0" fmla="*/ 119761 h 239395"/>
              <a:gd name="connsiteX1" fmla="*/ 92964 w 239395"/>
              <a:gd name="connsiteY1" fmla="*/ 93091 h 239395"/>
              <a:gd name="connsiteX2" fmla="*/ 119634 w 239395"/>
              <a:gd name="connsiteY2" fmla="*/ 0 h 239395"/>
              <a:gd name="connsiteX3" fmla="*/ 146304 w 239395"/>
              <a:gd name="connsiteY3" fmla="*/ 93091 h 239395"/>
              <a:gd name="connsiteX4" fmla="*/ 239395 w 239395"/>
              <a:gd name="connsiteY4" fmla="*/ 119761 h 239395"/>
              <a:gd name="connsiteX5" fmla="*/ 146304 w 239395"/>
              <a:gd name="connsiteY5" fmla="*/ 146304 h 239395"/>
              <a:gd name="connsiteX6" fmla="*/ 119634 w 239395"/>
              <a:gd name="connsiteY6" fmla="*/ 239395 h 239395"/>
              <a:gd name="connsiteX7" fmla="*/ 92964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2964" y="93091"/>
                </a:lnTo>
                <a:lnTo>
                  <a:pt x="119634" y="0"/>
                </a:lnTo>
                <a:lnTo>
                  <a:pt x="146304" y="93091"/>
                </a:lnTo>
                <a:lnTo>
                  <a:pt x="239395" y="119761"/>
                </a:lnTo>
                <a:lnTo>
                  <a:pt x="146304" y="146304"/>
                </a:lnTo>
                <a:lnTo>
                  <a:pt x="119634" y="239395"/>
                </a:lnTo>
                <a:lnTo>
                  <a:pt x="92964"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7280529" y="2217928"/>
            <a:ext cx="239395" cy="239395"/>
          </a:xfrm>
          <a:custGeom>
            <a:avLst/>
            <a:gdLst>
              <a:gd name="connsiteX0" fmla="*/ 0 w 239395"/>
              <a:gd name="connsiteY0" fmla="*/ 119761 h 239395"/>
              <a:gd name="connsiteX1" fmla="*/ 93090 w 239395"/>
              <a:gd name="connsiteY1" fmla="*/ 93091 h 239395"/>
              <a:gd name="connsiteX2" fmla="*/ 119634 w 239395"/>
              <a:gd name="connsiteY2" fmla="*/ 0 h 239395"/>
              <a:gd name="connsiteX3" fmla="*/ 146303 w 239395"/>
              <a:gd name="connsiteY3" fmla="*/ 93091 h 239395"/>
              <a:gd name="connsiteX4" fmla="*/ 239395 w 239395"/>
              <a:gd name="connsiteY4" fmla="*/ 119761 h 239395"/>
              <a:gd name="connsiteX5" fmla="*/ 146303 w 239395"/>
              <a:gd name="connsiteY5" fmla="*/ 146304 h 239395"/>
              <a:gd name="connsiteX6" fmla="*/ 119634 w 239395"/>
              <a:gd name="connsiteY6" fmla="*/ 239395 h 239395"/>
              <a:gd name="connsiteX7" fmla="*/ 93090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3090" y="93091"/>
                </a:lnTo>
                <a:lnTo>
                  <a:pt x="119634" y="0"/>
                </a:lnTo>
                <a:lnTo>
                  <a:pt x="146303" y="93091"/>
                </a:lnTo>
                <a:lnTo>
                  <a:pt x="239395" y="119761"/>
                </a:lnTo>
                <a:lnTo>
                  <a:pt x="146303" y="146304"/>
                </a:lnTo>
                <a:lnTo>
                  <a:pt x="119634" y="239395"/>
                </a:lnTo>
                <a:lnTo>
                  <a:pt x="93090"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11</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549902" y="767715"/>
            <a:ext cx="76200" cy="3774821"/>
          </a:xfrm>
          <a:custGeom>
            <a:avLst/>
            <a:gdLst>
              <a:gd name="connsiteX0" fmla="*/ 47625 w 76200"/>
              <a:gd name="connsiteY0" fmla="*/ 38100 h 3774821"/>
              <a:gd name="connsiteX1" fmla="*/ 47625 w 76200"/>
              <a:gd name="connsiteY1" fmla="*/ 3736721 h 3774821"/>
              <a:gd name="connsiteX2" fmla="*/ 28575 w 76200"/>
              <a:gd name="connsiteY2" fmla="*/ 3736721 h 3774821"/>
              <a:gd name="connsiteX3" fmla="*/ 28575 w 76200"/>
              <a:gd name="connsiteY3" fmla="*/ 38100 h 3774821"/>
              <a:gd name="connsiteX5" fmla="*/ 0 w 76200"/>
              <a:gd name="connsiteY5" fmla="*/ 38100 h 3774821"/>
              <a:gd name="connsiteX6" fmla="*/ 38100 w 76200"/>
              <a:gd name="connsiteY6" fmla="*/ 0 h 3774821"/>
              <a:gd name="connsiteX7" fmla="*/ 76200 w 76200"/>
              <a:gd name="connsiteY7" fmla="*/ 38100 h 3774821"/>
              <a:gd name="connsiteX8" fmla="*/ 38100 w 76200"/>
              <a:gd name="connsiteY8" fmla="*/ 76200 h 3774821"/>
              <a:gd name="connsiteX9" fmla="*/ 0 w 76200"/>
              <a:gd name="connsiteY9" fmla="*/ 38100 h 3774821"/>
              <a:gd name="connsiteX11" fmla="*/ 76200 w 76200"/>
              <a:gd name="connsiteY11" fmla="*/ 3736721 h 3774821"/>
              <a:gd name="connsiteX12" fmla="*/ 38100 w 76200"/>
              <a:gd name="connsiteY12" fmla="*/ 3774821 h 3774821"/>
              <a:gd name="connsiteX13" fmla="*/ 0 w 76200"/>
              <a:gd name="connsiteY13" fmla="*/ 3736721 h 3774821"/>
              <a:gd name="connsiteX14" fmla="*/ 38100 w 76200"/>
              <a:gd name="connsiteY14" fmla="*/ 3698621 h 3774821"/>
              <a:gd name="connsiteX15" fmla="*/ 76200 w 76200"/>
              <a:gd name="connsiteY15" fmla="*/ 3736721 h 3774821"/>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21">
                <a:moveTo>
                  <a:pt x="47625" y="38100"/>
                </a:moveTo>
                <a:lnTo>
                  <a:pt x="47625" y="3736721"/>
                </a:lnTo>
                <a:lnTo>
                  <a:pt x="28575" y="3736721"/>
                </a:lnTo>
                <a:lnTo>
                  <a:pt x="28575" y="38100"/>
                </a:lnTo>
                <a:moveTo>
                  <a:pt x="0" y="38100"/>
                </a:moveTo>
                <a:cubicBezTo>
                  <a:pt x="0" y="17145"/>
                  <a:pt x="17018" y="0"/>
                  <a:pt x="38100" y="0"/>
                </a:cubicBezTo>
                <a:cubicBezTo>
                  <a:pt x="59182" y="0"/>
                  <a:pt x="76200" y="17145"/>
                  <a:pt x="76200" y="38100"/>
                </a:cubicBezTo>
                <a:cubicBezTo>
                  <a:pt x="76200" y="59182"/>
                  <a:pt x="59182" y="76200"/>
                  <a:pt x="38100" y="76200"/>
                </a:cubicBezTo>
                <a:cubicBezTo>
                  <a:pt x="17018" y="76200"/>
                  <a:pt x="0" y="59182"/>
                  <a:pt x="0" y="38100"/>
                </a:cubicBezTo>
                <a:moveTo>
                  <a:pt x="76200" y="3736721"/>
                </a:moveTo>
                <a:cubicBezTo>
                  <a:pt x="76200" y="3757765"/>
                  <a:pt x="59182" y="3774821"/>
                  <a:pt x="38100" y="3774821"/>
                </a:cubicBezTo>
                <a:cubicBezTo>
                  <a:pt x="17018" y="3774821"/>
                  <a:pt x="0" y="3757765"/>
                  <a:pt x="0" y="3736721"/>
                </a:cubicBezTo>
                <a:cubicBezTo>
                  <a:pt x="0" y="3715677"/>
                  <a:pt x="17018" y="3698621"/>
                  <a:pt x="38100" y="3698621"/>
                </a:cubicBezTo>
                <a:cubicBezTo>
                  <a:pt x="59182" y="3698621"/>
                  <a:pt x="76200" y="3715677"/>
                  <a:pt x="76200" y="3736721"/>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30073" y="411226"/>
            <a:ext cx="2928417"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1. How many employees have left the </a:t>
            </a:r>
          </a:p>
          <a:p>
            <a:pPr>
              <a:lnSpc>
                <a:spcPts val="1400"/>
              </a:lnSpc>
              <a:spcBef>
                <a:spcPts val="0"/>
              </a:spcBef>
            </a:pPr>
            <a:r>
              <a:rPr lang="en-US" altLang="zh-CN" sz="1200" b="1" i="0" dirty="0">
                <a:solidFill>
                  <a:srgbClr val="5C5C5F"/>
                </a:solidFill>
                <a:latin typeface="6 Bold" pitchFamily="18" charset="0"/>
                <a:cs typeface="6 Bold" pitchFamily="18" charset="0"/>
              </a:rPr>
              <a:t>company?</a:t>
            </a:r>
          </a:p>
        </p:txBody>
      </p:sp>
      <p:pic>
        <p:nvPicPr>
          <p:cNvPr id="25" name="Picture 25"/>
          <p:cNvPicPr>
            <a:picLocks/>
          </p:cNvPicPr>
          <p:nvPr/>
        </p:nvPicPr>
        <p:blipFill>
          <a:blip r:embed="rId2" cstate="print"/>
          <a:srcRect/>
          <a:stretch>
            <a:fillRect/>
          </a:stretch>
        </p:blipFill>
        <p:spPr bwMode="auto">
          <a:xfrm>
            <a:off x="319519" y="843941"/>
            <a:ext cx="3978148" cy="3342386"/>
          </a:xfrm>
          <a:prstGeom prst="rect">
            <a:avLst/>
          </a:prstGeom>
          <a:noFill/>
        </p:spPr>
      </p:pic>
      <p:sp>
        <p:nvSpPr>
          <p:cNvPr id="26" name="TextBox 26"/>
          <p:cNvSpPr txBox="1"/>
          <p:nvPr/>
        </p:nvSpPr>
        <p:spPr>
          <a:xfrm>
            <a:off x="4883785" y="1189868"/>
            <a:ext cx="743153"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Findings</a:t>
            </a:r>
          </a:p>
        </p:txBody>
      </p:sp>
      <p:sp>
        <p:nvSpPr>
          <p:cNvPr id="27" name="Freeform 27"/>
          <p:cNvSpPr/>
          <p:nvPr/>
        </p:nvSpPr>
        <p:spPr>
          <a:xfrm>
            <a:off x="4883150" y="1325118"/>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8" name="TextBox 28"/>
          <p:cNvSpPr txBox="1"/>
          <p:nvPr/>
        </p:nvSpPr>
        <p:spPr>
          <a:xfrm>
            <a:off x="4883785" y="1398525"/>
            <a:ext cx="3588765" cy="1524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28 out of 60 employees have left the company</a:t>
            </a:r>
          </a:p>
        </p:txBody>
      </p:sp>
      <p:sp>
        <p:nvSpPr>
          <p:cNvPr id="29" name="TextBox 29"/>
          <p:cNvSpPr txBox="1"/>
          <p:nvPr/>
        </p:nvSpPr>
        <p:spPr>
          <a:xfrm>
            <a:off x="4828032" y="2389765"/>
            <a:ext cx="2303729"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0" name="Freeform 30"/>
          <p:cNvSpPr/>
          <p:nvPr/>
        </p:nvSpPr>
        <p:spPr>
          <a:xfrm>
            <a:off x="4827397" y="2524887"/>
            <a:ext cx="2176272" cy="6096"/>
          </a:xfrm>
          <a:custGeom>
            <a:avLst/>
            <a:gdLst>
              <a:gd name="connsiteX0" fmla="*/ 0 w 2176272"/>
              <a:gd name="connsiteY0" fmla="*/ 0 h 6096"/>
              <a:gd name="connsiteX1" fmla="*/ 725424 w 2176272"/>
              <a:gd name="connsiteY1" fmla="*/ 0 h 6096"/>
              <a:gd name="connsiteX2" fmla="*/ 1450848 w 2176272"/>
              <a:gd name="connsiteY2" fmla="*/ 0 h 6096"/>
              <a:gd name="connsiteX3" fmla="*/ 2176272 w 2176272"/>
              <a:gd name="connsiteY3" fmla="*/ 0 h 6096"/>
              <a:gd name="connsiteX4" fmla="*/ 2176272 w 2176272"/>
              <a:gd name="connsiteY4" fmla="*/ 6096 h 6096"/>
              <a:gd name="connsiteX5" fmla="*/ 1450848 w 2176272"/>
              <a:gd name="connsiteY5" fmla="*/ 6096 h 6096"/>
              <a:gd name="connsiteX6" fmla="*/ 725424 w 2176272"/>
              <a:gd name="connsiteY6" fmla="*/ 6096 h 6096"/>
              <a:gd name="connsiteX7" fmla="*/ 0 w 2176272"/>
              <a:gd name="connsiteY7"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176272" h="6096">
                <a:moveTo>
                  <a:pt x="0" y="0"/>
                </a:moveTo>
                <a:lnTo>
                  <a:pt x="725424" y="0"/>
                </a:lnTo>
                <a:lnTo>
                  <a:pt x="1450848" y="0"/>
                </a:lnTo>
                <a:lnTo>
                  <a:pt x="2176272" y="0"/>
                </a:lnTo>
                <a:lnTo>
                  <a:pt x="2176272" y="6096"/>
                </a:lnTo>
                <a:lnTo>
                  <a:pt x="1450848" y="6096"/>
                </a:lnTo>
                <a:lnTo>
                  <a:pt x="725424"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1" name="TextBox 31"/>
          <p:cNvSpPr txBox="1"/>
          <p:nvPr/>
        </p:nvSpPr>
        <p:spPr>
          <a:xfrm>
            <a:off x="4828032" y="2598174"/>
            <a:ext cx="4059760" cy="1778000"/>
          </a:xfrm>
          <a:prstGeom prst="rect">
            <a:avLst/>
          </a:prstGeom>
          <a:noFill/>
        </p:spPr>
        <p:txBody>
          <a:bodyPr wrap="none" lIns="0" tIns="0" rIns="0" bIns="0" rtlCol="0">
            <a:spAutoFit/>
          </a:bodyPr>
          <a:lstStyle/>
          <a:p>
            <a:pPr>
              <a:lnSpc>
                <a:spcPts val="12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5C5C5F"/>
                </a:solidFill>
                <a:latin typeface="2 Bold" pitchFamily="18" charset="0"/>
                <a:cs typeface="2 Bold" pitchFamily="18" charset="0"/>
              </a:rPr>
              <a:t>   Root cause analysis i.e conduct exit/stay interviews </a:t>
            </a:r>
          </a:p>
          <a:p>
            <a:pPr marL="172212">
              <a:lnSpc>
                <a:spcPts val="1600"/>
              </a:lnSpc>
              <a:spcBef>
                <a:spcPts val="0"/>
              </a:spcBef>
            </a:pPr>
            <a:r>
              <a:rPr lang="en-US" altLang="zh-CN" sz="1200" b="1" i="0" dirty="0">
                <a:solidFill>
                  <a:srgbClr val="5C5C5F"/>
                </a:solidFill>
                <a:latin typeface="2 Bold" pitchFamily="18" charset="0"/>
                <a:cs typeface="2 Bold" pitchFamily="18" charset="0"/>
              </a:rPr>
              <a:t>and surveys, etc</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Targeted retention strategies in low turnover </a:t>
            </a:r>
          </a:p>
          <a:p>
            <a:pPr marL="172212">
              <a:lnSpc>
                <a:spcPts val="1600"/>
              </a:lnSpc>
              <a:spcBef>
                <a:spcPts val="0"/>
              </a:spcBef>
            </a:pPr>
            <a:r>
              <a:rPr lang="en-US" altLang="zh-CN" sz="1200" b="1" i="0" dirty="0">
                <a:solidFill>
                  <a:srgbClr val="5C5C5F"/>
                </a:solidFill>
                <a:latin typeface="2 Bold" pitchFamily="18" charset="0"/>
                <a:cs typeface="2 Bold" pitchFamily="18" charset="0"/>
              </a:rPr>
              <a:t>departments i.e career pathing, competitive </a:t>
            </a:r>
          </a:p>
          <a:p>
            <a:pPr marL="172212">
              <a:lnSpc>
                <a:spcPts val="1600"/>
              </a:lnSpc>
              <a:spcBef>
                <a:spcPts val="0"/>
              </a:spcBef>
            </a:pPr>
            <a:r>
              <a:rPr lang="en-US" altLang="zh-CN" sz="1200" b="1" i="0" dirty="0">
                <a:solidFill>
                  <a:srgbClr val="5C5C5F"/>
                </a:solidFill>
                <a:latin typeface="2 Bold" pitchFamily="18" charset="0"/>
                <a:cs typeface="2 Bold" pitchFamily="18" charset="0"/>
              </a:rPr>
              <a:t>compensation, improved work-life balance and </a:t>
            </a:r>
          </a:p>
          <a:p>
            <a:pPr marL="172212">
              <a:lnSpc>
                <a:spcPts val="1600"/>
              </a:lnSpc>
              <a:spcBef>
                <a:spcPts val="0"/>
              </a:spcBef>
            </a:pPr>
            <a:r>
              <a:rPr lang="en-US" altLang="zh-CN" sz="1200" b="1" i="0" dirty="0">
                <a:solidFill>
                  <a:srgbClr val="5C5C5F"/>
                </a:solidFill>
                <a:latin typeface="2 Bold" pitchFamily="18" charset="0"/>
                <a:cs typeface="2 Bold" pitchFamily="18" charset="0"/>
              </a:rPr>
              <a:t>recognition programs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Conduct comprehensive stay interviews to </a:t>
            </a:r>
          </a:p>
          <a:p>
            <a:pPr marL="172212">
              <a:lnSpc>
                <a:spcPts val="1600"/>
              </a:lnSpc>
              <a:spcBef>
                <a:spcPts val="0"/>
              </a:spcBef>
            </a:pPr>
            <a:r>
              <a:rPr lang="en-US" altLang="zh-CN" sz="1200" b="1" i="0" dirty="0">
                <a:solidFill>
                  <a:srgbClr val="5C5C5F"/>
                </a:solidFill>
                <a:latin typeface="2 Bold" pitchFamily="18" charset="0"/>
                <a:cs typeface="2 Bold" pitchFamily="18" charset="0"/>
              </a:rPr>
              <a:t>determine key drivers for loyalty to replicate across </a:t>
            </a:r>
          </a:p>
          <a:p>
            <a:pPr marL="172212">
              <a:lnSpc>
                <a:spcPts val="1600"/>
              </a:lnSpc>
              <a:spcBef>
                <a:spcPts val="0"/>
              </a:spcBef>
            </a:pPr>
            <a:r>
              <a:rPr lang="en-US" altLang="zh-CN" sz="1200" b="1" i="0" dirty="0">
                <a:solidFill>
                  <a:srgbClr val="5C5C5F"/>
                </a:solidFill>
                <a:latin typeface="2 Bold" pitchFamily="18" charset="0"/>
                <a:cs typeface="2 Bold" pitchFamily="18" charset="0"/>
              </a:rPr>
              <a:t>the organisation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12</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052189" y="866140"/>
            <a:ext cx="76200" cy="3774834"/>
          </a:xfrm>
          <a:custGeom>
            <a:avLst/>
            <a:gdLst>
              <a:gd name="connsiteX0" fmla="*/ 47625 w 76200"/>
              <a:gd name="connsiteY0" fmla="*/ 38100 h 3774834"/>
              <a:gd name="connsiteX1" fmla="*/ 47625 w 76200"/>
              <a:gd name="connsiteY1" fmla="*/ 3736734 h 3774834"/>
              <a:gd name="connsiteX2" fmla="*/ 28575 w 76200"/>
              <a:gd name="connsiteY2" fmla="*/ 3736734 h 3774834"/>
              <a:gd name="connsiteX3" fmla="*/ 28575 w 76200"/>
              <a:gd name="connsiteY3" fmla="*/ 38100 h 3774834"/>
              <a:gd name="connsiteX5" fmla="*/ 0 w 76200"/>
              <a:gd name="connsiteY5" fmla="*/ 38100 h 3774834"/>
              <a:gd name="connsiteX6" fmla="*/ 38100 w 76200"/>
              <a:gd name="connsiteY6" fmla="*/ 0 h 3774834"/>
              <a:gd name="connsiteX7" fmla="*/ 76200 w 76200"/>
              <a:gd name="connsiteY7" fmla="*/ 38100 h 3774834"/>
              <a:gd name="connsiteX8" fmla="*/ 38100 w 76200"/>
              <a:gd name="connsiteY8" fmla="*/ 76200 h 3774834"/>
              <a:gd name="connsiteX9" fmla="*/ 0 w 76200"/>
              <a:gd name="connsiteY9" fmla="*/ 38100 h 3774834"/>
              <a:gd name="connsiteX11" fmla="*/ 76200 w 76200"/>
              <a:gd name="connsiteY11" fmla="*/ 3736734 h 3774834"/>
              <a:gd name="connsiteX12" fmla="*/ 38100 w 76200"/>
              <a:gd name="connsiteY12" fmla="*/ 3774834 h 3774834"/>
              <a:gd name="connsiteX13" fmla="*/ 0 w 76200"/>
              <a:gd name="connsiteY13" fmla="*/ 3736734 h 3774834"/>
              <a:gd name="connsiteX14" fmla="*/ 38100 w 76200"/>
              <a:gd name="connsiteY14" fmla="*/ 3698634 h 3774834"/>
              <a:gd name="connsiteX15" fmla="*/ 76200 w 76200"/>
              <a:gd name="connsiteY15" fmla="*/ 3736734 h 377483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34">
                <a:moveTo>
                  <a:pt x="47625" y="38100"/>
                </a:moveTo>
                <a:lnTo>
                  <a:pt x="47625" y="3736734"/>
                </a:lnTo>
                <a:lnTo>
                  <a:pt x="28575" y="3736734"/>
                </a:lnTo>
                <a:lnTo>
                  <a:pt x="28575" y="38100"/>
                </a:lnTo>
                <a:moveTo>
                  <a:pt x="0" y="38100"/>
                </a:moveTo>
                <a:cubicBezTo>
                  <a:pt x="0" y="17145"/>
                  <a:pt x="17018" y="0"/>
                  <a:pt x="38100" y="0"/>
                </a:cubicBezTo>
                <a:cubicBezTo>
                  <a:pt x="59182" y="0"/>
                  <a:pt x="76200" y="17145"/>
                  <a:pt x="76200" y="38100"/>
                </a:cubicBezTo>
                <a:cubicBezTo>
                  <a:pt x="76200" y="59182"/>
                  <a:pt x="59182" y="76200"/>
                  <a:pt x="38100" y="76200"/>
                </a:cubicBezTo>
                <a:cubicBezTo>
                  <a:pt x="17018" y="76200"/>
                  <a:pt x="0" y="59182"/>
                  <a:pt x="0" y="38100"/>
                </a:cubicBezTo>
                <a:moveTo>
                  <a:pt x="76200" y="3736734"/>
                </a:moveTo>
                <a:cubicBezTo>
                  <a:pt x="76200" y="3757778"/>
                  <a:pt x="59182" y="3774834"/>
                  <a:pt x="38100" y="3774834"/>
                </a:cubicBezTo>
                <a:cubicBezTo>
                  <a:pt x="17018" y="3774834"/>
                  <a:pt x="0" y="3757778"/>
                  <a:pt x="0" y="3736734"/>
                </a:cubicBezTo>
                <a:cubicBezTo>
                  <a:pt x="0" y="3715689"/>
                  <a:pt x="17018" y="3698634"/>
                  <a:pt x="38100" y="3698634"/>
                </a:cubicBezTo>
                <a:cubicBezTo>
                  <a:pt x="59182" y="3698634"/>
                  <a:pt x="76200" y="3715689"/>
                  <a:pt x="76200" y="3736734"/>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30073" y="411226"/>
            <a:ext cx="3525825"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2. How many employees have a performance </a:t>
            </a:r>
          </a:p>
          <a:p>
            <a:pPr>
              <a:lnSpc>
                <a:spcPts val="1400"/>
              </a:lnSpc>
              <a:spcBef>
                <a:spcPts val="0"/>
              </a:spcBef>
            </a:pPr>
            <a:r>
              <a:rPr lang="en-US" altLang="zh-CN" sz="1200" b="1" i="0" dirty="0">
                <a:solidFill>
                  <a:srgbClr val="5C5C5F"/>
                </a:solidFill>
                <a:latin typeface="6 Bold" pitchFamily="18" charset="0"/>
                <a:cs typeface="6 Bold" pitchFamily="18" charset="0"/>
              </a:rPr>
              <a:t>score of 5.0/ below 3.5?</a:t>
            </a:r>
          </a:p>
        </p:txBody>
      </p:sp>
      <p:sp>
        <p:nvSpPr>
          <p:cNvPr id="25" name="TextBox 25"/>
          <p:cNvSpPr txBox="1"/>
          <p:nvPr/>
        </p:nvSpPr>
        <p:spPr>
          <a:xfrm>
            <a:off x="4444238" y="1189868"/>
            <a:ext cx="743153"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Findings</a:t>
            </a:r>
          </a:p>
        </p:txBody>
      </p:sp>
      <p:sp>
        <p:nvSpPr>
          <p:cNvPr id="26" name="Freeform 26"/>
          <p:cNvSpPr/>
          <p:nvPr/>
        </p:nvSpPr>
        <p:spPr>
          <a:xfrm>
            <a:off x="4443730" y="1325118"/>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7" name="TextBox 27"/>
          <p:cNvSpPr txBox="1"/>
          <p:nvPr/>
        </p:nvSpPr>
        <p:spPr>
          <a:xfrm>
            <a:off x="4444238" y="1398525"/>
            <a:ext cx="3526478" cy="707501"/>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Total of </a:t>
            </a:r>
            <a:r>
              <a:rPr lang="en-US" altLang="zh-CN" sz="1200" b="1" dirty="0">
                <a:solidFill>
                  <a:srgbClr val="000000"/>
                </a:solidFill>
                <a:latin typeface="2 Bold" pitchFamily="18" charset="0"/>
                <a:cs typeface="2 Bold" pitchFamily="18" charset="0"/>
              </a:rPr>
              <a:t>7</a:t>
            </a:r>
            <a:r>
              <a:rPr lang="en-US" altLang="zh-CN" sz="1200" b="1" i="0" dirty="0">
                <a:solidFill>
                  <a:srgbClr val="000000"/>
                </a:solidFill>
                <a:latin typeface="2 Bold" pitchFamily="18" charset="0"/>
                <a:cs typeface="2 Bold" pitchFamily="18" charset="0"/>
              </a:rPr>
              <a:t> employees have a performance score of 5.0</a:t>
            </a:r>
          </a:p>
          <a:p>
            <a:pPr>
              <a:lnSpc>
                <a:spcPts val="1200"/>
              </a:lnSpc>
              <a:spcBef>
                <a:spcPts val="0"/>
              </a:spcBef>
            </a:pPr>
            <a:endParaRPr lang="en-US" altLang="zh-CN" sz="1200" b="1" i="0" dirty="0">
              <a:solidFill>
                <a:srgbClr val="000000"/>
              </a:solidFill>
              <a:latin typeface="2 Bold" pitchFamily="18" charset="0"/>
              <a:cs typeface="2 Bold" pitchFamily="18" charset="0"/>
            </a:endParaRPr>
          </a:p>
          <a:p>
            <a:pPr>
              <a:lnSpc>
                <a:spcPts val="1600"/>
              </a:lnSpc>
            </a:pPr>
            <a:r>
              <a:rPr lang="en-US" altLang="zh-CN" sz="1200" b="0" i="0" dirty="0">
                <a:solidFill>
                  <a:srgbClr val="000000"/>
                </a:solidFill>
                <a:latin typeface="Arial" pitchFamily="18" charset="0"/>
                <a:cs typeface="Arial" pitchFamily="18" charset="0"/>
              </a:rPr>
              <a:t>• </a:t>
            </a:r>
            <a:r>
              <a:rPr lang="en-US" altLang="zh-CN" sz="1200" b="1" i="0" dirty="0">
                <a:solidFill>
                  <a:srgbClr val="000000"/>
                </a:solidFill>
                <a:latin typeface="2 Bold"/>
                <a:cs typeface="Arial" pitchFamily="18" charset="0"/>
              </a:rPr>
              <a:t>Total of</a:t>
            </a:r>
            <a:r>
              <a:rPr lang="en-US" altLang="zh-CN" sz="1200" b="1" dirty="0">
                <a:solidFill>
                  <a:srgbClr val="000000"/>
                </a:solidFill>
                <a:latin typeface="2 Bold"/>
                <a:cs typeface="2 Bold" pitchFamily="18" charset="0"/>
              </a:rPr>
              <a:t> 71 </a:t>
            </a:r>
            <a:r>
              <a:rPr lang="en-US" altLang="zh-CN" sz="1200" b="1" dirty="0">
                <a:solidFill>
                  <a:srgbClr val="000000"/>
                </a:solidFill>
                <a:latin typeface="2 Bold" pitchFamily="18" charset="0"/>
                <a:cs typeface="2 Bold" pitchFamily="18" charset="0"/>
              </a:rPr>
              <a:t>employees with score below 3.5</a:t>
            </a:r>
          </a:p>
          <a:p>
            <a:pPr>
              <a:lnSpc>
                <a:spcPts val="1600"/>
              </a:lnSpc>
              <a:spcBef>
                <a:spcPts val="0"/>
              </a:spcBef>
            </a:pPr>
            <a:endParaRPr lang="en-US" altLang="zh-CN" sz="1200" b="1" i="0" dirty="0">
              <a:solidFill>
                <a:srgbClr val="000000"/>
              </a:solidFill>
              <a:latin typeface="2 Bold" pitchFamily="18" charset="0"/>
              <a:cs typeface="2 Bold" pitchFamily="18" charset="0"/>
            </a:endParaRPr>
          </a:p>
        </p:txBody>
      </p:sp>
      <p:sp>
        <p:nvSpPr>
          <p:cNvPr id="29" name="TextBox 29"/>
          <p:cNvSpPr txBox="1"/>
          <p:nvPr/>
        </p:nvSpPr>
        <p:spPr>
          <a:xfrm>
            <a:off x="4293743" y="2319661"/>
            <a:ext cx="2303728"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0" name="Freeform 30"/>
          <p:cNvSpPr/>
          <p:nvPr/>
        </p:nvSpPr>
        <p:spPr>
          <a:xfrm>
            <a:off x="4292981" y="2454656"/>
            <a:ext cx="2176272" cy="6096"/>
          </a:xfrm>
          <a:custGeom>
            <a:avLst/>
            <a:gdLst>
              <a:gd name="connsiteX0" fmla="*/ 0 w 2176272"/>
              <a:gd name="connsiteY0" fmla="*/ 0 h 6096"/>
              <a:gd name="connsiteX1" fmla="*/ 1088136 w 2176272"/>
              <a:gd name="connsiteY1" fmla="*/ 0 h 6096"/>
              <a:gd name="connsiteX2" fmla="*/ 2176272 w 2176272"/>
              <a:gd name="connsiteY2" fmla="*/ 0 h 6096"/>
              <a:gd name="connsiteX3" fmla="*/ 2176272 w 2176272"/>
              <a:gd name="connsiteY3" fmla="*/ 6096 h 6096"/>
              <a:gd name="connsiteX4" fmla="*/ 1088136 w 2176272"/>
              <a:gd name="connsiteY4" fmla="*/ 6096 h 6096"/>
              <a:gd name="connsiteX5" fmla="*/ 0 w 2176272"/>
              <a:gd name="connsiteY5"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176272" h="6096">
                <a:moveTo>
                  <a:pt x="0" y="0"/>
                </a:moveTo>
                <a:lnTo>
                  <a:pt x="1088136" y="0"/>
                </a:lnTo>
                <a:lnTo>
                  <a:pt x="2176272" y="0"/>
                </a:lnTo>
                <a:lnTo>
                  <a:pt x="2176272" y="6096"/>
                </a:lnTo>
                <a:lnTo>
                  <a:pt x="1088136"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1" name="TextBox 31"/>
          <p:cNvSpPr txBox="1"/>
          <p:nvPr/>
        </p:nvSpPr>
        <p:spPr>
          <a:xfrm>
            <a:off x="4293743" y="2528317"/>
            <a:ext cx="4164457" cy="2656753"/>
          </a:xfrm>
          <a:prstGeom prst="rect">
            <a:avLst/>
          </a:prstGeom>
          <a:noFill/>
        </p:spPr>
        <p:txBody>
          <a:bodyPr wrap="square" lIns="0" tIns="0" rIns="0" bIns="0" rtlCol="0">
            <a:spAutoFit/>
          </a:bodyPr>
          <a:lstStyle/>
          <a:p>
            <a:pPr marL="171450" indent="-171450">
              <a:lnSpc>
                <a:spcPts val="1200"/>
              </a:lnSpc>
              <a:spcBef>
                <a:spcPts val="0"/>
              </a:spcBef>
              <a:buFont typeface="Arial" panose="020B0604020202020204" pitchFamily="34" charset="0"/>
              <a:buChar char="•"/>
            </a:pPr>
            <a:r>
              <a:rPr lang="en-US" sz="1200" b="1" dirty="0">
                <a:latin typeface="2 Bold"/>
              </a:rPr>
              <a:t>The number of employees with a perfect score (5.0) can        highlight top performers who may be candidates for promotion, special projects, or recognition programs.</a:t>
            </a:r>
          </a:p>
          <a:p>
            <a:pPr marL="171450" indent="-171450">
              <a:lnSpc>
                <a:spcPts val="1200"/>
              </a:lnSpc>
              <a:spcBef>
                <a:spcPts val="0"/>
              </a:spcBef>
              <a:buFont typeface="Arial" panose="020B0604020202020204" pitchFamily="34" charset="0"/>
              <a:buChar char="•"/>
            </a:pPr>
            <a:endParaRPr lang="en-US" altLang="zh-CN" sz="1200" b="1" i="0" dirty="0">
              <a:solidFill>
                <a:srgbClr val="5C5C5F"/>
              </a:solidFill>
              <a:latin typeface="2 Bold"/>
              <a:cs typeface="2 Bold" pitchFamily="18" charset="0"/>
            </a:endParaRPr>
          </a:p>
          <a:p>
            <a:pPr marL="171450" indent="-171450">
              <a:lnSpc>
                <a:spcPts val="1200"/>
              </a:lnSpc>
              <a:spcBef>
                <a:spcPts val="0"/>
              </a:spcBef>
              <a:buFont typeface="Arial" panose="020B0604020202020204" pitchFamily="34" charset="0"/>
              <a:buChar char="•"/>
            </a:pPr>
            <a:r>
              <a:rPr lang="en-US" sz="1200" b="1" dirty="0">
                <a:latin typeface="2 Bold"/>
              </a:rPr>
              <a:t>The number of employees with a low score (below 3.5) signals potential issues that need to be addressed. This could point to the need for targeted training, performance improvement plans, or further investigation into underlying challenges they might be facing.</a:t>
            </a:r>
            <a:endParaRPr lang="en-US" altLang="zh-CN" sz="1200" b="1" i="0" dirty="0">
              <a:solidFill>
                <a:srgbClr val="5C5C5F"/>
              </a:solidFill>
              <a:latin typeface="2 Bold"/>
              <a:cs typeface="2 Bold" pitchFamily="18" charset="0"/>
            </a:endParaRPr>
          </a:p>
          <a:p>
            <a:pPr>
              <a:lnSpc>
                <a:spcPts val="1200"/>
              </a:lnSpc>
              <a:spcBef>
                <a:spcPts val="0"/>
              </a:spcBef>
            </a:pPr>
            <a:endParaRPr lang="en-US" altLang="zh-CN" sz="1200" b="1" dirty="0">
              <a:solidFill>
                <a:srgbClr val="5C5C5F"/>
              </a:solidFill>
              <a:latin typeface="2 Bold" pitchFamily="18" charset="0"/>
              <a:cs typeface="2 Bold" pitchFamily="18" charset="0"/>
            </a:endParaRPr>
          </a:p>
          <a:p>
            <a:pPr>
              <a:lnSpc>
                <a:spcPts val="1200"/>
              </a:lnSpc>
              <a:spcBef>
                <a:spcPts val="0"/>
              </a:spcBef>
            </a:pPr>
            <a:endParaRPr lang="en-US" altLang="zh-CN" sz="1200" b="1" i="0" dirty="0">
              <a:solidFill>
                <a:srgbClr val="5C5C5F"/>
              </a:solidFill>
              <a:latin typeface="2 Bold" pitchFamily="18" charset="0"/>
              <a:cs typeface="2 Bold" pitchFamily="18" charset="0"/>
            </a:endParaRPr>
          </a:p>
          <a:p>
            <a:pPr>
              <a:lnSpc>
                <a:spcPts val="1200"/>
              </a:lnSpc>
              <a:spcBef>
                <a:spcPts val="0"/>
              </a:spcBef>
            </a:pPr>
            <a:endParaRPr lang="en-US" altLang="zh-CN" sz="1200" b="1" dirty="0">
              <a:solidFill>
                <a:srgbClr val="5C5C5F"/>
              </a:solidFill>
              <a:latin typeface="2 Bold" pitchFamily="18" charset="0"/>
              <a:cs typeface="2 Bold" pitchFamily="18" charset="0"/>
            </a:endParaRPr>
          </a:p>
          <a:p>
            <a:pPr marL="172212">
              <a:lnSpc>
                <a:spcPts val="1600"/>
              </a:lnSpc>
              <a:spcBef>
                <a:spcPts val="0"/>
              </a:spcBef>
            </a:pPr>
            <a:endParaRPr lang="en-US" altLang="zh-CN" sz="1200" b="1" dirty="0">
              <a:solidFill>
                <a:srgbClr val="5C5C5F"/>
              </a:solidFill>
              <a:latin typeface="2 Bold" pitchFamily="18" charset="0"/>
              <a:cs typeface="2 Bold" pitchFamily="18" charset="0"/>
            </a:endParaRPr>
          </a:p>
          <a:p>
            <a:pPr marL="172212">
              <a:lnSpc>
                <a:spcPts val="1600"/>
              </a:lnSpc>
              <a:spcBef>
                <a:spcPts val="0"/>
              </a:spcBef>
            </a:pPr>
            <a:endParaRPr lang="en-US" altLang="zh-CN" sz="1200" b="1" i="0" dirty="0">
              <a:solidFill>
                <a:srgbClr val="5C5C5F"/>
              </a:solidFill>
              <a:latin typeface="2 Bold" pitchFamily="18" charset="0"/>
              <a:cs typeface="2 Bold" pitchFamily="18" charset="0"/>
            </a:endParaRPr>
          </a:p>
          <a:p>
            <a:pPr marL="172212">
              <a:lnSpc>
                <a:spcPts val="1600"/>
              </a:lnSpc>
              <a:spcBef>
                <a:spcPts val="0"/>
              </a:spcBef>
            </a:pPr>
            <a:endParaRPr lang="en-US" altLang="zh-CN" sz="1200" b="1" dirty="0">
              <a:solidFill>
                <a:srgbClr val="5C5C5F"/>
              </a:solidFill>
              <a:latin typeface="2 Bold" pitchFamily="18" charset="0"/>
              <a:cs typeface="2 Bold" pitchFamily="18" charset="0"/>
            </a:endParaRPr>
          </a:p>
          <a:p>
            <a:pPr marL="172212">
              <a:lnSpc>
                <a:spcPts val="1600"/>
              </a:lnSpc>
              <a:spcBef>
                <a:spcPts val="0"/>
              </a:spcBef>
            </a:pPr>
            <a:endParaRPr lang="en-US" altLang="zh-CN" sz="1200" b="1" i="0" dirty="0">
              <a:solidFill>
                <a:srgbClr val="5C5C5F"/>
              </a:solidFill>
              <a:latin typeface="2 Bold" pitchFamily="18" charset="0"/>
              <a:cs typeface="2 Bold" pitchFamily="18" charset="0"/>
            </a:endParaRPr>
          </a:p>
        </p:txBody>
      </p:sp>
      <p:pic>
        <p:nvPicPr>
          <p:cNvPr id="33" name="Picture 32">
            <a:extLst>
              <a:ext uri="{FF2B5EF4-FFF2-40B4-BE49-F238E27FC236}">
                <a16:creationId xmlns:a16="http://schemas.microsoft.com/office/drawing/2014/main" id="{0192A62B-CBD3-7925-9EC6-3B259DF76DCF}"/>
              </a:ext>
            </a:extLst>
          </p:cNvPr>
          <p:cNvPicPr>
            <a:picLocks noChangeAspect="1"/>
          </p:cNvPicPr>
          <p:nvPr/>
        </p:nvPicPr>
        <p:blipFill>
          <a:blip r:embed="rId2"/>
          <a:stretch>
            <a:fillRect/>
          </a:stretch>
        </p:blipFill>
        <p:spPr>
          <a:xfrm>
            <a:off x="248852" y="796163"/>
            <a:ext cx="3707046" cy="37748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13</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046728" y="821944"/>
            <a:ext cx="76200" cy="3774846"/>
          </a:xfrm>
          <a:custGeom>
            <a:avLst/>
            <a:gdLst>
              <a:gd name="connsiteX0" fmla="*/ 47625 w 76200"/>
              <a:gd name="connsiteY0" fmla="*/ 38100 h 3774846"/>
              <a:gd name="connsiteX1" fmla="*/ 47625 w 76200"/>
              <a:gd name="connsiteY1" fmla="*/ 3736746 h 3774846"/>
              <a:gd name="connsiteX2" fmla="*/ 28575 w 76200"/>
              <a:gd name="connsiteY2" fmla="*/ 3736746 h 3774846"/>
              <a:gd name="connsiteX3" fmla="*/ 28575 w 76200"/>
              <a:gd name="connsiteY3" fmla="*/ 38100 h 3774846"/>
              <a:gd name="connsiteX5" fmla="*/ 0 w 76200"/>
              <a:gd name="connsiteY5" fmla="*/ 38100 h 3774846"/>
              <a:gd name="connsiteX6" fmla="*/ 38100 w 76200"/>
              <a:gd name="connsiteY6" fmla="*/ 0 h 3774846"/>
              <a:gd name="connsiteX7" fmla="*/ 76200 w 76200"/>
              <a:gd name="connsiteY7" fmla="*/ 38100 h 3774846"/>
              <a:gd name="connsiteX8" fmla="*/ 38100 w 76200"/>
              <a:gd name="connsiteY8" fmla="*/ 76200 h 3774846"/>
              <a:gd name="connsiteX9" fmla="*/ 0 w 76200"/>
              <a:gd name="connsiteY9" fmla="*/ 38100 h 3774846"/>
              <a:gd name="connsiteX11" fmla="*/ 76200 w 76200"/>
              <a:gd name="connsiteY11" fmla="*/ 3736746 h 3774846"/>
              <a:gd name="connsiteX12" fmla="*/ 38100 w 76200"/>
              <a:gd name="connsiteY12" fmla="*/ 3774846 h 3774846"/>
              <a:gd name="connsiteX13" fmla="*/ 0 w 76200"/>
              <a:gd name="connsiteY13" fmla="*/ 3736746 h 3774846"/>
              <a:gd name="connsiteX14" fmla="*/ 38100 w 76200"/>
              <a:gd name="connsiteY14" fmla="*/ 3698646 h 3774846"/>
              <a:gd name="connsiteX15" fmla="*/ 76200 w 76200"/>
              <a:gd name="connsiteY15" fmla="*/ 3736746 h 3774846"/>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46">
                <a:moveTo>
                  <a:pt x="47625" y="38100"/>
                </a:moveTo>
                <a:lnTo>
                  <a:pt x="47625" y="3736746"/>
                </a:lnTo>
                <a:lnTo>
                  <a:pt x="28575" y="3736746"/>
                </a:lnTo>
                <a:lnTo>
                  <a:pt x="28575" y="38100"/>
                </a:lnTo>
                <a:moveTo>
                  <a:pt x="0" y="38100"/>
                </a:moveTo>
                <a:cubicBezTo>
                  <a:pt x="0" y="17145"/>
                  <a:pt x="17018" y="0"/>
                  <a:pt x="38100" y="0"/>
                </a:cubicBezTo>
                <a:cubicBezTo>
                  <a:pt x="59182" y="0"/>
                  <a:pt x="76200" y="17145"/>
                  <a:pt x="76200" y="38100"/>
                </a:cubicBezTo>
                <a:cubicBezTo>
                  <a:pt x="76200" y="59182"/>
                  <a:pt x="59182" y="76200"/>
                  <a:pt x="38100" y="76200"/>
                </a:cubicBezTo>
                <a:cubicBezTo>
                  <a:pt x="17018" y="76200"/>
                  <a:pt x="0" y="59182"/>
                  <a:pt x="0" y="38100"/>
                </a:cubicBezTo>
                <a:moveTo>
                  <a:pt x="76200" y="3736746"/>
                </a:moveTo>
                <a:cubicBezTo>
                  <a:pt x="76200" y="3757790"/>
                  <a:pt x="59182" y="3774846"/>
                  <a:pt x="38100" y="3774846"/>
                </a:cubicBezTo>
                <a:cubicBezTo>
                  <a:pt x="17018" y="3774846"/>
                  <a:pt x="0" y="3757790"/>
                  <a:pt x="0" y="3736746"/>
                </a:cubicBezTo>
                <a:cubicBezTo>
                  <a:pt x="0" y="3715702"/>
                  <a:pt x="17018" y="3698646"/>
                  <a:pt x="38100" y="3698646"/>
                </a:cubicBezTo>
                <a:cubicBezTo>
                  <a:pt x="59182" y="3698646"/>
                  <a:pt x="76200" y="3715702"/>
                  <a:pt x="76200" y="3736746"/>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08737" y="381889"/>
            <a:ext cx="3622141"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3. Which department has the most employeess </a:t>
            </a:r>
          </a:p>
          <a:p>
            <a:pPr>
              <a:lnSpc>
                <a:spcPts val="1400"/>
              </a:lnSpc>
              <a:spcBef>
                <a:spcPts val="0"/>
              </a:spcBef>
            </a:pPr>
            <a:r>
              <a:rPr lang="en-US" altLang="zh-CN" sz="1200" b="1" i="0" dirty="0">
                <a:solidFill>
                  <a:srgbClr val="5C5C5F"/>
                </a:solidFill>
                <a:latin typeface="6 Bold" pitchFamily="18" charset="0"/>
                <a:cs typeface="6 Bold" pitchFamily="18" charset="0"/>
              </a:rPr>
              <a:t>with a performance of 5.0/ below 3.5?</a:t>
            </a:r>
          </a:p>
        </p:txBody>
      </p:sp>
      <p:sp>
        <p:nvSpPr>
          <p:cNvPr id="25" name="TextBox 25"/>
          <p:cNvSpPr txBox="1"/>
          <p:nvPr/>
        </p:nvSpPr>
        <p:spPr>
          <a:xfrm>
            <a:off x="4293743" y="812805"/>
            <a:ext cx="743153"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Findings</a:t>
            </a:r>
          </a:p>
        </p:txBody>
      </p:sp>
      <p:sp>
        <p:nvSpPr>
          <p:cNvPr id="26" name="Freeform 26"/>
          <p:cNvSpPr/>
          <p:nvPr/>
        </p:nvSpPr>
        <p:spPr>
          <a:xfrm>
            <a:off x="4292981" y="948309"/>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7" name="TextBox 27"/>
          <p:cNvSpPr txBox="1"/>
          <p:nvPr/>
        </p:nvSpPr>
        <p:spPr>
          <a:xfrm>
            <a:off x="4293743" y="1021215"/>
            <a:ext cx="4652099" cy="1371600"/>
          </a:xfrm>
          <a:prstGeom prst="rect">
            <a:avLst/>
          </a:prstGeom>
          <a:noFill/>
        </p:spPr>
        <p:txBody>
          <a:bodyPr wrap="none" lIns="0" tIns="0" rIns="0" bIns="0" rtlCol="0">
            <a:spAutoFit/>
          </a:bodyPr>
          <a:lstStyle/>
          <a:p>
            <a:pPr>
              <a:lnSpc>
                <a:spcPts val="12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000000"/>
                </a:solidFill>
                <a:latin typeface="2 Bold" pitchFamily="18" charset="0"/>
                <a:cs typeface="2 Bold" pitchFamily="18" charset="0"/>
              </a:rPr>
              <a:t>   Sales department has the highest number of employees </a:t>
            </a:r>
          </a:p>
          <a:p>
            <a:pPr marL="172212">
              <a:lnSpc>
                <a:spcPts val="1600"/>
              </a:lnSpc>
              <a:spcBef>
                <a:spcPts val="0"/>
              </a:spcBef>
            </a:pPr>
            <a:r>
              <a:rPr lang="en-US" altLang="zh-CN" sz="1200" b="1" i="0" dirty="0">
                <a:solidFill>
                  <a:srgbClr val="000000"/>
                </a:solidFill>
                <a:latin typeface="2 Bold" pitchFamily="18" charset="0"/>
                <a:cs typeface="2 Bold" pitchFamily="18" charset="0"/>
              </a:rPr>
              <a:t>scoring 5.0 at 6, and lowest number of employees below </a:t>
            </a:r>
          </a:p>
          <a:p>
            <a:pPr marL="172212">
              <a:lnSpc>
                <a:spcPts val="1600"/>
              </a:lnSpc>
              <a:spcBef>
                <a:spcPts val="0"/>
              </a:spcBef>
            </a:pPr>
            <a:r>
              <a:rPr lang="en-US" altLang="zh-CN" sz="1200" b="1" i="0" dirty="0">
                <a:solidFill>
                  <a:srgbClr val="000000"/>
                </a:solidFill>
                <a:latin typeface="2 Bold" pitchFamily="18" charset="0"/>
                <a:cs typeface="2 Bold" pitchFamily="18" charset="0"/>
              </a:rPr>
              <a:t>3.5, also at 6</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Marketing has 2 employees scoring 5.0, followed by HR </a:t>
            </a:r>
          </a:p>
          <a:p>
            <a:pPr marL="172212">
              <a:lnSpc>
                <a:spcPts val="1600"/>
              </a:lnSpc>
              <a:spcBef>
                <a:spcPts val="0"/>
              </a:spcBef>
            </a:pPr>
            <a:r>
              <a:rPr lang="en-US" altLang="zh-CN" sz="1200" b="1" i="0" dirty="0">
                <a:solidFill>
                  <a:srgbClr val="000000"/>
                </a:solidFill>
                <a:latin typeface="2 Bold" pitchFamily="18" charset="0"/>
                <a:cs typeface="2 Bold" pitchFamily="18" charset="0"/>
              </a:rPr>
              <a:t>with 1 employee </a:t>
            </a:r>
          </a:p>
          <a:p>
            <a:pPr>
              <a:lnSpc>
                <a:spcPts val="16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000000"/>
                </a:solidFill>
                <a:latin typeface="2 Bold" pitchFamily="18" charset="0"/>
                <a:cs typeface="2 Bold" pitchFamily="18" charset="0"/>
              </a:rPr>
              <a:t>   Most departments have no or few mid performers, implying </a:t>
            </a:r>
          </a:p>
          <a:p>
            <a:pPr marL="172212">
              <a:lnSpc>
                <a:spcPts val="1600"/>
              </a:lnSpc>
              <a:spcBef>
                <a:spcPts val="0"/>
              </a:spcBef>
            </a:pPr>
            <a:r>
              <a:rPr lang="en-US" altLang="zh-CN" sz="1200" b="1" i="0" dirty="0">
                <a:solidFill>
                  <a:srgbClr val="000000"/>
                </a:solidFill>
                <a:latin typeface="2 Bold" pitchFamily="18" charset="0"/>
                <a:cs typeface="2 Bold" pitchFamily="18" charset="0"/>
              </a:rPr>
              <a:t>a generally high-performing organization</a:t>
            </a:r>
          </a:p>
        </p:txBody>
      </p:sp>
      <p:sp>
        <p:nvSpPr>
          <p:cNvPr id="28" name="TextBox 28"/>
          <p:cNvSpPr txBox="1"/>
          <p:nvPr/>
        </p:nvSpPr>
        <p:spPr>
          <a:xfrm>
            <a:off x="4293743" y="2730633"/>
            <a:ext cx="2303728"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29" name="Freeform 29"/>
          <p:cNvSpPr/>
          <p:nvPr/>
        </p:nvSpPr>
        <p:spPr>
          <a:xfrm>
            <a:off x="4292981" y="2865501"/>
            <a:ext cx="2176272" cy="6096"/>
          </a:xfrm>
          <a:custGeom>
            <a:avLst/>
            <a:gdLst>
              <a:gd name="connsiteX0" fmla="*/ 0 w 2176272"/>
              <a:gd name="connsiteY0" fmla="*/ 0 h 6096"/>
              <a:gd name="connsiteX1" fmla="*/ 1088136 w 2176272"/>
              <a:gd name="connsiteY1" fmla="*/ 0 h 6096"/>
              <a:gd name="connsiteX2" fmla="*/ 2176272 w 2176272"/>
              <a:gd name="connsiteY2" fmla="*/ 0 h 6096"/>
              <a:gd name="connsiteX3" fmla="*/ 2176272 w 2176272"/>
              <a:gd name="connsiteY3" fmla="*/ 6096 h 6096"/>
              <a:gd name="connsiteX4" fmla="*/ 1088136 w 2176272"/>
              <a:gd name="connsiteY4" fmla="*/ 6096 h 6096"/>
              <a:gd name="connsiteX5" fmla="*/ 0 w 2176272"/>
              <a:gd name="connsiteY5"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176272" h="6096">
                <a:moveTo>
                  <a:pt x="0" y="0"/>
                </a:moveTo>
                <a:lnTo>
                  <a:pt x="1088136" y="0"/>
                </a:lnTo>
                <a:lnTo>
                  <a:pt x="2176272" y="0"/>
                </a:lnTo>
                <a:lnTo>
                  <a:pt x="2176272" y="6096"/>
                </a:lnTo>
                <a:lnTo>
                  <a:pt x="1088136"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0" name="TextBox 30"/>
          <p:cNvSpPr txBox="1"/>
          <p:nvPr/>
        </p:nvSpPr>
        <p:spPr>
          <a:xfrm>
            <a:off x="4293743" y="2939289"/>
            <a:ext cx="4337508" cy="13716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Conduct detailed employee interviews to determine the </a:t>
            </a:r>
          </a:p>
          <a:p>
            <a:pPr marL="172212">
              <a:lnSpc>
                <a:spcPts val="1600"/>
              </a:lnSpc>
              <a:spcBef>
                <a:spcPts val="0"/>
              </a:spcBef>
            </a:pPr>
            <a:r>
              <a:rPr lang="en-US" altLang="zh-CN" sz="1202" b="1" i="0" dirty="0">
                <a:solidFill>
                  <a:srgbClr val="5C5C5F"/>
                </a:solidFill>
                <a:latin typeface="2 Bold" pitchFamily="18" charset="0"/>
                <a:cs typeface="2 Bold" pitchFamily="18" charset="0"/>
              </a:rPr>
              <a:t>root cause of high mid performers in sales department</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Immediate intervention is needed on employees in the </a:t>
            </a:r>
          </a:p>
          <a:p>
            <a:pPr marL="172212">
              <a:lnSpc>
                <a:spcPts val="1600"/>
              </a:lnSpc>
              <a:spcBef>
                <a:spcPts val="0"/>
              </a:spcBef>
            </a:pPr>
            <a:r>
              <a:rPr lang="en-US" altLang="zh-CN" sz="1200" b="1" i="0" dirty="0">
                <a:solidFill>
                  <a:srgbClr val="5C5C5F"/>
                </a:solidFill>
                <a:latin typeface="2 Bold" pitchFamily="18" charset="0"/>
                <a:cs typeface="2 Bold" pitchFamily="18" charset="0"/>
              </a:rPr>
              <a:t>sales department with mid performance score </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Conduct regular performance data reviews, in order to </a:t>
            </a:r>
          </a:p>
          <a:p>
            <a:pPr marL="172212">
              <a:lnSpc>
                <a:spcPts val="1600"/>
              </a:lnSpc>
              <a:spcBef>
                <a:spcPts val="0"/>
              </a:spcBef>
            </a:pPr>
            <a:r>
              <a:rPr lang="en-US" altLang="zh-CN" sz="1200" b="1" i="0" dirty="0">
                <a:solidFill>
                  <a:srgbClr val="5C5C5F"/>
                </a:solidFill>
                <a:latin typeface="2 Bold" pitchFamily="18" charset="0"/>
                <a:cs typeface="2 Bold" pitchFamily="18" charset="0"/>
              </a:rPr>
              <a:t>generate early warning systems and provide </a:t>
            </a:r>
          </a:p>
          <a:p>
            <a:pPr marL="172212">
              <a:lnSpc>
                <a:spcPts val="1600"/>
              </a:lnSpc>
              <a:spcBef>
                <a:spcPts val="0"/>
              </a:spcBef>
            </a:pPr>
            <a:r>
              <a:rPr lang="en-US" altLang="zh-CN" sz="1202" b="1" i="0" dirty="0">
                <a:solidFill>
                  <a:srgbClr val="5C5C5F"/>
                </a:solidFill>
                <a:latin typeface="2 Bold" pitchFamily="18" charset="0"/>
                <a:cs typeface="2 Bold" pitchFamily="18" charset="0"/>
              </a:rPr>
              <a:t>management training on early intervention</a:t>
            </a:r>
          </a:p>
        </p:txBody>
      </p:sp>
      <p:pic>
        <p:nvPicPr>
          <p:cNvPr id="31" name="Picture 31"/>
          <p:cNvPicPr>
            <a:picLocks/>
          </p:cNvPicPr>
          <p:nvPr/>
        </p:nvPicPr>
        <p:blipFill>
          <a:blip r:embed="rId2" cstate="print"/>
          <a:srcRect/>
          <a:stretch>
            <a:fillRect/>
          </a:stretch>
        </p:blipFill>
        <p:spPr bwMode="auto">
          <a:xfrm>
            <a:off x="279400" y="762000"/>
            <a:ext cx="3568700" cy="38481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14</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054348" y="805815"/>
            <a:ext cx="76200" cy="3774796"/>
          </a:xfrm>
          <a:custGeom>
            <a:avLst/>
            <a:gdLst>
              <a:gd name="connsiteX0" fmla="*/ 47625 w 76200"/>
              <a:gd name="connsiteY0" fmla="*/ 38100 h 3774796"/>
              <a:gd name="connsiteX1" fmla="*/ 47625 w 76200"/>
              <a:gd name="connsiteY1" fmla="*/ 3736696 h 3774796"/>
              <a:gd name="connsiteX2" fmla="*/ 28575 w 76200"/>
              <a:gd name="connsiteY2" fmla="*/ 3736696 h 3774796"/>
              <a:gd name="connsiteX3" fmla="*/ 28575 w 76200"/>
              <a:gd name="connsiteY3" fmla="*/ 38100 h 3774796"/>
              <a:gd name="connsiteX5" fmla="*/ 0 w 76200"/>
              <a:gd name="connsiteY5" fmla="*/ 38100 h 3774796"/>
              <a:gd name="connsiteX6" fmla="*/ 38100 w 76200"/>
              <a:gd name="connsiteY6" fmla="*/ 0 h 3774796"/>
              <a:gd name="connsiteX7" fmla="*/ 76200 w 76200"/>
              <a:gd name="connsiteY7" fmla="*/ 38100 h 3774796"/>
              <a:gd name="connsiteX8" fmla="*/ 38100 w 76200"/>
              <a:gd name="connsiteY8" fmla="*/ 76200 h 3774796"/>
              <a:gd name="connsiteX9" fmla="*/ 0 w 76200"/>
              <a:gd name="connsiteY9" fmla="*/ 38100 h 3774796"/>
              <a:gd name="connsiteX11" fmla="*/ 76200 w 76200"/>
              <a:gd name="connsiteY11" fmla="*/ 3736696 h 3774796"/>
              <a:gd name="connsiteX12" fmla="*/ 38100 w 76200"/>
              <a:gd name="connsiteY12" fmla="*/ 3774796 h 3774796"/>
              <a:gd name="connsiteX13" fmla="*/ 0 w 76200"/>
              <a:gd name="connsiteY13" fmla="*/ 3736696 h 3774796"/>
              <a:gd name="connsiteX14" fmla="*/ 38100 w 76200"/>
              <a:gd name="connsiteY14" fmla="*/ 3698596 h 3774796"/>
              <a:gd name="connsiteX15" fmla="*/ 76200 w 76200"/>
              <a:gd name="connsiteY15" fmla="*/ 3736696 h 3774796"/>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796">
                <a:moveTo>
                  <a:pt x="47625" y="38100"/>
                </a:moveTo>
                <a:lnTo>
                  <a:pt x="47625" y="3736696"/>
                </a:lnTo>
                <a:lnTo>
                  <a:pt x="28575" y="3736696"/>
                </a:lnTo>
                <a:lnTo>
                  <a:pt x="28575" y="38100"/>
                </a:lnTo>
                <a:moveTo>
                  <a:pt x="0" y="38100"/>
                </a:moveTo>
                <a:cubicBezTo>
                  <a:pt x="0" y="17018"/>
                  <a:pt x="17018" y="0"/>
                  <a:pt x="38100" y="0"/>
                </a:cubicBezTo>
                <a:cubicBezTo>
                  <a:pt x="59182" y="0"/>
                  <a:pt x="76200" y="17018"/>
                  <a:pt x="76200" y="38100"/>
                </a:cubicBezTo>
                <a:cubicBezTo>
                  <a:pt x="76200" y="59182"/>
                  <a:pt x="59182" y="76200"/>
                  <a:pt x="38100" y="76200"/>
                </a:cubicBezTo>
                <a:cubicBezTo>
                  <a:pt x="17018" y="76200"/>
                  <a:pt x="0" y="59182"/>
                  <a:pt x="0" y="38100"/>
                </a:cubicBezTo>
                <a:moveTo>
                  <a:pt x="76200" y="3736696"/>
                </a:moveTo>
                <a:cubicBezTo>
                  <a:pt x="76200" y="3757739"/>
                  <a:pt x="59182" y="3774796"/>
                  <a:pt x="38100" y="3774796"/>
                </a:cubicBezTo>
                <a:cubicBezTo>
                  <a:pt x="17018" y="3774796"/>
                  <a:pt x="0" y="3757739"/>
                  <a:pt x="0" y="3736696"/>
                </a:cubicBezTo>
                <a:cubicBezTo>
                  <a:pt x="0" y="3715651"/>
                  <a:pt x="17018" y="3698596"/>
                  <a:pt x="38100" y="3698596"/>
                </a:cubicBezTo>
                <a:cubicBezTo>
                  <a:pt x="59182" y="3698596"/>
                  <a:pt x="76200" y="3715651"/>
                  <a:pt x="76200" y="3736696"/>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30073" y="411226"/>
            <a:ext cx="3523081"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4. What is the average performance score by </a:t>
            </a:r>
          </a:p>
          <a:p>
            <a:pPr>
              <a:lnSpc>
                <a:spcPts val="1400"/>
              </a:lnSpc>
              <a:spcBef>
                <a:spcPts val="0"/>
              </a:spcBef>
            </a:pPr>
            <a:r>
              <a:rPr lang="en-US" altLang="zh-CN" sz="1200" b="1" i="0" dirty="0">
                <a:solidFill>
                  <a:srgbClr val="5C5C5F"/>
                </a:solidFill>
                <a:latin typeface="6 Bold" pitchFamily="18" charset="0"/>
                <a:cs typeface="6 Bold" pitchFamily="18" charset="0"/>
              </a:rPr>
              <a:t>department?</a:t>
            </a:r>
          </a:p>
        </p:txBody>
      </p:sp>
      <p:pic>
        <p:nvPicPr>
          <p:cNvPr id="25" name="Picture 25"/>
          <p:cNvPicPr>
            <a:picLocks/>
          </p:cNvPicPr>
          <p:nvPr/>
        </p:nvPicPr>
        <p:blipFill>
          <a:blip r:embed="rId2" cstate="print"/>
          <a:srcRect/>
          <a:stretch>
            <a:fillRect/>
          </a:stretch>
        </p:blipFill>
        <p:spPr bwMode="auto">
          <a:xfrm>
            <a:off x="393700" y="838200"/>
            <a:ext cx="3505200" cy="3759200"/>
          </a:xfrm>
          <a:prstGeom prst="rect">
            <a:avLst/>
          </a:prstGeom>
          <a:noFill/>
        </p:spPr>
      </p:pic>
      <p:sp>
        <p:nvSpPr>
          <p:cNvPr id="26" name="TextBox 26"/>
          <p:cNvSpPr txBox="1"/>
          <p:nvPr/>
        </p:nvSpPr>
        <p:spPr>
          <a:xfrm>
            <a:off x="4281551" y="830712"/>
            <a:ext cx="743153"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Findings</a:t>
            </a:r>
          </a:p>
        </p:txBody>
      </p:sp>
      <p:sp>
        <p:nvSpPr>
          <p:cNvPr id="27" name="Freeform 27"/>
          <p:cNvSpPr/>
          <p:nvPr/>
        </p:nvSpPr>
        <p:spPr>
          <a:xfrm>
            <a:off x="4280916" y="966216"/>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8" name="TextBox 28"/>
          <p:cNvSpPr txBox="1"/>
          <p:nvPr/>
        </p:nvSpPr>
        <p:spPr>
          <a:xfrm>
            <a:off x="4281551" y="1039369"/>
            <a:ext cx="4655567" cy="19177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All departments show high average performance scores </a:t>
            </a:r>
          </a:p>
          <a:p>
            <a:pPr marL="172212">
              <a:lnSpc>
                <a:spcPts val="1600"/>
              </a:lnSpc>
              <a:spcBef>
                <a:spcPts val="0"/>
              </a:spcBef>
            </a:pPr>
            <a:r>
              <a:rPr lang="en-US" altLang="zh-CN" sz="1200" b="1" i="0" dirty="0">
                <a:solidFill>
                  <a:srgbClr val="000000"/>
                </a:solidFill>
                <a:latin typeface="2 Bold" pitchFamily="18" charset="0"/>
                <a:cs typeface="2 Bold" pitchFamily="18" charset="0"/>
              </a:rPr>
              <a:t>indicating a generally high-performing workforce</a:t>
            </a:r>
          </a:p>
          <a:p>
            <a:pPr>
              <a:lnSpc>
                <a:spcPts val="16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000000"/>
                </a:solidFill>
                <a:latin typeface="2 Bold" pitchFamily="18" charset="0"/>
                <a:cs typeface="2 Bold" pitchFamily="18" charset="0"/>
              </a:rPr>
              <a:t>   Marketing has the highest average score (4.17), setting a </a:t>
            </a:r>
          </a:p>
          <a:p>
            <a:pPr marL="172212">
              <a:lnSpc>
                <a:spcPts val="1600"/>
              </a:lnSpc>
              <a:spcBef>
                <a:spcPts val="0"/>
              </a:spcBef>
            </a:pPr>
            <a:r>
              <a:rPr lang="en-US" altLang="zh-CN" sz="1200" b="1" i="0" dirty="0">
                <a:solidFill>
                  <a:srgbClr val="000000"/>
                </a:solidFill>
                <a:latin typeface="2 Bold" pitchFamily="18" charset="0"/>
                <a:cs typeface="2 Bold" pitchFamily="18" charset="0"/>
              </a:rPr>
              <a:t>benchmark for excellence</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Engineering has the lowest score (4.01), suggesting areas</a:t>
            </a:r>
          </a:p>
          <a:p>
            <a:pPr marL="172212">
              <a:lnSpc>
                <a:spcPts val="1600"/>
              </a:lnSpc>
              <a:spcBef>
                <a:spcPts val="0"/>
              </a:spcBef>
            </a:pPr>
            <a:r>
              <a:rPr lang="en-US" altLang="zh-CN" sz="1200" b="1" i="0" dirty="0">
                <a:solidFill>
                  <a:srgbClr val="000000"/>
                </a:solidFill>
                <a:latin typeface="2 Bold" pitchFamily="18" charset="0"/>
                <a:cs typeface="2 Bold" pitchFamily="18" charset="0"/>
              </a:rPr>
              <a:t>for targeted support</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000000"/>
                </a:solidFill>
                <a:latin typeface="2 Bold" pitchFamily="18" charset="0"/>
                <a:cs typeface="2 Bold" pitchFamily="18" charset="0"/>
              </a:rPr>
              <a:t>   There is very small difference in performance range (4.01 to </a:t>
            </a:r>
          </a:p>
          <a:p>
            <a:pPr marL="172212">
              <a:lnSpc>
                <a:spcPts val="1600"/>
              </a:lnSpc>
              <a:spcBef>
                <a:spcPts val="0"/>
              </a:spcBef>
            </a:pPr>
            <a:r>
              <a:rPr lang="en-US" altLang="zh-CN" sz="1202" b="1" i="0" dirty="0">
                <a:solidFill>
                  <a:srgbClr val="000000"/>
                </a:solidFill>
                <a:latin typeface="2 Bold" pitchFamily="18" charset="0"/>
                <a:cs typeface="2 Bold" pitchFamily="18" charset="0"/>
              </a:rPr>
              <a:t>4.17) across all 4 departments</a:t>
            </a:r>
          </a:p>
          <a:p>
            <a:pPr>
              <a:lnSpc>
                <a:spcPts val="27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29" name="Freeform 29"/>
          <p:cNvSpPr/>
          <p:nvPr/>
        </p:nvSpPr>
        <p:spPr>
          <a:xfrm>
            <a:off x="4280916" y="3001899"/>
            <a:ext cx="2176272" cy="6096"/>
          </a:xfrm>
          <a:custGeom>
            <a:avLst/>
            <a:gdLst>
              <a:gd name="connsiteX0" fmla="*/ 0 w 2176272"/>
              <a:gd name="connsiteY0" fmla="*/ 0 h 6096"/>
              <a:gd name="connsiteX1" fmla="*/ 1088136 w 2176272"/>
              <a:gd name="connsiteY1" fmla="*/ 0 h 6096"/>
              <a:gd name="connsiteX2" fmla="*/ 2176272 w 2176272"/>
              <a:gd name="connsiteY2" fmla="*/ 0 h 6096"/>
              <a:gd name="connsiteX3" fmla="*/ 2176272 w 2176272"/>
              <a:gd name="connsiteY3" fmla="*/ 6096 h 6096"/>
              <a:gd name="connsiteX4" fmla="*/ 1088136 w 2176272"/>
              <a:gd name="connsiteY4" fmla="*/ 6096 h 6096"/>
              <a:gd name="connsiteX5" fmla="*/ 0 w 2176272"/>
              <a:gd name="connsiteY5"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176272" h="6096">
                <a:moveTo>
                  <a:pt x="0" y="0"/>
                </a:moveTo>
                <a:lnTo>
                  <a:pt x="1088136" y="0"/>
                </a:lnTo>
                <a:lnTo>
                  <a:pt x="2176272" y="0"/>
                </a:lnTo>
                <a:lnTo>
                  <a:pt x="2176272" y="6096"/>
                </a:lnTo>
                <a:lnTo>
                  <a:pt x="1088136"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0" name="TextBox 30"/>
          <p:cNvSpPr txBox="1"/>
          <p:nvPr/>
        </p:nvSpPr>
        <p:spPr>
          <a:xfrm>
            <a:off x="4281551" y="3075814"/>
            <a:ext cx="4338270" cy="13716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Sustain and leverage high performance from Marketing </a:t>
            </a:r>
          </a:p>
          <a:p>
            <a:pPr marL="172212">
              <a:lnSpc>
                <a:spcPts val="1600"/>
              </a:lnSpc>
              <a:spcBef>
                <a:spcPts val="0"/>
              </a:spcBef>
            </a:pPr>
            <a:r>
              <a:rPr lang="en-US" altLang="zh-CN" sz="1200" b="1" i="0" dirty="0">
                <a:solidFill>
                  <a:srgbClr val="5C5C5F"/>
                </a:solidFill>
                <a:latin typeface="2 Bold" pitchFamily="18" charset="0"/>
                <a:cs typeface="2 Bold" pitchFamily="18" charset="0"/>
              </a:rPr>
              <a:t>and HR through best practice sharing, leadership </a:t>
            </a:r>
          </a:p>
          <a:p>
            <a:pPr marL="172212">
              <a:lnSpc>
                <a:spcPts val="1600"/>
              </a:lnSpc>
              <a:spcBef>
                <a:spcPts val="0"/>
              </a:spcBef>
            </a:pPr>
            <a:r>
              <a:rPr lang="en-US" altLang="zh-CN" sz="1200" b="1" i="0" dirty="0">
                <a:solidFill>
                  <a:srgbClr val="5C5C5F"/>
                </a:solidFill>
                <a:latin typeface="2 Bold" pitchFamily="18" charset="0"/>
                <a:cs typeface="2 Bold" pitchFamily="18" charset="0"/>
              </a:rPr>
              <a:t>development and internal/ cross departmental </a:t>
            </a:r>
          </a:p>
          <a:p>
            <a:pPr marL="172212">
              <a:lnSpc>
                <a:spcPts val="1600"/>
              </a:lnSpc>
              <a:spcBef>
                <a:spcPts val="0"/>
              </a:spcBef>
            </a:pPr>
            <a:r>
              <a:rPr lang="en-US" altLang="zh-CN" sz="1200" b="1" i="0" dirty="0">
                <a:solidFill>
                  <a:srgbClr val="5C5C5F"/>
                </a:solidFill>
                <a:latin typeface="2 Bold" pitchFamily="18" charset="0"/>
                <a:cs typeface="2 Bold" pitchFamily="18" charset="0"/>
              </a:rPr>
              <a:t>benchmarking</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Conduct targeted performance enhancement through</a:t>
            </a:r>
          </a:p>
          <a:p>
            <a:pPr marL="172212">
              <a:lnSpc>
                <a:spcPts val="1600"/>
              </a:lnSpc>
              <a:spcBef>
                <a:spcPts val="0"/>
              </a:spcBef>
            </a:pPr>
            <a:r>
              <a:rPr lang="en-US" altLang="zh-CN" sz="1200" b="1" i="0" dirty="0">
                <a:solidFill>
                  <a:srgbClr val="5C5C5F"/>
                </a:solidFill>
                <a:latin typeface="2 Bold" pitchFamily="18" charset="0"/>
                <a:cs typeface="2 Bold" pitchFamily="18" charset="0"/>
              </a:rPr>
              <a:t>needs assessments, tailored skill development, </a:t>
            </a:r>
          </a:p>
          <a:p>
            <a:pPr marL="172212">
              <a:lnSpc>
                <a:spcPts val="1600"/>
              </a:lnSpc>
              <a:spcBef>
                <a:spcPts val="0"/>
              </a:spcBef>
            </a:pPr>
            <a:r>
              <a:rPr lang="en-US" altLang="zh-CN" sz="1200" b="1" i="0" dirty="0">
                <a:solidFill>
                  <a:srgbClr val="5C5C5F"/>
                </a:solidFill>
                <a:latin typeface="2 Bold" pitchFamily="18" charset="0"/>
                <a:cs typeface="2 Bold" pitchFamily="18" charset="0"/>
              </a:rPr>
              <a:t>performance coaching and resource optimization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8723249"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055" y="1061212"/>
                  <a:pt x="38100" y="1061212"/>
                </a:cubicBezTo>
                <a:cubicBezTo>
                  <a:pt x="17018" y="1061212"/>
                  <a:pt x="0" y="1044067"/>
                  <a:pt x="0" y="1023112"/>
                </a:cubicBezTo>
                <a:cubicBezTo>
                  <a:pt x="0" y="1002030"/>
                  <a:pt x="17018" y="985012"/>
                  <a:pt x="38100" y="985012"/>
                </a:cubicBezTo>
                <a:cubicBezTo>
                  <a:pt x="59055" y="985012"/>
                  <a:pt x="76200" y="1002030"/>
                  <a:pt x="76200" y="1023112"/>
                </a:cubicBezTo>
                <a:moveTo>
                  <a:pt x="0" y="38100"/>
                </a:moveTo>
                <a:cubicBezTo>
                  <a:pt x="0" y="17145"/>
                  <a:pt x="17018" y="0"/>
                  <a:pt x="38100" y="0"/>
                </a:cubicBezTo>
                <a:cubicBezTo>
                  <a:pt x="59055" y="0"/>
                  <a:pt x="76200" y="17145"/>
                  <a:pt x="76200" y="38100"/>
                </a:cubicBezTo>
                <a:cubicBezTo>
                  <a:pt x="76200" y="59182"/>
                  <a:pt x="59055" y="76200"/>
                  <a:pt x="38100" y="76200"/>
                </a:cubicBezTo>
                <a:cubicBezTo>
                  <a:pt x="17018"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Freeform 9"/>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0" name="Freeform 10"/>
          <p:cNvSpPr/>
          <p:nvPr/>
        </p:nvSpPr>
        <p:spPr>
          <a:xfrm>
            <a:off x="356248"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144" y="1061212"/>
                  <a:pt x="38100" y="1061212"/>
                </a:cubicBezTo>
                <a:cubicBezTo>
                  <a:pt x="17056" y="1061212"/>
                  <a:pt x="0" y="1044067"/>
                  <a:pt x="0" y="1023112"/>
                </a:cubicBezTo>
                <a:cubicBezTo>
                  <a:pt x="0" y="1002030"/>
                  <a:pt x="17056" y="985012"/>
                  <a:pt x="38100" y="985012"/>
                </a:cubicBezTo>
                <a:cubicBezTo>
                  <a:pt x="59144" y="985012"/>
                  <a:pt x="76200" y="1002030"/>
                  <a:pt x="76200" y="1023112"/>
                </a:cubicBezTo>
                <a:moveTo>
                  <a:pt x="0" y="38100"/>
                </a:moveTo>
                <a:cubicBezTo>
                  <a:pt x="0" y="17145"/>
                  <a:pt x="17056" y="0"/>
                  <a:pt x="38100" y="0"/>
                </a:cubicBezTo>
                <a:cubicBezTo>
                  <a:pt x="59144" y="0"/>
                  <a:pt x="76200" y="17145"/>
                  <a:pt x="76200" y="38100"/>
                </a:cubicBezTo>
                <a:cubicBezTo>
                  <a:pt x="76200" y="59182"/>
                  <a:pt x="59144" y="76200"/>
                  <a:pt x="38100" y="76200"/>
                </a:cubicBezTo>
                <a:cubicBezTo>
                  <a:pt x="17056"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1" name="TextBox 11"/>
          <p:cNvSpPr txBox="1"/>
          <p:nvPr/>
        </p:nvSpPr>
        <p:spPr>
          <a:xfrm>
            <a:off x="4099306" y="2172335"/>
            <a:ext cx="3484675" cy="457200"/>
          </a:xfrm>
          <a:prstGeom prst="rect">
            <a:avLst/>
          </a:prstGeom>
          <a:noFill/>
        </p:spPr>
        <p:txBody>
          <a:bodyPr wrap="none" lIns="0" tIns="0" rIns="0" bIns="0" rtlCol="0">
            <a:spAutoFit/>
          </a:bodyPr>
          <a:lstStyle/>
          <a:p>
            <a:pPr>
              <a:lnSpc>
                <a:spcPts val="3600"/>
              </a:lnSpc>
              <a:spcBef>
                <a:spcPts val="0"/>
              </a:spcBef>
            </a:pPr>
            <a:r>
              <a:rPr lang="en-US" altLang="zh-CN" sz="3600" b="1" i="0" dirty="0">
                <a:solidFill>
                  <a:srgbClr val="5C5C5F"/>
                </a:solidFill>
                <a:latin typeface="6 Bold" pitchFamily="18" charset="0"/>
                <a:cs typeface="6 Bold" pitchFamily="18" charset="0"/>
              </a:rPr>
              <a:t>Salary Analysis</a:t>
            </a:r>
          </a:p>
        </p:txBody>
      </p:sp>
      <p:sp>
        <p:nvSpPr>
          <p:cNvPr id="12" name="TextBox 12"/>
          <p:cNvSpPr txBox="1"/>
          <p:nvPr/>
        </p:nvSpPr>
        <p:spPr>
          <a:xfrm>
            <a:off x="2095500" y="1940941"/>
            <a:ext cx="1042924" cy="762000"/>
          </a:xfrm>
          <a:prstGeom prst="rect">
            <a:avLst/>
          </a:prstGeom>
          <a:noFill/>
        </p:spPr>
        <p:txBody>
          <a:bodyPr wrap="none" lIns="0" tIns="0" rIns="0" bIns="0" rtlCol="0">
            <a:spAutoFit/>
          </a:bodyPr>
          <a:lstStyle/>
          <a:p>
            <a:pPr>
              <a:lnSpc>
                <a:spcPts val="6000"/>
              </a:lnSpc>
              <a:spcBef>
                <a:spcPts val="0"/>
              </a:spcBef>
            </a:pPr>
            <a:r>
              <a:rPr lang="en-US" altLang="zh-CN" sz="6000" b="1" i="0" dirty="0">
                <a:solidFill>
                  <a:srgbClr val="85789C"/>
                </a:solidFill>
                <a:latin typeface="6 Bold" pitchFamily="18" charset="0"/>
                <a:cs typeface="6 Bold" pitchFamily="18" charset="0"/>
              </a:rPr>
              <a:t>04</a:t>
            </a:r>
          </a:p>
        </p:txBody>
      </p:sp>
      <p:sp>
        <p:nvSpPr>
          <p:cNvPr id="13" name="TextBox 13"/>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15</a:t>
            </a:r>
          </a:p>
        </p:txBody>
      </p:sp>
      <p:sp>
        <p:nvSpPr>
          <p:cNvPr id="14" name="Freeform 14"/>
          <p:cNvSpPr/>
          <p:nvPr/>
        </p:nvSpPr>
        <p:spPr>
          <a:xfrm>
            <a:off x="1562481" y="2872486"/>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8100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8100"/>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1562481" y="1676273"/>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7973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7973"/>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3244850" y="2217928"/>
            <a:ext cx="239395" cy="239395"/>
          </a:xfrm>
          <a:custGeom>
            <a:avLst/>
            <a:gdLst>
              <a:gd name="connsiteX0" fmla="*/ 0 w 239395"/>
              <a:gd name="connsiteY0" fmla="*/ 119761 h 239395"/>
              <a:gd name="connsiteX1" fmla="*/ 92964 w 239395"/>
              <a:gd name="connsiteY1" fmla="*/ 93091 h 239395"/>
              <a:gd name="connsiteX2" fmla="*/ 119634 w 239395"/>
              <a:gd name="connsiteY2" fmla="*/ 0 h 239395"/>
              <a:gd name="connsiteX3" fmla="*/ 146304 w 239395"/>
              <a:gd name="connsiteY3" fmla="*/ 93091 h 239395"/>
              <a:gd name="connsiteX4" fmla="*/ 239395 w 239395"/>
              <a:gd name="connsiteY4" fmla="*/ 119761 h 239395"/>
              <a:gd name="connsiteX5" fmla="*/ 146304 w 239395"/>
              <a:gd name="connsiteY5" fmla="*/ 146304 h 239395"/>
              <a:gd name="connsiteX6" fmla="*/ 119634 w 239395"/>
              <a:gd name="connsiteY6" fmla="*/ 239395 h 239395"/>
              <a:gd name="connsiteX7" fmla="*/ 92964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2964" y="93091"/>
                </a:lnTo>
                <a:lnTo>
                  <a:pt x="119634" y="0"/>
                </a:lnTo>
                <a:lnTo>
                  <a:pt x="146304" y="93091"/>
                </a:lnTo>
                <a:lnTo>
                  <a:pt x="239395" y="119761"/>
                </a:lnTo>
                <a:lnTo>
                  <a:pt x="146304" y="146304"/>
                </a:lnTo>
                <a:lnTo>
                  <a:pt x="119634" y="239395"/>
                </a:lnTo>
                <a:lnTo>
                  <a:pt x="92964"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7280529" y="2217928"/>
            <a:ext cx="239395" cy="239395"/>
          </a:xfrm>
          <a:custGeom>
            <a:avLst/>
            <a:gdLst>
              <a:gd name="connsiteX0" fmla="*/ 0 w 239395"/>
              <a:gd name="connsiteY0" fmla="*/ 119761 h 239395"/>
              <a:gd name="connsiteX1" fmla="*/ 93090 w 239395"/>
              <a:gd name="connsiteY1" fmla="*/ 93091 h 239395"/>
              <a:gd name="connsiteX2" fmla="*/ 119634 w 239395"/>
              <a:gd name="connsiteY2" fmla="*/ 0 h 239395"/>
              <a:gd name="connsiteX3" fmla="*/ 146303 w 239395"/>
              <a:gd name="connsiteY3" fmla="*/ 93091 h 239395"/>
              <a:gd name="connsiteX4" fmla="*/ 239395 w 239395"/>
              <a:gd name="connsiteY4" fmla="*/ 119761 h 239395"/>
              <a:gd name="connsiteX5" fmla="*/ 146303 w 239395"/>
              <a:gd name="connsiteY5" fmla="*/ 146304 h 239395"/>
              <a:gd name="connsiteX6" fmla="*/ 119634 w 239395"/>
              <a:gd name="connsiteY6" fmla="*/ 239395 h 239395"/>
              <a:gd name="connsiteX7" fmla="*/ 93090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3090" y="93091"/>
                </a:lnTo>
                <a:lnTo>
                  <a:pt x="119634" y="0"/>
                </a:lnTo>
                <a:lnTo>
                  <a:pt x="146303" y="93091"/>
                </a:lnTo>
                <a:lnTo>
                  <a:pt x="239395" y="119761"/>
                </a:lnTo>
                <a:lnTo>
                  <a:pt x="146303" y="146304"/>
                </a:lnTo>
                <a:lnTo>
                  <a:pt x="119634" y="239395"/>
                </a:lnTo>
                <a:lnTo>
                  <a:pt x="93090"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16</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258564" y="776605"/>
            <a:ext cx="76200" cy="3774770"/>
          </a:xfrm>
          <a:custGeom>
            <a:avLst/>
            <a:gdLst>
              <a:gd name="connsiteX0" fmla="*/ 47625 w 76200"/>
              <a:gd name="connsiteY0" fmla="*/ 38100 h 3774770"/>
              <a:gd name="connsiteX1" fmla="*/ 47625 w 76200"/>
              <a:gd name="connsiteY1" fmla="*/ 3736670 h 3774770"/>
              <a:gd name="connsiteX2" fmla="*/ 28575 w 76200"/>
              <a:gd name="connsiteY2" fmla="*/ 3736670 h 3774770"/>
              <a:gd name="connsiteX3" fmla="*/ 28575 w 76200"/>
              <a:gd name="connsiteY3" fmla="*/ 38100 h 3774770"/>
              <a:gd name="connsiteX5" fmla="*/ 0 w 76200"/>
              <a:gd name="connsiteY5" fmla="*/ 38100 h 3774770"/>
              <a:gd name="connsiteX6" fmla="*/ 38100 w 76200"/>
              <a:gd name="connsiteY6" fmla="*/ 0 h 3774770"/>
              <a:gd name="connsiteX7" fmla="*/ 76200 w 76200"/>
              <a:gd name="connsiteY7" fmla="*/ 38100 h 3774770"/>
              <a:gd name="connsiteX8" fmla="*/ 38100 w 76200"/>
              <a:gd name="connsiteY8" fmla="*/ 76200 h 3774770"/>
              <a:gd name="connsiteX9" fmla="*/ 0 w 76200"/>
              <a:gd name="connsiteY9" fmla="*/ 38100 h 3774770"/>
              <a:gd name="connsiteX11" fmla="*/ 76200 w 76200"/>
              <a:gd name="connsiteY11" fmla="*/ 3736670 h 3774770"/>
              <a:gd name="connsiteX12" fmla="*/ 38100 w 76200"/>
              <a:gd name="connsiteY12" fmla="*/ 3774770 h 3774770"/>
              <a:gd name="connsiteX13" fmla="*/ 0 w 76200"/>
              <a:gd name="connsiteY13" fmla="*/ 3736670 h 3774770"/>
              <a:gd name="connsiteX14" fmla="*/ 38100 w 76200"/>
              <a:gd name="connsiteY14" fmla="*/ 3698570 h 3774770"/>
              <a:gd name="connsiteX15" fmla="*/ 76200 w 76200"/>
              <a:gd name="connsiteY15" fmla="*/ 3736670 h 377477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770">
                <a:moveTo>
                  <a:pt x="47625" y="38100"/>
                </a:moveTo>
                <a:lnTo>
                  <a:pt x="47625" y="3736670"/>
                </a:lnTo>
                <a:lnTo>
                  <a:pt x="28575" y="3736670"/>
                </a:lnTo>
                <a:lnTo>
                  <a:pt x="28575" y="38100"/>
                </a:lnTo>
                <a:moveTo>
                  <a:pt x="0" y="38100"/>
                </a:moveTo>
                <a:cubicBezTo>
                  <a:pt x="0" y="17018"/>
                  <a:pt x="17018" y="0"/>
                  <a:pt x="38100" y="0"/>
                </a:cubicBezTo>
                <a:cubicBezTo>
                  <a:pt x="59055" y="0"/>
                  <a:pt x="76200" y="17018"/>
                  <a:pt x="76200" y="38100"/>
                </a:cubicBezTo>
                <a:cubicBezTo>
                  <a:pt x="76200" y="59055"/>
                  <a:pt x="59055" y="76200"/>
                  <a:pt x="38100" y="76200"/>
                </a:cubicBezTo>
                <a:cubicBezTo>
                  <a:pt x="17018" y="76200"/>
                  <a:pt x="0" y="59055"/>
                  <a:pt x="0" y="38100"/>
                </a:cubicBezTo>
                <a:moveTo>
                  <a:pt x="76200" y="3736670"/>
                </a:moveTo>
                <a:cubicBezTo>
                  <a:pt x="76200" y="3757714"/>
                  <a:pt x="59055" y="3774770"/>
                  <a:pt x="38100" y="3774770"/>
                </a:cubicBezTo>
                <a:cubicBezTo>
                  <a:pt x="17018" y="3774770"/>
                  <a:pt x="0" y="3757714"/>
                  <a:pt x="0" y="3736670"/>
                </a:cubicBezTo>
                <a:cubicBezTo>
                  <a:pt x="0" y="3715626"/>
                  <a:pt x="17018" y="3698570"/>
                  <a:pt x="38100" y="3698570"/>
                </a:cubicBezTo>
                <a:cubicBezTo>
                  <a:pt x="59055" y="3698570"/>
                  <a:pt x="76200" y="3715626"/>
                  <a:pt x="76200" y="373667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30073" y="411226"/>
            <a:ext cx="3241903"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1. What is the total salary expense for the </a:t>
            </a:r>
          </a:p>
          <a:p>
            <a:pPr>
              <a:lnSpc>
                <a:spcPts val="1400"/>
              </a:lnSpc>
              <a:spcBef>
                <a:spcPts val="0"/>
              </a:spcBef>
            </a:pPr>
            <a:r>
              <a:rPr lang="en-US" altLang="zh-CN" sz="1200" b="1" i="0" dirty="0">
                <a:solidFill>
                  <a:srgbClr val="5C5C5F"/>
                </a:solidFill>
                <a:latin typeface="6 Bold" pitchFamily="18" charset="0"/>
                <a:cs typeface="6 Bold" pitchFamily="18" charset="0"/>
              </a:rPr>
              <a:t>company?</a:t>
            </a:r>
          </a:p>
        </p:txBody>
      </p:sp>
      <p:pic>
        <p:nvPicPr>
          <p:cNvPr id="25" name="Picture 25"/>
          <p:cNvPicPr>
            <a:picLocks/>
          </p:cNvPicPr>
          <p:nvPr/>
        </p:nvPicPr>
        <p:blipFill>
          <a:blip r:embed="rId2" cstate="print"/>
          <a:srcRect/>
          <a:stretch>
            <a:fillRect/>
          </a:stretch>
        </p:blipFill>
        <p:spPr bwMode="auto">
          <a:xfrm>
            <a:off x="342900" y="876300"/>
            <a:ext cx="3746500" cy="3708400"/>
          </a:xfrm>
          <a:prstGeom prst="rect">
            <a:avLst/>
          </a:prstGeom>
          <a:noFill/>
        </p:spPr>
      </p:pic>
      <p:sp>
        <p:nvSpPr>
          <p:cNvPr id="26" name="TextBox 26"/>
          <p:cNvSpPr txBox="1"/>
          <p:nvPr/>
        </p:nvSpPr>
        <p:spPr>
          <a:xfrm>
            <a:off x="4561967" y="999368"/>
            <a:ext cx="666800"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a:t>
            </a:r>
          </a:p>
        </p:txBody>
      </p:sp>
      <p:sp>
        <p:nvSpPr>
          <p:cNvPr id="27" name="Freeform 27"/>
          <p:cNvSpPr/>
          <p:nvPr/>
        </p:nvSpPr>
        <p:spPr>
          <a:xfrm>
            <a:off x="4561205" y="1134745"/>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8" name="TextBox 28"/>
          <p:cNvSpPr txBox="1"/>
          <p:nvPr/>
        </p:nvSpPr>
        <p:spPr>
          <a:xfrm>
            <a:off x="5099939" y="999368"/>
            <a:ext cx="203352"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s</a:t>
            </a:r>
          </a:p>
        </p:txBody>
      </p:sp>
      <p:sp>
        <p:nvSpPr>
          <p:cNvPr id="29" name="TextBox 29"/>
          <p:cNvSpPr txBox="1"/>
          <p:nvPr/>
        </p:nvSpPr>
        <p:spPr>
          <a:xfrm>
            <a:off x="4561967" y="1204205"/>
            <a:ext cx="3958467" cy="711200"/>
          </a:xfrm>
          <a:prstGeom prst="rect">
            <a:avLst/>
          </a:prstGeom>
          <a:noFill/>
        </p:spPr>
        <p:txBody>
          <a:bodyPr wrap="none" lIns="0" tIns="0" rIns="0" bIns="0" rtlCol="0">
            <a:spAutoFit/>
          </a:bodyPr>
          <a:lstStyle/>
          <a:p>
            <a:pPr>
              <a:lnSpc>
                <a:spcPts val="1100"/>
              </a:lnSpc>
              <a:spcBef>
                <a:spcPts val="0"/>
              </a:spcBef>
            </a:pPr>
            <a:r>
              <a:rPr lang="en-US" altLang="zh-CN" sz="1104" b="0" i="0" dirty="0">
                <a:solidFill>
                  <a:srgbClr val="000000"/>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Total annual salary expense of $4,850,000 for 60 </a:t>
            </a:r>
          </a:p>
          <a:p>
            <a:pPr marL="172212">
              <a:lnSpc>
                <a:spcPts val="1500"/>
              </a:lnSpc>
              <a:spcBef>
                <a:spcPts val="0"/>
              </a:spcBef>
            </a:pPr>
            <a:r>
              <a:rPr lang="en-US" altLang="zh-CN" sz="1106" b="1" i="0" dirty="0">
                <a:solidFill>
                  <a:srgbClr val="5C5C5F"/>
                </a:solidFill>
                <a:latin typeface="2 Bold" pitchFamily="18" charset="0"/>
                <a:cs typeface="2 Bold" pitchFamily="18" charset="0"/>
              </a:rPr>
              <a:t>employees represents a substantial investment</a:t>
            </a:r>
          </a:p>
          <a:p>
            <a:pPr>
              <a:lnSpc>
                <a:spcPts val="1500"/>
              </a:lnSpc>
              <a:spcBef>
                <a:spcPts val="0"/>
              </a:spcBef>
            </a:pPr>
            <a:r>
              <a:rPr lang="en-US" altLang="zh-CN" sz="1104" b="0" i="0" dirty="0">
                <a:solidFill>
                  <a:srgbClr val="000000"/>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Average salary per employee of $80,833.33 suggests a </a:t>
            </a:r>
          </a:p>
          <a:p>
            <a:pPr marL="172212">
              <a:lnSpc>
                <a:spcPts val="1500"/>
              </a:lnSpc>
              <a:spcBef>
                <a:spcPts val="0"/>
              </a:spcBef>
            </a:pPr>
            <a:r>
              <a:rPr lang="en-US" altLang="zh-CN" sz="1104" b="1" i="0" dirty="0">
                <a:solidFill>
                  <a:srgbClr val="5C5C5F"/>
                </a:solidFill>
                <a:latin typeface="2 Bold" pitchFamily="18" charset="0"/>
                <a:cs typeface="2 Bold" pitchFamily="18" charset="0"/>
              </a:rPr>
              <a:t>competitive compensation level</a:t>
            </a:r>
          </a:p>
        </p:txBody>
      </p:sp>
      <p:sp>
        <p:nvSpPr>
          <p:cNvPr id="30" name="TextBox 30"/>
          <p:cNvSpPr txBox="1"/>
          <p:nvPr/>
        </p:nvSpPr>
        <p:spPr>
          <a:xfrm>
            <a:off x="4488180" y="2360301"/>
            <a:ext cx="2303729"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1" name="Freeform 31"/>
          <p:cNvSpPr/>
          <p:nvPr/>
        </p:nvSpPr>
        <p:spPr>
          <a:xfrm>
            <a:off x="4487418" y="2495169"/>
            <a:ext cx="2176272" cy="6096"/>
          </a:xfrm>
          <a:custGeom>
            <a:avLst/>
            <a:gdLst>
              <a:gd name="connsiteX0" fmla="*/ 0 w 2176272"/>
              <a:gd name="connsiteY0" fmla="*/ 0 h 6096"/>
              <a:gd name="connsiteX1" fmla="*/ 725424 w 2176272"/>
              <a:gd name="connsiteY1" fmla="*/ 0 h 6096"/>
              <a:gd name="connsiteX2" fmla="*/ 1450848 w 2176272"/>
              <a:gd name="connsiteY2" fmla="*/ 0 h 6096"/>
              <a:gd name="connsiteX3" fmla="*/ 2176272 w 2176272"/>
              <a:gd name="connsiteY3" fmla="*/ 0 h 6096"/>
              <a:gd name="connsiteX4" fmla="*/ 2176272 w 2176272"/>
              <a:gd name="connsiteY4" fmla="*/ 6096 h 6096"/>
              <a:gd name="connsiteX5" fmla="*/ 1450848 w 2176272"/>
              <a:gd name="connsiteY5" fmla="*/ 6096 h 6096"/>
              <a:gd name="connsiteX6" fmla="*/ 725424 w 2176272"/>
              <a:gd name="connsiteY6" fmla="*/ 6096 h 6096"/>
              <a:gd name="connsiteX7" fmla="*/ 0 w 2176272"/>
              <a:gd name="connsiteY7"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176272" h="6096">
                <a:moveTo>
                  <a:pt x="0" y="0"/>
                </a:moveTo>
                <a:lnTo>
                  <a:pt x="725424" y="0"/>
                </a:lnTo>
                <a:lnTo>
                  <a:pt x="1450848" y="0"/>
                </a:lnTo>
                <a:lnTo>
                  <a:pt x="2176272" y="0"/>
                </a:lnTo>
                <a:lnTo>
                  <a:pt x="2176272" y="6096"/>
                </a:lnTo>
                <a:lnTo>
                  <a:pt x="1450848" y="6096"/>
                </a:lnTo>
                <a:lnTo>
                  <a:pt x="725424"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2" name="TextBox 32"/>
          <p:cNvSpPr txBox="1"/>
          <p:nvPr/>
        </p:nvSpPr>
        <p:spPr>
          <a:xfrm>
            <a:off x="4488180" y="2568957"/>
            <a:ext cx="4287979" cy="13716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Perform a detailed breakdown of sales compensation, </a:t>
            </a:r>
          </a:p>
          <a:p>
            <a:pPr marL="172212">
              <a:lnSpc>
                <a:spcPts val="1600"/>
              </a:lnSpc>
              <a:spcBef>
                <a:spcPts val="0"/>
              </a:spcBef>
            </a:pPr>
            <a:r>
              <a:rPr lang="en-US" altLang="zh-CN" sz="1200" b="1" i="0" dirty="0">
                <a:solidFill>
                  <a:srgbClr val="5C5C5F"/>
                </a:solidFill>
                <a:latin typeface="2 Bold" pitchFamily="18" charset="0"/>
                <a:cs typeface="2 Bold" pitchFamily="18" charset="0"/>
              </a:rPr>
              <a:t>career pathing, and their alignment with business </a:t>
            </a:r>
          </a:p>
          <a:p>
            <a:pPr marL="172212">
              <a:lnSpc>
                <a:spcPts val="1600"/>
              </a:lnSpc>
              <a:spcBef>
                <a:spcPts val="0"/>
              </a:spcBef>
            </a:pPr>
            <a:r>
              <a:rPr lang="en-US" altLang="zh-CN" sz="1200" b="1" i="0" dirty="0">
                <a:solidFill>
                  <a:srgbClr val="5C5C5F"/>
                </a:solidFill>
                <a:latin typeface="2 Bold" pitchFamily="18" charset="0"/>
                <a:cs typeface="2 Bold" pitchFamily="18" charset="0"/>
              </a:rPr>
              <a:t>goals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Perform a comprehensive compensation review on </a:t>
            </a:r>
          </a:p>
          <a:p>
            <a:pPr marL="172212">
              <a:lnSpc>
                <a:spcPts val="1600"/>
              </a:lnSpc>
              <a:spcBef>
                <a:spcPts val="0"/>
              </a:spcBef>
            </a:pPr>
            <a:r>
              <a:rPr lang="en-US" altLang="zh-CN" sz="1200" b="1" i="0" dirty="0">
                <a:solidFill>
                  <a:srgbClr val="5C5C5F"/>
                </a:solidFill>
                <a:latin typeface="2 Bold" pitchFamily="18" charset="0"/>
                <a:cs typeface="2 Bold" pitchFamily="18" charset="0"/>
              </a:rPr>
              <a:t>marketing specialists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Establish compensation bands and framework (eg. job </a:t>
            </a:r>
          </a:p>
          <a:p>
            <a:pPr marL="172212">
              <a:lnSpc>
                <a:spcPts val="1600"/>
              </a:lnSpc>
              <a:spcBef>
                <a:spcPts val="0"/>
              </a:spcBef>
            </a:pPr>
            <a:r>
              <a:rPr lang="en-US" altLang="zh-CN" sz="1200" b="1" i="0" dirty="0">
                <a:solidFill>
                  <a:srgbClr val="5C5C5F"/>
                </a:solidFill>
                <a:latin typeface="2 Bold" pitchFamily="18" charset="0"/>
                <a:cs typeface="2 Bold" pitchFamily="18" charset="0"/>
              </a:rPr>
              <a:t>grading)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17</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3380867" y="767080"/>
            <a:ext cx="165735" cy="13335"/>
          </a:xfrm>
          <a:custGeom>
            <a:avLst/>
            <a:gdLst>
              <a:gd name="connsiteX0" fmla="*/ 6477 w 165735"/>
              <a:gd name="connsiteY0" fmla="*/ 0 h 13335"/>
              <a:gd name="connsiteX1" fmla="*/ 0 w 165735"/>
              <a:gd name="connsiteY1" fmla="*/ 6477 h 13335"/>
              <a:gd name="connsiteX2" fmla="*/ 6477 w 165735"/>
              <a:gd name="connsiteY2" fmla="*/ 13335 h 13335"/>
              <a:gd name="connsiteX3" fmla="*/ 159258 w 165735"/>
              <a:gd name="connsiteY3" fmla="*/ 13335 h 13335"/>
              <a:gd name="connsiteX4" fmla="*/ 165735 w 165735"/>
              <a:gd name="connsiteY4" fmla="*/ 6477 h 13335"/>
              <a:gd name="connsiteX5" fmla="*/ 159258 w 165735"/>
              <a:gd name="connsiteY5" fmla="*/ 0 h 1333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165735" h="13335">
                <a:moveTo>
                  <a:pt x="6477" y="0"/>
                </a:moveTo>
                <a:cubicBezTo>
                  <a:pt x="2667" y="0"/>
                  <a:pt x="0" y="2667"/>
                  <a:pt x="0" y="6477"/>
                </a:cubicBezTo>
                <a:cubicBezTo>
                  <a:pt x="0" y="10287"/>
                  <a:pt x="2667" y="13335"/>
                  <a:pt x="6477" y="13335"/>
                </a:cubicBezTo>
                <a:lnTo>
                  <a:pt x="159258" y="13335"/>
                </a:lnTo>
                <a:cubicBezTo>
                  <a:pt x="163068" y="13335"/>
                  <a:pt x="165735" y="10287"/>
                  <a:pt x="165735" y="6477"/>
                </a:cubicBezTo>
                <a:cubicBezTo>
                  <a:pt x="165735" y="2667"/>
                  <a:pt x="163068" y="0"/>
                  <a:pt x="1592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Freeform 24"/>
          <p:cNvSpPr/>
          <p:nvPr/>
        </p:nvSpPr>
        <p:spPr>
          <a:xfrm>
            <a:off x="3977640" y="728980"/>
            <a:ext cx="76200" cy="3774821"/>
          </a:xfrm>
          <a:custGeom>
            <a:avLst/>
            <a:gdLst>
              <a:gd name="connsiteX0" fmla="*/ 47625 w 76200"/>
              <a:gd name="connsiteY0" fmla="*/ 38100 h 3774821"/>
              <a:gd name="connsiteX1" fmla="*/ 47625 w 76200"/>
              <a:gd name="connsiteY1" fmla="*/ 3736721 h 3774821"/>
              <a:gd name="connsiteX2" fmla="*/ 28575 w 76200"/>
              <a:gd name="connsiteY2" fmla="*/ 3736721 h 3774821"/>
              <a:gd name="connsiteX3" fmla="*/ 28575 w 76200"/>
              <a:gd name="connsiteY3" fmla="*/ 38100 h 3774821"/>
              <a:gd name="connsiteX5" fmla="*/ 0 w 76200"/>
              <a:gd name="connsiteY5" fmla="*/ 38100 h 3774821"/>
              <a:gd name="connsiteX6" fmla="*/ 38100 w 76200"/>
              <a:gd name="connsiteY6" fmla="*/ 0 h 3774821"/>
              <a:gd name="connsiteX7" fmla="*/ 76200 w 76200"/>
              <a:gd name="connsiteY7" fmla="*/ 38100 h 3774821"/>
              <a:gd name="connsiteX8" fmla="*/ 38100 w 76200"/>
              <a:gd name="connsiteY8" fmla="*/ 76200 h 3774821"/>
              <a:gd name="connsiteX9" fmla="*/ 0 w 76200"/>
              <a:gd name="connsiteY9" fmla="*/ 38100 h 3774821"/>
              <a:gd name="connsiteX11" fmla="*/ 76200 w 76200"/>
              <a:gd name="connsiteY11" fmla="*/ 3736721 h 3774821"/>
              <a:gd name="connsiteX12" fmla="*/ 38100 w 76200"/>
              <a:gd name="connsiteY12" fmla="*/ 3774821 h 3774821"/>
              <a:gd name="connsiteX13" fmla="*/ 0 w 76200"/>
              <a:gd name="connsiteY13" fmla="*/ 3736721 h 3774821"/>
              <a:gd name="connsiteX14" fmla="*/ 38100 w 76200"/>
              <a:gd name="connsiteY14" fmla="*/ 3698621 h 3774821"/>
              <a:gd name="connsiteX15" fmla="*/ 76200 w 76200"/>
              <a:gd name="connsiteY15" fmla="*/ 3736721 h 3774821"/>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21">
                <a:moveTo>
                  <a:pt x="47625" y="38100"/>
                </a:moveTo>
                <a:lnTo>
                  <a:pt x="47625" y="3736721"/>
                </a:lnTo>
                <a:lnTo>
                  <a:pt x="28575" y="3736721"/>
                </a:lnTo>
                <a:lnTo>
                  <a:pt x="28575" y="38100"/>
                </a:lnTo>
                <a:moveTo>
                  <a:pt x="0" y="38100"/>
                </a:moveTo>
                <a:cubicBezTo>
                  <a:pt x="0" y="17145"/>
                  <a:pt x="17145" y="0"/>
                  <a:pt x="38100" y="0"/>
                </a:cubicBezTo>
                <a:cubicBezTo>
                  <a:pt x="59182" y="0"/>
                  <a:pt x="76200" y="17145"/>
                  <a:pt x="76200" y="38100"/>
                </a:cubicBezTo>
                <a:cubicBezTo>
                  <a:pt x="76200" y="59182"/>
                  <a:pt x="59182" y="76200"/>
                  <a:pt x="38100" y="76200"/>
                </a:cubicBezTo>
                <a:cubicBezTo>
                  <a:pt x="17145" y="76200"/>
                  <a:pt x="0" y="59182"/>
                  <a:pt x="0" y="38100"/>
                </a:cubicBezTo>
                <a:moveTo>
                  <a:pt x="76200" y="3736721"/>
                </a:moveTo>
                <a:cubicBezTo>
                  <a:pt x="76200" y="3757765"/>
                  <a:pt x="59182" y="3774821"/>
                  <a:pt x="38100" y="3774821"/>
                </a:cubicBezTo>
                <a:cubicBezTo>
                  <a:pt x="17145" y="3774821"/>
                  <a:pt x="0" y="3757765"/>
                  <a:pt x="0" y="3736721"/>
                </a:cubicBezTo>
                <a:cubicBezTo>
                  <a:pt x="0" y="3715677"/>
                  <a:pt x="17145" y="3698621"/>
                  <a:pt x="38100" y="3698621"/>
                </a:cubicBezTo>
                <a:cubicBezTo>
                  <a:pt x="59182" y="3698621"/>
                  <a:pt x="76200" y="3715677"/>
                  <a:pt x="76200" y="3736721"/>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5" name="TextBox 25"/>
          <p:cNvSpPr txBox="1"/>
          <p:nvPr/>
        </p:nvSpPr>
        <p:spPr>
          <a:xfrm>
            <a:off x="430073" y="411226"/>
            <a:ext cx="2877516"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2. What is the average salary by  job </a:t>
            </a:r>
          </a:p>
          <a:p>
            <a:pPr>
              <a:lnSpc>
                <a:spcPts val="1400"/>
              </a:lnSpc>
              <a:spcBef>
                <a:spcPts val="0"/>
              </a:spcBef>
            </a:pPr>
            <a:r>
              <a:rPr lang="en-US" altLang="zh-CN" sz="1200" b="1" i="0" dirty="0">
                <a:solidFill>
                  <a:srgbClr val="5C5C5F"/>
                </a:solidFill>
                <a:latin typeface="6 Bold" pitchFamily="18" charset="0"/>
                <a:cs typeface="6 Bold" pitchFamily="18" charset="0"/>
              </a:rPr>
              <a:t>title?</a:t>
            </a:r>
          </a:p>
        </p:txBody>
      </p:sp>
      <p:pic>
        <p:nvPicPr>
          <p:cNvPr id="26" name="Picture 26"/>
          <p:cNvPicPr>
            <a:picLocks/>
          </p:cNvPicPr>
          <p:nvPr/>
        </p:nvPicPr>
        <p:blipFill>
          <a:blip r:embed="rId2" cstate="print"/>
          <a:srcRect/>
          <a:stretch>
            <a:fillRect/>
          </a:stretch>
        </p:blipFill>
        <p:spPr bwMode="auto">
          <a:xfrm>
            <a:off x="279400" y="774700"/>
            <a:ext cx="3568700" cy="3733800"/>
          </a:xfrm>
          <a:prstGeom prst="rect">
            <a:avLst/>
          </a:prstGeom>
          <a:noFill/>
        </p:spPr>
      </p:pic>
      <p:sp>
        <p:nvSpPr>
          <p:cNvPr id="27" name="TextBox 27"/>
          <p:cNvSpPr txBox="1"/>
          <p:nvPr/>
        </p:nvSpPr>
        <p:spPr>
          <a:xfrm>
            <a:off x="4281551" y="2987944"/>
            <a:ext cx="2308082" cy="152400"/>
          </a:xfrm>
          <a:prstGeom prst="rect">
            <a:avLst/>
          </a:prstGeom>
          <a:noFill/>
        </p:spPr>
        <p:txBody>
          <a:bodyPr wrap="none" lIns="0" tIns="0" rIns="0" bIns="0" rtlCol="0">
            <a:spAutoFit/>
          </a:bodyPr>
          <a:lstStyle/>
          <a:p>
            <a:pPr>
              <a:lnSpc>
                <a:spcPts val="1200"/>
              </a:lnSpc>
              <a:spcBef>
                <a:spcPts val="0"/>
              </a:spcBef>
            </a:pPr>
            <a:r>
              <a:rPr lang="en-US" altLang="zh-CN" sz="1202" b="1" i="0" dirty="0">
                <a:solidFill>
                  <a:srgbClr val="5C5C5F"/>
                </a:solidFill>
                <a:latin typeface="2 Bold" pitchFamily="18" charset="0"/>
                <a:cs typeface="2 Bold" pitchFamily="18" charset="0"/>
              </a:rPr>
              <a:t>Actionable Recommendations</a:t>
            </a:r>
          </a:p>
        </p:txBody>
      </p:sp>
      <p:sp>
        <p:nvSpPr>
          <p:cNvPr id="28" name="Freeform 28"/>
          <p:cNvSpPr/>
          <p:nvPr/>
        </p:nvSpPr>
        <p:spPr>
          <a:xfrm>
            <a:off x="4280916" y="3123057"/>
            <a:ext cx="2176272" cy="6096"/>
          </a:xfrm>
          <a:custGeom>
            <a:avLst/>
            <a:gdLst>
              <a:gd name="connsiteX0" fmla="*/ 0 w 2176272"/>
              <a:gd name="connsiteY0" fmla="*/ 0 h 6096"/>
              <a:gd name="connsiteX1" fmla="*/ 1088136 w 2176272"/>
              <a:gd name="connsiteY1" fmla="*/ 0 h 6096"/>
              <a:gd name="connsiteX2" fmla="*/ 2176272 w 2176272"/>
              <a:gd name="connsiteY2" fmla="*/ 0 h 6096"/>
              <a:gd name="connsiteX3" fmla="*/ 2176272 w 2176272"/>
              <a:gd name="connsiteY3" fmla="*/ 6096 h 6096"/>
              <a:gd name="connsiteX4" fmla="*/ 1088136 w 2176272"/>
              <a:gd name="connsiteY4" fmla="*/ 6096 h 6096"/>
              <a:gd name="connsiteX5" fmla="*/ 0 w 2176272"/>
              <a:gd name="connsiteY5"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176272" h="6096">
                <a:moveTo>
                  <a:pt x="0" y="0"/>
                </a:moveTo>
                <a:lnTo>
                  <a:pt x="1088136" y="0"/>
                </a:lnTo>
                <a:lnTo>
                  <a:pt x="2176272" y="0"/>
                </a:lnTo>
                <a:lnTo>
                  <a:pt x="2176272" y="6096"/>
                </a:lnTo>
                <a:lnTo>
                  <a:pt x="1088136"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9" name="TextBox 29"/>
          <p:cNvSpPr txBox="1"/>
          <p:nvPr/>
        </p:nvSpPr>
        <p:spPr>
          <a:xfrm>
            <a:off x="4281551" y="3197099"/>
            <a:ext cx="4346348" cy="11684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Perform a detailed breakdown of sales compensation, </a:t>
            </a:r>
          </a:p>
          <a:p>
            <a:pPr marL="172212">
              <a:lnSpc>
                <a:spcPts val="1600"/>
              </a:lnSpc>
              <a:spcBef>
                <a:spcPts val="0"/>
              </a:spcBef>
            </a:pPr>
            <a:r>
              <a:rPr lang="en-US" altLang="zh-CN" sz="1200" b="1" i="0" dirty="0">
                <a:solidFill>
                  <a:srgbClr val="5C5C5F"/>
                </a:solidFill>
                <a:latin typeface="2 Bold" pitchFamily="18" charset="0"/>
                <a:cs typeface="2 Bold" pitchFamily="18" charset="0"/>
              </a:rPr>
              <a:t>career pathing, and their alignment with business goals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Perform a comprehensive compensation review on </a:t>
            </a:r>
          </a:p>
          <a:p>
            <a:pPr marL="172212">
              <a:lnSpc>
                <a:spcPts val="1600"/>
              </a:lnSpc>
              <a:spcBef>
                <a:spcPts val="0"/>
              </a:spcBef>
            </a:pPr>
            <a:r>
              <a:rPr lang="en-US" altLang="zh-CN" sz="1200" b="1" i="0" dirty="0">
                <a:solidFill>
                  <a:srgbClr val="5C5C5F"/>
                </a:solidFill>
                <a:latin typeface="2 Bold" pitchFamily="18" charset="0"/>
                <a:cs typeface="2 Bold" pitchFamily="18" charset="0"/>
              </a:rPr>
              <a:t>marketing specialists</a:t>
            </a:r>
          </a:p>
          <a:p>
            <a:pPr>
              <a:lnSpc>
                <a:spcPts val="16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Establish compensation bands and framework (eg. job </a:t>
            </a:r>
          </a:p>
          <a:p>
            <a:pPr marL="172212">
              <a:lnSpc>
                <a:spcPts val="1600"/>
              </a:lnSpc>
              <a:spcBef>
                <a:spcPts val="0"/>
              </a:spcBef>
            </a:pPr>
            <a:r>
              <a:rPr lang="en-US" altLang="zh-CN" sz="1200" b="1" i="0" dirty="0">
                <a:solidFill>
                  <a:srgbClr val="5C5C5F"/>
                </a:solidFill>
                <a:latin typeface="2 Bold" pitchFamily="18" charset="0"/>
                <a:cs typeface="2 Bold" pitchFamily="18" charset="0"/>
              </a:rPr>
              <a:t>grading) </a:t>
            </a:r>
          </a:p>
        </p:txBody>
      </p:sp>
      <p:sp>
        <p:nvSpPr>
          <p:cNvPr id="30" name="TextBox 30"/>
          <p:cNvSpPr txBox="1"/>
          <p:nvPr/>
        </p:nvSpPr>
        <p:spPr>
          <a:xfrm>
            <a:off x="4216654" y="999368"/>
            <a:ext cx="666800"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a:t>
            </a:r>
          </a:p>
        </p:txBody>
      </p:sp>
      <p:sp>
        <p:nvSpPr>
          <p:cNvPr id="31" name="Freeform 31"/>
          <p:cNvSpPr/>
          <p:nvPr/>
        </p:nvSpPr>
        <p:spPr>
          <a:xfrm>
            <a:off x="4215765" y="1134745"/>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2" name="TextBox 32"/>
          <p:cNvSpPr txBox="1"/>
          <p:nvPr/>
        </p:nvSpPr>
        <p:spPr>
          <a:xfrm>
            <a:off x="4754626" y="999368"/>
            <a:ext cx="203352"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s</a:t>
            </a:r>
          </a:p>
        </p:txBody>
      </p:sp>
      <p:sp>
        <p:nvSpPr>
          <p:cNvPr id="33" name="TextBox 33"/>
          <p:cNvSpPr txBox="1"/>
          <p:nvPr/>
        </p:nvSpPr>
        <p:spPr>
          <a:xfrm>
            <a:off x="4216654" y="1204205"/>
            <a:ext cx="4534157" cy="1282700"/>
          </a:xfrm>
          <a:prstGeom prst="rect">
            <a:avLst/>
          </a:prstGeom>
          <a:noFill/>
        </p:spPr>
        <p:txBody>
          <a:bodyPr wrap="none" lIns="0" tIns="0" rIns="0" bIns="0" rtlCol="0">
            <a:spAutoFit/>
          </a:bodyPr>
          <a:lstStyle/>
          <a:p>
            <a:pPr>
              <a:lnSpc>
                <a:spcPts val="1100"/>
              </a:lnSpc>
              <a:spcBef>
                <a:spcPts val="0"/>
              </a:spcBef>
            </a:pPr>
            <a:r>
              <a:rPr lang="en-US" altLang="zh-CN" sz="1104" b="0" i="0" dirty="0">
                <a:solidFill>
                  <a:srgbClr val="000000"/>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Sales related roles (Sales reps and managers) have the highest </a:t>
            </a:r>
          </a:p>
          <a:p>
            <a:pPr marL="172212">
              <a:lnSpc>
                <a:spcPts val="1500"/>
              </a:lnSpc>
              <a:spcBef>
                <a:spcPts val="0"/>
              </a:spcBef>
            </a:pPr>
            <a:r>
              <a:rPr lang="en-US" altLang="zh-CN" sz="1106" b="1" i="0" dirty="0">
                <a:solidFill>
                  <a:srgbClr val="5C5C5F"/>
                </a:solidFill>
                <a:latin typeface="2 Bold" pitchFamily="18" charset="0"/>
                <a:cs typeface="2 Bold" pitchFamily="18" charset="0"/>
              </a:rPr>
              <a:t>average salaries</a:t>
            </a:r>
          </a:p>
          <a:p>
            <a:pPr>
              <a:lnSpc>
                <a:spcPts val="1500"/>
              </a:lnSpc>
              <a:spcBef>
                <a:spcPts val="0"/>
              </a:spcBef>
            </a:pPr>
            <a:r>
              <a:rPr lang="en-US" altLang="zh-CN" sz="1104" b="0" i="0" dirty="0">
                <a:solidFill>
                  <a:srgbClr val="000000"/>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Sales reps have higher average salary than sales managers</a:t>
            </a:r>
          </a:p>
          <a:p>
            <a:pPr>
              <a:lnSpc>
                <a:spcPts val="1500"/>
              </a:lnSpc>
              <a:spcBef>
                <a:spcPts val="0"/>
              </a:spcBef>
            </a:pPr>
            <a:r>
              <a:rPr lang="en-US" altLang="zh-CN" sz="1104" b="0" i="0" dirty="0">
                <a:solidFill>
                  <a:srgbClr val="000000"/>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HR specialists have the second highest average salary (81,818)</a:t>
            </a:r>
          </a:p>
          <a:p>
            <a:pPr>
              <a:lnSpc>
                <a:spcPts val="1500"/>
              </a:lnSpc>
              <a:spcBef>
                <a:spcPts val="0"/>
              </a:spcBef>
            </a:pPr>
            <a:r>
              <a:rPr lang="en-US" altLang="zh-CN" sz="1104" b="0" i="0" dirty="0">
                <a:solidFill>
                  <a:srgbClr val="000000"/>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Marketing Specialists have the lowest average salary(77,857)</a:t>
            </a:r>
          </a:p>
          <a:p>
            <a:pPr>
              <a:lnSpc>
                <a:spcPts val="1500"/>
              </a:lnSpc>
              <a:spcBef>
                <a:spcPts val="0"/>
              </a:spcBef>
            </a:pPr>
            <a:r>
              <a:rPr lang="en-US" altLang="zh-CN" sz="1104" b="0" i="0" dirty="0">
                <a:solidFill>
                  <a:srgbClr val="000000"/>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Engineers and sales managers have identical average salary </a:t>
            </a:r>
          </a:p>
          <a:p>
            <a:pPr marL="172212">
              <a:lnSpc>
                <a:spcPts val="1500"/>
              </a:lnSpc>
              <a:spcBef>
                <a:spcPts val="0"/>
              </a:spcBef>
            </a:pPr>
            <a:r>
              <a:rPr lang="en-US" altLang="zh-CN" sz="1104" b="1" i="0" dirty="0">
                <a:solidFill>
                  <a:srgbClr val="5C5C5F"/>
                </a:solidFill>
                <a:latin typeface="2 Bold" pitchFamily="18" charset="0"/>
                <a:cs typeface="2 Bold" pitchFamily="18" charset="0"/>
              </a:rPr>
              <a:t>(80,000)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18</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4225163" y="767715"/>
            <a:ext cx="76200" cy="3774821"/>
          </a:xfrm>
          <a:custGeom>
            <a:avLst/>
            <a:gdLst>
              <a:gd name="connsiteX0" fmla="*/ 47625 w 76200"/>
              <a:gd name="connsiteY0" fmla="*/ 38100 h 3774821"/>
              <a:gd name="connsiteX1" fmla="*/ 47625 w 76200"/>
              <a:gd name="connsiteY1" fmla="*/ 3736721 h 3774821"/>
              <a:gd name="connsiteX2" fmla="*/ 28575 w 76200"/>
              <a:gd name="connsiteY2" fmla="*/ 3736721 h 3774821"/>
              <a:gd name="connsiteX3" fmla="*/ 28575 w 76200"/>
              <a:gd name="connsiteY3" fmla="*/ 38100 h 3774821"/>
              <a:gd name="connsiteX5" fmla="*/ 0 w 76200"/>
              <a:gd name="connsiteY5" fmla="*/ 38100 h 3774821"/>
              <a:gd name="connsiteX6" fmla="*/ 38100 w 76200"/>
              <a:gd name="connsiteY6" fmla="*/ 0 h 3774821"/>
              <a:gd name="connsiteX7" fmla="*/ 76200 w 76200"/>
              <a:gd name="connsiteY7" fmla="*/ 38100 h 3774821"/>
              <a:gd name="connsiteX8" fmla="*/ 38100 w 76200"/>
              <a:gd name="connsiteY8" fmla="*/ 76200 h 3774821"/>
              <a:gd name="connsiteX9" fmla="*/ 0 w 76200"/>
              <a:gd name="connsiteY9" fmla="*/ 38100 h 3774821"/>
              <a:gd name="connsiteX11" fmla="*/ 76200 w 76200"/>
              <a:gd name="connsiteY11" fmla="*/ 3736721 h 3774821"/>
              <a:gd name="connsiteX12" fmla="*/ 38100 w 76200"/>
              <a:gd name="connsiteY12" fmla="*/ 3774821 h 3774821"/>
              <a:gd name="connsiteX13" fmla="*/ 0 w 76200"/>
              <a:gd name="connsiteY13" fmla="*/ 3736721 h 3774821"/>
              <a:gd name="connsiteX14" fmla="*/ 38100 w 76200"/>
              <a:gd name="connsiteY14" fmla="*/ 3698621 h 3774821"/>
              <a:gd name="connsiteX15" fmla="*/ 76200 w 76200"/>
              <a:gd name="connsiteY15" fmla="*/ 3736721 h 3774821"/>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21">
                <a:moveTo>
                  <a:pt x="47625" y="38100"/>
                </a:moveTo>
                <a:lnTo>
                  <a:pt x="47625" y="3736721"/>
                </a:lnTo>
                <a:lnTo>
                  <a:pt x="28575" y="3736721"/>
                </a:lnTo>
                <a:lnTo>
                  <a:pt x="28575" y="38100"/>
                </a:lnTo>
                <a:moveTo>
                  <a:pt x="0" y="38100"/>
                </a:moveTo>
                <a:cubicBezTo>
                  <a:pt x="0" y="17145"/>
                  <a:pt x="17018" y="0"/>
                  <a:pt x="38100" y="0"/>
                </a:cubicBezTo>
                <a:cubicBezTo>
                  <a:pt x="59055" y="0"/>
                  <a:pt x="76200" y="17145"/>
                  <a:pt x="76200" y="38100"/>
                </a:cubicBezTo>
                <a:cubicBezTo>
                  <a:pt x="76200" y="59182"/>
                  <a:pt x="59055" y="76200"/>
                  <a:pt x="38100" y="76200"/>
                </a:cubicBezTo>
                <a:cubicBezTo>
                  <a:pt x="17018" y="76200"/>
                  <a:pt x="0" y="59182"/>
                  <a:pt x="0" y="38100"/>
                </a:cubicBezTo>
                <a:moveTo>
                  <a:pt x="76200" y="3736721"/>
                </a:moveTo>
                <a:cubicBezTo>
                  <a:pt x="76200" y="3757765"/>
                  <a:pt x="59055" y="3774821"/>
                  <a:pt x="38100" y="3774821"/>
                </a:cubicBezTo>
                <a:cubicBezTo>
                  <a:pt x="17018" y="3774821"/>
                  <a:pt x="0" y="3757765"/>
                  <a:pt x="0" y="3736721"/>
                </a:cubicBezTo>
                <a:cubicBezTo>
                  <a:pt x="0" y="3715677"/>
                  <a:pt x="17018" y="3698621"/>
                  <a:pt x="38100" y="3698621"/>
                </a:cubicBezTo>
                <a:cubicBezTo>
                  <a:pt x="59055" y="3698621"/>
                  <a:pt x="76200" y="3715677"/>
                  <a:pt x="76200" y="3736721"/>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30073" y="411226"/>
            <a:ext cx="2850846"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3. How many employees earn above </a:t>
            </a:r>
          </a:p>
          <a:p>
            <a:pPr>
              <a:lnSpc>
                <a:spcPts val="1400"/>
              </a:lnSpc>
              <a:spcBef>
                <a:spcPts val="0"/>
              </a:spcBef>
            </a:pPr>
            <a:r>
              <a:rPr lang="en-US" altLang="zh-CN" sz="1200" b="1" i="0" dirty="0">
                <a:solidFill>
                  <a:srgbClr val="5C5C5F"/>
                </a:solidFill>
                <a:latin typeface="6 Bold" pitchFamily="18" charset="0"/>
                <a:cs typeface="6 Bold" pitchFamily="18" charset="0"/>
              </a:rPr>
              <a:t>80,000?</a:t>
            </a:r>
          </a:p>
        </p:txBody>
      </p:sp>
      <p:pic>
        <p:nvPicPr>
          <p:cNvPr id="25" name="Picture 25"/>
          <p:cNvPicPr>
            <a:picLocks/>
          </p:cNvPicPr>
          <p:nvPr/>
        </p:nvPicPr>
        <p:blipFill>
          <a:blip r:embed="rId2" cstate="print"/>
          <a:srcRect/>
          <a:stretch>
            <a:fillRect/>
          </a:stretch>
        </p:blipFill>
        <p:spPr bwMode="auto">
          <a:xfrm>
            <a:off x="342900" y="914400"/>
            <a:ext cx="3771900" cy="3835400"/>
          </a:xfrm>
          <a:prstGeom prst="rect">
            <a:avLst/>
          </a:prstGeom>
          <a:noFill/>
        </p:spPr>
      </p:pic>
      <p:sp>
        <p:nvSpPr>
          <p:cNvPr id="26" name="TextBox 26"/>
          <p:cNvSpPr txBox="1"/>
          <p:nvPr/>
        </p:nvSpPr>
        <p:spPr>
          <a:xfrm>
            <a:off x="4569587" y="999368"/>
            <a:ext cx="666800"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a:t>
            </a:r>
          </a:p>
        </p:txBody>
      </p:sp>
      <p:sp>
        <p:nvSpPr>
          <p:cNvPr id="27" name="Freeform 27"/>
          <p:cNvSpPr/>
          <p:nvPr/>
        </p:nvSpPr>
        <p:spPr>
          <a:xfrm>
            <a:off x="4568825" y="1134745"/>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8" name="TextBox 28"/>
          <p:cNvSpPr txBox="1"/>
          <p:nvPr/>
        </p:nvSpPr>
        <p:spPr>
          <a:xfrm>
            <a:off x="5107559" y="999368"/>
            <a:ext cx="203352"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s</a:t>
            </a:r>
          </a:p>
        </p:txBody>
      </p:sp>
      <p:sp>
        <p:nvSpPr>
          <p:cNvPr id="29" name="TextBox 29"/>
          <p:cNvSpPr txBox="1"/>
          <p:nvPr/>
        </p:nvSpPr>
        <p:spPr>
          <a:xfrm>
            <a:off x="4569587" y="1208025"/>
            <a:ext cx="4017622" cy="5588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26 employees (43.3%) earn above $80,000 annually</a:t>
            </a:r>
          </a:p>
          <a:p>
            <a:pPr>
              <a:lnSpc>
                <a:spcPts val="1600"/>
              </a:lnSpc>
              <a:spcBef>
                <a:spcPts val="0"/>
              </a:spcBef>
            </a:pPr>
            <a:r>
              <a:rPr lang="en-US" altLang="zh-CN" sz="1202" b="0" i="0" dirty="0">
                <a:solidFill>
                  <a:srgbClr val="000000"/>
                </a:solidFill>
                <a:latin typeface="Arial" pitchFamily="18" charset="0"/>
                <a:cs typeface="Arial" pitchFamily="18" charset="0"/>
              </a:rPr>
              <a:t>•</a:t>
            </a:r>
            <a:r>
              <a:rPr lang="en-US" altLang="zh-CN" sz="1202" b="1" i="0" dirty="0">
                <a:solidFill>
                  <a:srgbClr val="5C5C5F"/>
                </a:solidFill>
                <a:latin typeface="2 Bold" pitchFamily="18" charset="0"/>
                <a:cs typeface="2 Bold" pitchFamily="18" charset="0"/>
              </a:rPr>
              <a:t>   This indicates a substantial investment in higher</a:t>
            </a:r>
          </a:p>
          <a:p>
            <a:pPr marL="172212">
              <a:lnSpc>
                <a:spcPts val="1600"/>
              </a:lnSpc>
              <a:spcBef>
                <a:spcPts val="0"/>
              </a:spcBef>
            </a:pPr>
            <a:r>
              <a:rPr lang="en-US" altLang="zh-CN" sz="1200" b="1" i="0" dirty="0">
                <a:solidFill>
                  <a:srgbClr val="5C5C5F"/>
                </a:solidFill>
                <a:latin typeface="2 Bold" pitchFamily="18" charset="0"/>
                <a:cs typeface="2 Bold" pitchFamily="18" charset="0"/>
              </a:rPr>
              <a:t>compensated roles</a:t>
            </a:r>
          </a:p>
        </p:txBody>
      </p:sp>
      <p:sp>
        <p:nvSpPr>
          <p:cNvPr id="30" name="TextBox 30"/>
          <p:cNvSpPr txBox="1"/>
          <p:nvPr/>
        </p:nvSpPr>
        <p:spPr>
          <a:xfrm>
            <a:off x="4591812" y="2370969"/>
            <a:ext cx="2303730"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1" name="Freeform 31"/>
          <p:cNvSpPr/>
          <p:nvPr/>
        </p:nvSpPr>
        <p:spPr>
          <a:xfrm>
            <a:off x="4591177" y="2505837"/>
            <a:ext cx="2176272" cy="6096"/>
          </a:xfrm>
          <a:custGeom>
            <a:avLst/>
            <a:gdLst>
              <a:gd name="connsiteX0" fmla="*/ 0 w 2176272"/>
              <a:gd name="connsiteY0" fmla="*/ 0 h 6096"/>
              <a:gd name="connsiteX1" fmla="*/ 725424 w 2176272"/>
              <a:gd name="connsiteY1" fmla="*/ 0 h 6096"/>
              <a:gd name="connsiteX2" fmla="*/ 1450848 w 2176272"/>
              <a:gd name="connsiteY2" fmla="*/ 0 h 6096"/>
              <a:gd name="connsiteX3" fmla="*/ 2176272 w 2176272"/>
              <a:gd name="connsiteY3" fmla="*/ 0 h 6096"/>
              <a:gd name="connsiteX4" fmla="*/ 2176272 w 2176272"/>
              <a:gd name="connsiteY4" fmla="*/ 6096 h 6096"/>
              <a:gd name="connsiteX5" fmla="*/ 1450848 w 2176272"/>
              <a:gd name="connsiteY5" fmla="*/ 6096 h 6096"/>
              <a:gd name="connsiteX6" fmla="*/ 725424 w 2176272"/>
              <a:gd name="connsiteY6" fmla="*/ 6096 h 6096"/>
              <a:gd name="connsiteX7" fmla="*/ 0 w 2176272"/>
              <a:gd name="connsiteY7"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176272" h="6096">
                <a:moveTo>
                  <a:pt x="0" y="0"/>
                </a:moveTo>
                <a:lnTo>
                  <a:pt x="725424" y="0"/>
                </a:lnTo>
                <a:lnTo>
                  <a:pt x="1450848" y="0"/>
                </a:lnTo>
                <a:lnTo>
                  <a:pt x="2176272" y="0"/>
                </a:lnTo>
                <a:lnTo>
                  <a:pt x="2176272" y="6096"/>
                </a:lnTo>
                <a:lnTo>
                  <a:pt x="1450848" y="6096"/>
                </a:lnTo>
                <a:lnTo>
                  <a:pt x="725424"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2" name="TextBox 32"/>
          <p:cNvSpPr txBox="1"/>
          <p:nvPr/>
        </p:nvSpPr>
        <p:spPr>
          <a:xfrm>
            <a:off x="4591812" y="2579625"/>
            <a:ext cx="4070961" cy="355600"/>
          </a:xfrm>
          <a:prstGeom prst="rect">
            <a:avLst/>
          </a:prstGeom>
          <a:noFill/>
        </p:spPr>
        <p:txBody>
          <a:bodyPr wrap="none" lIns="0" tIns="0" rIns="0" bIns="0" rtlCol="0">
            <a:spAutoFit/>
          </a:bodyPr>
          <a:lstStyle/>
          <a:p>
            <a:pPr>
              <a:lnSpc>
                <a:spcPts val="1200"/>
              </a:lnSpc>
              <a:spcBef>
                <a:spcPts val="0"/>
              </a:spcBef>
            </a:pPr>
            <a:r>
              <a:rPr lang="en-US" altLang="zh-CN" sz="1200" b="0" i="0" dirty="0">
                <a:solidFill>
                  <a:srgbClr val="000000"/>
                </a:solidFill>
                <a:latin typeface="Arial" pitchFamily="18" charset="0"/>
                <a:cs typeface="Arial" pitchFamily="18" charset="0"/>
              </a:rPr>
              <a:t>•</a:t>
            </a:r>
            <a:r>
              <a:rPr lang="en-US" altLang="zh-CN" sz="1200" b="1" i="0" dirty="0">
                <a:solidFill>
                  <a:srgbClr val="5C5C5F"/>
                </a:solidFill>
                <a:latin typeface="2 Bold" pitchFamily="18" charset="0"/>
                <a:cs typeface="2 Bold" pitchFamily="18" charset="0"/>
              </a:rPr>
              <a:t>   Develop higher earning growth opportunities for all </a:t>
            </a:r>
          </a:p>
          <a:p>
            <a:pPr marL="172212">
              <a:lnSpc>
                <a:spcPts val="1600"/>
              </a:lnSpc>
              <a:spcBef>
                <a:spcPts val="0"/>
              </a:spcBef>
            </a:pPr>
            <a:r>
              <a:rPr lang="en-US" altLang="zh-CN" sz="1200" b="1" i="0" dirty="0">
                <a:solidFill>
                  <a:srgbClr val="5C5C5F"/>
                </a:solidFill>
                <a:latin typeface="2 Bold" pitchFamily="18" charset="0"/>
                <a:cs typeface="2 Bold" pitchFamily="18" charset="0"/>
              </a:rPr>
              <a:t>employees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23" y="-84569"/>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768717" y="485902"/>
            <a:ext cx="973735" cy="228600"/>
          </a:xfrm>
          <a:prstGeom prst="rect">
            <a:avLst/>
          </a:prstGeom>
          <a:noFill/>
        </p:spPr>
        <p:txBody>
          <a:bodyPr wrap="none" lIns="0" tIns="0" rIns="0" bIns="0" rtlCol="0">
            <a:spAutoFit/>
          </a:bodyPr>
          <a:lstStyle/>
          <a:p>
            <a:pPr>
              <a:lnSpc>
                <a:spcPts val="1800"/>
              </a:lnSpc>
              <a:spcBef>
                <a:spcPts val="0"/>
              </a:spcBef>
            </a:pPr>
            <a:r>
              <a:rPr lang="en-US" altLang="zh-CN" sz="1800" b="1" i="0" dirty="0">
                <a:solidFill>
                  <a:srgbClr val="5C5C5F"/>
                </a:solidFill>
                <a:latin typeface="6 Bold" pitchFamily="18" charset="0"/>
                <a:cs typeface="6 Bold" pitchFamily="18" charset="0"/>
              </a:rPr>
              <a:t>Insights</a:t>
            </a:r>
          </a:p>
        </p:txBody>
      </p:sp>
      <p:sp>
        <p:nvSpPr>
          <p:cNvPr id="10" name="TextBox 10"/>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19</a:t>
            </a:r>
          </a:p>
        </p:txBody>
      </p:sp>
      <p:sp>
        <p:nvSpPr>
          <p:cNvPr id="11" name="Freeform 11"/>
          <p:cNvSpPr/>
          <p:nvPr/>
        </p:nvSpPr>
        <p:spPr>
          <a:xfrm>
            <a:off x="8671179" y="441960"/>
            <a:ext cx="240538" cy="354203"/>
          </a:xfrm>
          <a:custGeom>
            <a:avLst/>
            <a:gdLst>
              <a:gd name="connsiteX0" fmla="*/ 120269 w 240538"/>
              <a:gd name="connsiteY0" fmla="*/ 93218 h 354203"/>
              <a:gd name="connsiteX1" fmla="*/ 124840 w 240538"/>
              <a:gd name="connsiteY1" fmla="*/ 99314 h 354203"/>
              <a:gd name="connsiteX2" fmla="*/ 120269 w 240538"/>
              <a:gd name="connsiteY2" fmla="*/ 100076 h 354203"/>
              <a:gd name="connsiteX3" fmla="*/ 116077 w 240538"/>
              <a:gd name="connsiteY3" fmla="*/ 99314 h 354203"/>
              <a:gd name="connsiteX4" fmla="*/ 120269 w 240538"/>
              <a:gd name="connsiteY4" fmla="*/ 93218 h 354203"/>
              <a:gd name="connsiteX6" fmla="*/ 132842 w 240538"/>
              <a:gd name="connsiteY6" fmla="*/ 111506 h 354203"/>
              <a:gd name="connsiteX7" fmla="*/ 137033 w 240538"/>
              <a:gd name="connsiteY7" fmla="*/ 117856 h 354203"/>
              <a:gd name="connsiteX8" fmla="*/ 120142 w 240538"/>
              <a:gd name="connsiteY8" fmla="*/ 120142 h 354203"/>
              <a:gd name="connsiteX9" fmla="*/ 103251 w 240538"/>
              <a:gd name="connsiteY9" fmla="*/ 117856 h 354203"/>
              <a:gd name="connsiteX10" fmla="*/ 107823 w 240538"/>
              <a:gd name="connsiteY10" fmla="*/ 111506 h 354203"/>
              <a:gd name="connsiteX11" fmla="*/ 120269 w 240538"/>
              <a:gd name="connsiteY11" fmla="*/ 113665 h 354203"/>
              <a:gd name="connsiteX12" fmla="*/ 132842 w 240538"/>
              <a:gd name="connsiteY12" fmla="*/ 111506 h 354203"/>
              <a:gd name="connsiteX14" fmla="*/ 99440 w 240538"/>
              <a:gd name="connsiteY14" fmla="*/ 131572 h 354203"/>
              <a:gd name="connsiteX15" fmla="*/ 113411 w 240538"/>
              <a:gd name="connsiteY15" fmla="*/ 134239 h 354203"/>
              <a:gd name="connsiteX16" fmla="*/ 113411 w 240538"/>
              <a:gd name="connsiteY16" fmla="*/ 258191 h 354203"/>
              <a:gd name="connsiteX17" fmla="*/ 99440 w 240538"/>
              <a:gd name="connsiteY17" fmla="*/ 258191 h 354203"/>
              <a:gd name="connsiteX18" fmla="*/ 99440 w 240538"/>
              <a:gd name="connsiteY18" fmla="*/ 131572 h 354203"/>
              <a:gd name="connsiteX20" fmla="*/ 141097 w 240538"/>
              <a:gd name="connsiteY20" fmla="*/ 131572 h 354203"/>
              <a:gd name="connsiteX21" fmla="*/ 141097 w 240538"/>
              <a:gd name="connsiteY21" fmla="*/ 258191 h 354203"/>
              <a:gd name="connsiteX22" fmla="*/ 127508 w 240538"/>
              <a:gd name="connsiteY22" fmla="*/ 258191 h 354203"/>
              <a:gd name="connsiteX23" fmla="*/ 127508 w 240538"/>
              <a:gd name="connsiteY23" fmla="*/ 134239 h 354203"/>
              <a:gd name="connsiteX24" fmla="*/ 141097 w 240538"/>
              <a:gd name="connsiteY24" fmla="*/ 131572 h 354203"/>
              <a:gd name="connsiteX26" fmla="*/ 121031 w 240538"/>
              <a:gd name="connsiteY26" fmla="*/ 13970 h 354203"/>
              <a:gd name="connsiteX27" fmla="*/ 195072 w 240538"/>
              <a:gd name="connsiteY27" fmla="*/ 44323 h 354203"/>
              <a:gd name="connsiteX28" fmla="*/ 226060 w 240538"/>
              <a:gd name="connsiteY28" fmla="*/ 119380 h 354203"/>
              <a:gd name="connsiteX29" fmla="*/ 196214 w 240538"/>
              <a:gd name="connsiteY29" fmla="*/ 193421 h 354203"/>
              <a:gd name="connsiteX30" fmla="*/ 167005 w 240538"/>
              <a:gd name="connsiteY30" fmla="*/ 258191 h 354203"/>
              <a:gd name="connsiteX31" fmla="*/ 155575 w 240538"/>
              <a:gd name="connsiteY31" fmla="*/ 258191 h 354203"/>
              <a:gd name="connsiteX32" fmla="*/ 155575 w 240538"/>
              <a:gd name="connsiteY32" fmla="*/ 121666 h 354203"/>
              <a:gd name="connsiteX33" fmla="*/ 154051 w 240538"/>
              <a:gd name="connsiteY33" fmla="*/ 117856 h 354203"/>
              <a:gd name="connsiteX34" fmla="*/ 126746 w 240538"/>
              <a:gd name="connsiteY34" fmla="*/ 76581 h 354203"/>
              <a:gd name="connsiteX35" fmla="*/ 121031 w 240538"/>
              <a:gd name="connsiteY35" fmla="*/ 73533 h 354203"/>
              <a:gd name="connsiteX36" fmla="*/ 115315 w 240538"/>
              <a:gd name="connsiteY36" fmla="*/ 76581 h 354203"/>
              <a:gd name="connsiteX37" fmla="*/ 87630 w 240538"/>
              <a:gd name="connsiteY37" fmla="*/ 117856 h 354203"/>
              <a:gd name="connsiteX38" fmla="*/ 86106 w 240538"/>
              <a:gd name="connsiteY38" fmla="*/ 121666 h 354203"/>
              <a:gd name="connsiteX39" fmla="*/ 86106 w 240538"/>
              <a:gd name="connsiteY39" fmla="*/ 258191 h 354203"/>
              <a:gd name="connsiteX40" fmla="*/ 74802 w 240538"/>
              <a:gd name="connsiteY40" fmla="*/ 258191 h 354203"/>
              <a:gd name="connsiteX41" fmla="*/ 45593 w 240538"/>
              <a:gd name="connsiteY41" fmla="*/ 193421 h 354203"/>
              <a:gd name="connsiteX42" fmla="*/ 15621 w 240538"/>
              <a:gd name="connsiteY42" fmla="*/ 121285 h 354203"/>
              <a:gd name="connsiteX43" fmla="*/ 45593 w 240538"/>
              <a:gd name="connsiteY43" fmla="*/ 46228 h 354203"/>
              <a:gd name="connsiteX44" fmla="*/ 119507 w 240538"/>
              <a:gd name="connsiteY44" fmla="*/ 13970 h 354203"/>
              <a:gd name="connsiteX46" fmla="*/ 166624 w 240538"/>
              <a:gd name="connsiteY46" fmla="*/ 272669 h 354203"/>
              <a:gd name="connsiteX47" fmla="*/ 166624 w 240538"/>
              <a:gd name="connsiteY47" fmla="*/ 281432 h 354203"/>
              <a:gd name="connsiteX48" fmla="*/ 166624 w 240538"/>
              <a:gd name="connsiteY48" fmla="*/ 282956 h 354203"/>
              <a:gd name="connsiteX49" fmla="*/ 74422 w 240538"/>
              <a:gd name="connsiteY49" fmla="*/ 282956 h 354203"/>
              <a:gd name="connsiteX50" fmla="*/ 74422 w 240538"/>
              <a:gd name="connsiteY50" fmla="*/ 281432 h 354203"/>
              <a:gd name="connsiteX51" fmla="*/ 74422 w 240538"/>
              <a:gd name="connsiteY51" fmla="*/ 272669 h 354203"/>
              <a:gd name="connsiteX53" fmla="*/ 163195 w 240538"/>
              <a:gd name="connsiteY53" fmla="*/ 296545 h 354203"/>
              <a:gd name="connsiteX54" fmla="*/ 128651 w 240538"/>
              <a:gd name="connsiteY54" fmla="*/ 319278 h 354203"/>
              <a:gd name="connsiteX55" fmla="*/ 112268 w 240538"/>
              <a:gd name="connsiteY55" fmla="*/ 319278 h 354203"/>
              <a:gd name="connsiteX56" fmla="*/ 77851 w 240538"/>
              <a:gd name="connsiteY56" fmla="*/ 296545 h 354203"/>
              <a:gd name="connsiteX58" fmla="*/ 129032 w 240538"/>
              <a:gd name="connsiteY58" fmla="*/ 333756 h 354203"/>
              <a:gd name="connsiteX59" fmla="*/ 131699 w 240538"/>
              <a:gd name="connsiteY59" fmla="*/ 334137 h 354203"/>
              <a:gd name="connsiteX60" fmla="*/ 125984 w 240538"/>
              <a:gd name="connsiteY60" fmla="*/ 339725 h 354203"/>
              <a:gd name="connsiteX61" fmla="*/ 115315 w 240538"/>
              <a:gd name="connsiteY61" fmla="*/ 339725 h 354203"/>
              <a:gd name="connsiteX62" fmla="*/ 109727 w 240538"/>
              <a:gd name="connsiteY62" fmla="*/ 334137 h 354203"/>
              <a:gd name="connsiteX63" fmla="*/ 109727 w 240538"/>
              <a:gd name="connsiteY63" fmla="*/ 333756 h 354203"/>
              <a:gd name="connsiteX65" fmla="*/ 119888 w 240538"/>
              <a:gd name="connsiteY65" fmla="*/ 0 h 354203"/>
              <a:gd name="connsiteX66" fmla="*/ 118364 w 240538"/>
              <a:gd name="connsiteY66" fmla="*/ 0 h 354203"/>
              <a:gd name="connsiteX67" fmla="*/ 381 w 240538"/>
              <a:gd name="connsiteY67" fmla="*/ 121285 h 354203"/>
              <a:gd name="connsiteX68" fmla="*/ 34163 w 240538"/>
              <a:gd name="connsiteY68" fmla="*/ 202819 h 354203"/>
              <a:gd name="connsiteX69" fmla="*/ 59563 w 240538"/>
              <a:gd name="connsiteY69" fmla="*/ 265430 h 354203"/>
              <a:gd name="connsiteX70" fmla="*/ 59563 w 240538"/>
              <a:gd name="connsiteY70" fmla="*/ 281432 h 354203"/>
              <a:gd name="connsiteX71" fmla="*/ 94488 w 240538"/>
              <a:gd name="connsiteY71" fmla="*/ 330708 h 354203"/>
              <a:gd name="connsiteX72" fmla="*/ 94488 w 240538"/>
              <a:gd name="connsiteY72" fmla="*/ 334137 h 354203"/>
              <a:gd name="connsiteX73" fmla="*/ 114173 w 240538"/>
              <a:gd name="connsiteY73" fmla="*/ 354203 h 354203"/>
              <a:gd name="connsiteX74" fmla="*/ 125222 w 240538"/>
              <a:gd name="connsiteY74" fmla="*/ 354203 h 354203"/>
              <a:gd name="connsiteX75" fmla="*/ 144907 w 240538"/>
              <a:gd name="connsiteY75" fmla="*/ 334137 h 354203"/>
              <a:gd name="connsiteX76" fmla="*/ 144907 w 240538"/>
              <a:gd name="connsiteY76" fmla="*/ 330708 h 354203"/>
              <a:gd name="connsiteX77" fmla="*/ 179832 w 240538"/>
              <a:gd name="connsiteY77" fmla="*/ 281432 h 354203"/>
              <a:gd name="connsiteX78" fmla="*/ 179832 w 240538"/>
              <a:gd name="connsiteY78" fmla="*/ 265430 h 354203"/>
              <a:gd name="connsiteX79" fmla="*/ 205232 w 240538"/>
              <a:gd name="connsiteY79" fmla="*/ 203200 h 354203"/>
              <a:gd name="connsiteX80" fmla="*/ 239014 w 240538"/>
              <a:gd name="connsiteY80" fmla="*/ 119761 h 354203"/>
              <a:gd name="connsiteX81" fmla="*/ 204470 w 240538"/>
              <a:gd name="connsiteY81" fmla="*/ 34417 h 354203"/>
              <a:gd name="connsiteX82" fmla="*/ 119888 w 240538"/>
              <a:gd name="connsiteY82" fmla="*/ 0 h 354203"/>
            </a:gdLst>
            <a:ahLst/>
            <a:cxnLst>
              <a:cxn ang="0">
                <a:pos x="connsiteX0" y="connsiteY0"/>
              </a:cxn>
              <a:cxn ang="1">
                <a:pos x="connsiteX1" y="connsiteY1"/>
              </a:cxn>
              <a:cxn ang="2">
                <a:pos x="connsiteX2" y="connsiteY2"/>
              </a:cxn>
              <a:cxn ang="3">
                <a:pos x="connsiteX3" y="connsiteY3"/>
              </a:cxn>
              <a:cxn ang="4">
                <a:pos x="connsiteX4" y="connsiteY4"/>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4">
                <a:pos x="connsiteX14" y="connsiteY14"/>
              </a:cxn>
              <a:cxn ang="15">
                <a:pos x="connsiteX15" y="connsiteY15"/>
              </a:cxn>
              <a:cxn ang="16">
                <a:pos x="connsiteX16" y="connsiteY16"/>
              </a:cxn>
              <a:cxn ang="17">
                <a:pos x="connsiteX17" y="connsiteY17"/>
              </a:cxn>
              <a:cxn ang="18">
                <a:pos x="connsiteX18" y="connsiteY18"/>
              </a:cxn>
              <a:cxn ang="20">
                <a:pos x="connsiteX20" y="connsiteY20"/>
              </a:cxn>
              <a:cxn ang="21">
                <a:pos x="connsiteX21" y="connsiteY21"/>
              </a:cxn>
              <a:cxn ang="22">
                <a:pos x="connsiteX22" y="connsiteY22"/>
              </a:cxn>
              <a:cxn ang="23">
                <a:pos x="connsiteX23" y="connsiteY23"/>
              </a:cxn>
              <a:cxn ang="24">
                <a:pos x="connsiteX24" y="connsiteY24"/>
              </a:cxn>
              <a:cxn ang="26">
                <a:pos x="connsiteX26" y="connsiteY26"/>
              </a:cxn>
              <a:cxn ang="27">
                <a:pos x="connsiteX27" y="connsiteY27"/>
              </a:cxn>
              <a:cxn ang="28">
                <a:pos x="connsiteX28" y="connsiteY28"/>
              </a:cxn>
              <a:cxn ang="29">
                <a:pos x="connsiteX29" y="connsiteY29"/>
              </a:cxn>
              <a:cxn ang="30">
                <a:pos x="connsiteX30" y="connsiteY30"/>
              </a:cxn>
              <a:cxn ang="31">
                <a:pos x="connsiteX31" y="connsiteY31"/>
              </a:cxn>
              <a:cxn ang="32">
                <a:pos x="connsiteX32" y="connsiteY32"/>
              </a:cxn>
              <a:cxn ang="33">
                <a:pos x="connsiteX33" y="connsiteY33"/>
              </a:cxn>
              <a:cxn ang="34">
                <a:pos x="connsiteX34" y="connsiteY34"/>
              </a:cxn>
              <a:cxn ang="35">
                <a:pos x="connsiteX35" y="connsiteY35"/>
              </a:cxn>
              <a:cxn ang="36">
                <a:pos x="connsiteX36" y="connsiteY36"/>
              </a:cxn>
              <a:cxn ang="37">
                <a:pos x="connsiteX37" y="connsiteY37"/>
              </a:cxn>
              <a:cxn ang="38">
                <a:pos x="connsiteX38" y="connsiteY38"/>
              </a:cxn>
              <a:cxn ang="39">
                <a:pos x="connsiteX39" y="connsiteY39"/>
              </a:cxn>
              <a:cxn ang="40">
                <a:pos x="connsiteX40" y="connsiteY40"/>
              </a:cxn>
              <a:cxn ang="41">
                <a:pos x="connsiteX41" y="connsiteY41"/>
              </a:cxn>
              <a:cxn ang="42">
                <a:pos x="connsiteX42" y="connsiteY42"/>
              </a:cxn>
              <a:cxn ang="43">
                <a:pos x="connsiteX43" y="connsiteY43"/>
              </a:cxn>
              <a:cxn ang="44">
                <a:pos x="connsiteX44" y="connsiteY44"/>
              </a:cxn>
              <a:cxn ang="46">
                <a:pos x="connsiteX46" y="connsiteY46"/>
              </a:cxn>
              <a:cxn ang="47">
                <a:pos x="connsiteX47" y="connsiteY47"/>
              </a:cxn>
              <a:cxn ang="48">
                <a:pos x="connsiteX48" y="connsiteY48"/>
              </a:cxn>
              <a:cxn ang="49">
                <a:pos x="connsiteX49" y="connsiteY49"/>
              </a:cxn>
              <a:cxn ang="50">
                <a:pos x="connsiteX50" y="connsiteY50"/>
              </a:cxn>
              <a:cxn ang="51">
                <a:pos x="connsiteX51" y="connsiteY51"/>
              </a:cxn>
              <a:cxn ang="53">
                <a:pos x="connsiteX53" y="connsiteY53"/>
              </a:cxn>
              <a:cxn ang="54">
                <a:pos x="connsiteX54" y="connsiteY54"/>
              </a:cxn>
              <a:cxn ang="55">
                <a:pos x="connsiteX55" y="connsiteY55"/>
              </a:cxn>
              <a:cxn ang="56">
                <a:pos x="connsiteX56" y="connsiteY56"/>
              </a:cxn>
              <a:cxn ang="58">
                <a:pos x="connsiteX58" y="connsiteY58"/>
              </a:cxn>
              <a:cxn ang="59">
                <a:pos x="connsiteX59" y="connsiteY59"/>
              </a:cxn>
              <a:cxn ang="60">
                <a:pos x="connsiteX60" y="connsiteY60"/>
              </a:cxn>
              <a:cxn ang="61">
                <a:pos x="connsiteX61" y="connsiteY61"/>
              </a:cxn>
              <a:cxn ang="62">
                <a:pos x="connsiteX62" y="connsiteY62"/>
              </a:cxn>
              <a:cxn ang="63">
                <a:pos x="connsiteX63" y="connsiteY63"/>
              </a:cxn>
              <a:cxn ang="65">
                <a:pos x="connsiteX65" y="connsiteY65"/>
              </a:cxn>
              <a:cxn ang="66">
                <a:pos x="connsiteX66" y="connsiteY66"/>
              </a:cxn>
              <a:cxn ang="67">
                <a:pos x="connsiteX67" y="connsiteY67"/>
              </a:cxn>
              <a:cxn ang="68">
                <a:pos x="connsiteX68" y="connsiteY68"/>
              </a:cxn>
              <a:cxn ang="69">
                <a:pos x="connsiteX69" y="connsiteY69"/>
              </a:cxn>
              <a:cxn ang="70">
                <a:pos x="connsiteX70" y="connsiteY70"/>
              </a:cxn>
              <a:cxn ang="71">
                <a:pos x="connsiteX71" y="connsiteY71"/>
              </a:cxn>
              <a:cxn ang="72">
                <a:pos x="connsiteX72" y="connsiteY72"/>
              </a:cxn>
              <a:cxn ang="73">
                <a:pos x="connsiteX73" y="connsiteY73"/>
              </a:cxn>
              <a:cxn ang="74">
                <a:pos x="connsiteX74" y="connsiteY74"/>
              </a:cxn>
              <a:cxn ang="75">
                <a:pos x="connsiteX75" y="connsiteY75"/>
              </a:cxn>
              <a:cxn ang="76">
                <a:pos x="connsiteX76" y="connsiteY76"/>
              </a:cxn>
              <a:cxn ang="77">
                <a:pos x="connsiteX77" y="connsiteY77"/>
              </a:cxn>
              <a:cxn ang="78">
                <a:pos x="connsiteX78" y="connsiteY78"/>
              </a:cxn>
              <a:cxn ang="79">
                <a:pos x="connsiteX79" y="connsiteY79"/>
              </a:cxn>
              <a:cxn ang="80">
                <a:pos x="connsiteX80" y="connsiteY80"/>
              </a:cxn>
              <a:cxn ang="81">
                <a:pos x="connsiteX81" y="connsiteY81"/>
              </a:cxn>
              <a:cxn ang="82">
                <a:pos x="connsiteX82" y="connsiteY82"/>
              </a:cxn>
            </a:cxnLst>
            <a:rect l="l" t="t" r="r" b="b"/>
            <a:pathLst>
              <a:path w="240538" h="354203">
                <a:moveTo>
                  <a:pt x="120269" y="93218"/>
                </a:moveTo>
                <a:lnTo>
                  <a:pt x="124840" y="99314"/>
                </a:lnTo>
                <a:cubicBezTo>
                  <a:pt x="123317" y="100076"/>
                  <a:pt x="121793" y="100076"/>
                  <a:pt x="120269" y="100076"/>
                </a:cubicBezTo>
                <a:cubicBezTo>
                  <a:pt x="119126" y="99695"/>
                  <a:pt x="117602" y="99314"/>
                  <a:pt x="116077" y="99314"/>
                </a:cubicBezTo>
                <a:lnTo>
                  <a:pt x="120269" y="93218"/>
                </a:lnTo>
                <a:moveTo>
                  <a:pt x="132842" y="111506"/>
                </a:moveTo>
                <a:lnTo>
                  <a:pt x="137033" y="117856"/>
                </a:lnTo>
                <a:cubicBezTo>
                  <a:pt x="131445" y="119380"/>
                  <a:pt x="125730" y="120142"/>
                  <a:pt x="120142" y="120142"/>
                </a:cubicBezTo>
                <a:cubicBezTo>
                  <a:pt x="114427" y="120142"/>
                  <a:pt x="108712" y="119380"/>
                  <a:pt x="103251" y="117856"/>
                </a:cubicBezTo>
                <a:lnTo>
                  <a:pt x="107823" y="111506"/>
                </a:lnTo>
                <a:cubicBezTo>
                  <a:pt x="111887" y="113284"/>
                  <a:pt x="116077" y="113665"/>
                  <a:pt x="120269" y="113665"/>
                </a:cubicBezTo>
                <a:cubicBezTo>
                  <a:pt x="124840" y="113665"/>
                  <a:pt x="129032" y="112649"/>
                  <a:pt x="132842" y="111506"/>
                </a:cubicBezTo>
                <a:moveTo>
                  <a:pt x="99440" y="131572"/>
                </a:moveTo>
                <a:cubicBezTo>
                  <a:pt x="104394" y="133096"/>
                  <a:pt x="108965" y="133477"/>
                  <a:pt x="113411" y="134239"/>
                </a:cubicBezTo>
                <a:lnTo>
                  <a:pt x="113411" y="258191"/>
                </a:lnTo>
                <a:lnTo>
                  <a:pt x="99440" y="258191"/>
                </a:lnTo>
                <a:lnTo>
                  <a:pt x="99440" y="131572"/>
                </a:lnTo>
                <a:moveTo>
                  <a:pt x="141097" y="131572"/>
                </a:moveTo>
                <a:lnTo>
                  <a:pt x="141097" y="258191"/>
                </a:lnTo>
                <a:lnTo>
                  <a:pt x="127508" y="258191"/>
                </a:lnTo>
                <a:lnTo>
                  <a:pt x="127508" y="134239"/>
                </a:lnTo>
                <a:cubicBezTo>
                  <a:pt x="132461" y="133477"/>
                  <a:pt x="136525" y="133096"/>
                  <a:pt x="141097" y="131572"/>
                </a:cubicBezTo>
                <a:moveTo>
                  <a:pt x="121031" y="13970"/>
                </a:moveTo>
                <a:cubicBezTo>
                  <a:pt x="148717" y="13970"/>
                  <a:pt x="174878" y="25019"/>
                  <a:pt x="195072" y="44323"/>
                </a:cubicBezTo>
                <a:cubicBezTo>
                  <a:pt x="215138" y="64389"/>
                  <a:pt x="226060" y="90932"/>
                  <a:pt x="226060" y="119380"/>
                </a:cubicBezTo>
                <a:cubicBezTo>
                  <a:pt x="226060" y="147066"/>
                  <a:pt x="215138" y="173355"/>
                  <a:pt x="196214" y="193421"/>
                </a:cubicBezTo>
                <a:cubicBezTo>
                  <a:pt x="178689" y="211201"/>
                  <a:pt x="168783" y="233934"/>
                  <a:pt x="167005" y="258191"/>
                </a:cubicBezTo>
                <a:lnTo>
                  <a:pt x="155575" y="258191"/>
                </a:lnTo>
                <a:lnTo>
                  <a:pt x="155575" y="121666"/>
                </a:lnTo>
                <a:cubicBezTo>
                  <a:pt x="155575" y="120142"/>
                  <a:pt x="155194" y="118999"/>
                  <a:pt x="154051" y="117856"/>
                </a:cubicBezTo>
                <a:lnTo>
                  <a:pt x="126746" y="76581"/>
                </a:lnTo>
                <a:cubicBezTo>
                  <a:pt x="125222" y="74676"/>
                  <a:pt x="123317" y="73533"/>
                  <a:pt x="121031" y="73533"/>
                </a:cubicBezTo>
                <a:cubicBezTo>
                  <a:pt x="118364" y="73533"/>
                  <a:pt x="116077" y="74295"/>
                  <a:pt x="115315" y="76581"/>
                </a:cubicBezTo>
                <a:lnTo>
                  <a:pt x="87630" y="117856"/>
                </a:lnTo>
                <a:cubicBezTo>
                  <a:pt x="86868" y="118999"/>
                  <a:pt x="86106" y="120142"/>
                  <a:pt x="86106" y="121666"/>
                </a:cubicBezTo>
                <a:lnTo>
                  <a:pt x="86106" y="258191"/>
                </a:lnTo>
                <a:lnTo>
                  <a:pt x="74802" y="258191"/>
                </a:lnTo>
                <a:cubicBezTo>
                  <a:pt x="72898" y="233934"/>
                  <a:pt x="62992" y="211201"/>
                  <a:pt x="45593" y="193421"/>
                </a:cubicBezTo>
                <a:cubicBezTo>
                  <a:pt x="26543" y="173990"/>
                  <a:pt x="16002" y="148209"/>
                  <a:pt x="15621" y="121285"/>
                </a:cubicBezTo>
                <a:cubicBezTo>
                  <a:pt x="15239" y="93218"/>
                  <a:pt x="26289" y="66675"/>
                  <a:pt x="45593" y="46228"/>
                </a:cubicBezTo>
                <a:cubicBezTo>
                  <a:pt x="65277" y="26162"/>
                  <a:pt x="91439" y="14351"/>
                  <a:pt x="119507" y="13970"/>
                </a:cubicBezTo>
                <a:moveTo>
                  <a:pt x="166624" y="272669"/>
                </a:moveTo>
                <a:lnTo>
                  <a:pt x="166624" y="281432"/>
                </a:lnTo>
                <a:lnTo>
                  <a:pt x="166624" y="282956"/>
                </a:lnTo>
                <a:lnTo>
                  <a:pt x="74422" y="282956"/>
                </a:lnTo>
                <a:lnTo>
                  <a:pt x="74422" y="281432"/>
                </a:lnTo>
                <a:lnTo>
                  <a:pt x="74422" y="272669"/>
                </a:lnTo>
                <a:moveTo>
                  <a:pt x="163195" y="296545"/>
                </a:moveTo>
                <a:cubicBezTo>
                  <a:pt x="157480" y="310642"/>
                  <a:pt x="144145" y="319278"/>
                  <a:pt x="128651" y="319278"/>
                </a:cubicBezTo>
                <a:lnTo>
                  <a:pt x="112268" y="319278"/>
                </a:lnTo>
                <a:cubicBezTo>
                  <a:pt x="96774" y="319278"/>
                  <a:pt x="83439" y="309880"/>
                  <a:pt x="77851" y="296545"/>
                </a:cubicBezTo>
                <a:moveTo>
                  <a:pt x="129032" y="333756"/>
                </a:moveTo>
                <a:cubicBezTo>
                  <a:pt x="129413" y="333756"/>
                  <a:pt x="130937" y="333756"/>
                  <a:pt x="131699" y="334137"/>
                </a:cubicBezTo>
                <a:cubicBezTo>
                  <a:pt x="131699" y="337566"/>
                  <a:pt x="129032" y="339725"/>
                  <a:pt x="125984" y="339725"/>
                </a:cubicBezTo>
                <a:lnTo>
                  <a:pt x="115315" y="339725"/>
                </a:lnTo>
                <a:cubicBezTo>
                  <a:pt x="111887" y="339725"/>
                  <a:pt x="109727" y="337185"/>
                  <a:pt x="109727" y="334137"/>
                </a:cubicBezTo>
                <a:lnTo>
                  <a:pt x="109727" y="333756"/>
                </a:lnTo>
                <a:moveTo>
                  <a:pt x="119888" y="0"/>
                </a:moveTo>
                <a:cubicBezTo>
                  <a:pt x="119380" y="0"/>
                  <a:pt x="118872" y="0"/>
                  <a:pt x="118364" y="0"/>
                </a:cubicBezTo>
                <a:cubicBezTo>
                  <a:pt x="52832" y="762"/>
                  <a:pt x="0" y="55372"/>
                  <a:pt x="381" y="121285"/>
                </a:cubicBezTo>
                <a:cubicBezTo>
                  <a:pt x="762" y="152019"/>
                  <a:pt x="12953" y="180848"/>
                  <a:pt x="34163" y="202819"/>
                </a:cubicBezTo>
                <a:cubicBezTo>
                  <a:pt x="50927" y="219964"/>
                  <a:pt x="59563" y="242316"/>
                  <a:pt x="59563" y="265430"/>
                </a:cubicBezTo>
                <a:lnTo>
                  <a:pt x="59563" y="281432"/>
                </a:lnTo>
                <a:cubicBezTo>
                  <a:pt x="59563" y="304165"/>
                  <a:pt x="74422" y="323850"/>
                  <a:pt x="94488" y="330708"/>
                </a:cubicBezTo>
                <a:lnTo>
                  <a:pt x="94488" y="334137"/>
                </a:lnTo>
                <a:cubicBezTo>
                  <a:pt x="94488" y="345059"/>
                  <a:pt x="103251" y="354203"/>
                  <a:pt x="114173" y="354203"/>
                </a:cubicBezTo>
                <a:lnTo>
                  <a:pt x="125222" y="354203"/>
                </a:lnTo>
                <a:cubicBezTo>
                  <a:pt x="136144" y="354203"/>
                  <a:pt x="144907" y="345059"/>
                  <a:pt x="144907" y="334137"/>
                </a:cubicBezTo>
                <a:lnTo>
                  <a:pt x="144907" y="330708"/>
                </a:lnTo>
                <a:cubicBezTo>
                  <a:pt x="165353" y="323850"/>
                  <a:pt x="179832" y="304165"/>
                  <a:pt x="179832" y="281432"/>
                </a:cubicBezTo>
                <a:lnTo>
                  <a:pt x="179832" y="265430"/>
                </a:lnTo>
                <a:cubicBezTo>
                  <a:pt x="179832" y="242316"/>
                  <a:pt x="188595" y="220345"/>
                  <a:pt x="205232" y="203200"/>
                </a:cubicBezTo>
                <a:cubicBezTo>
                  <a:pt x="227202" y="180848"/>
                  <a:pt x="239014" y="151257"/>
                  <a:pt x="239014" y="119761"/>
                </a:cubicBezTo>
                <a:cubicBezTo>
                  <a:pt x="240538" y="87630"/>
                  <a:pt x="227584" y="57277"/>
                  <a:pt x="204470" y="34417"/>
                </a:cubicBezTo>
                <a:cubicBezTo>
                  <a:pt x="182118" y="12065"/>
                  <a:pt x="151511" y="0"/>
                  <a:pt x="11988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2" name="Freeform 12"/>
          <p:cNvSpPr/>
          <p:nvPr/>
        </p:nvSpPr>
        <p:spPr>
          <a:xfrm>
            <a:off x="8808593" y="469011"/>
            <a:ext cx="79248" cy="99568"/>
          </a:xfrm>
          <a:custGeom>
            <a:avLst/>
            <a:gdLst>
              <a:gd name="connsiteX0" fmla="*/ 7747 w 79248"/>
              <a:gd name="connsiteY0" fmla="*/ 0 h 99568"/>
              <a:gd name="connsiteX1" fmla="*/ 1143 w 79248"/>
              <a:gd name="connsiteY1" fmla="*/ 5207 h 99568"/>
              <a:gd name="connsiteX2" fmla="*/ 5588 w 79248"/>
              <a:gd name="connsiteY2" fmla="*/ 13462 h 99568"/>
              <a:gd name="connsiteX3" fmla="*/ 65150 w 79248"/>
              <a:gd name="connsiteY3" fmla="*/ 92329 h 99568"/>
              <a:gd name="connsiteX4" fmla="*/ 72009 w 79248"/>
              <a:gd name="connsiteY4" fmla="*/ 99568 h 99568"/>
              <a:gd name="connsiteX5" fmla="*/ 79248 w 79248"/>
              <a:gd name="connsiteY5" fmla="*/ 92329 h 99568"/>
              <a:gd name="connsiteX6" fmla="*/ 9398 w 79248"/>
              <a:gd name="connsiteY6" fmla="*/ 254 h 99568"/>
              <a:gd name="connsiteX7" fmla="*/ 7747 w 79248"/>
              <a:gd name="connsiteY7" fmla="*/ 0 h 9956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248" h="99568">
                <a:moveTo>
                  <a:pt x="7747" y="0"/>
                </a:moveTo>
                <a:cubicBezTo>
                  <a:pt x="4572" y="0"/>
                  <a:pt x="1777" y="1905"/>
                  <a:pt x="1143" y="5207"/>
                </a:cubicBezTo>
                <a:cubicBezTo>
                  <a:pt x="0" y="8890"/>
                  <a:pt x="1905" y="12700"/>
                  <a:pt x="5588" y="13462"/>
                </a:cubicBezTo>
                <a:cubicBezTo>
                  <a:pt x="40894" y="23749"/>
                  <a:pt x="65150" y="56388"/>
                  <a:pt x="65150" y="92329"/>
                </a:cubicBezTo>
                <a:cubicBezTo>
                  <a:pt x="65150" y="96139"/>
                  <a:pt x="68199" y="99568"/>
                  <a:pt x="72009" y="99568"/>
                </a:cubicBezTo>
                <a:cubicBezTo>
                  <a:pt x="75819" y="99568"/>
                  <a:pt x="79248" y="96139"/>
                  <a:pt x="79248" y="92329"/>
                </a:cubicBezTo>
                <a:cubicBezTo>
                  <a:pt x="79248" y="50292"/>
                  <a:pt x="50800" y="12319"/>
                  <a:pt x="9398" y="254"/>
                </a:cubicBezTo>
                <a:cubicBezTo>
                  <a:pt x="8889" y="127"/>
                  <a:pt x="8255" y="0"/>
                  <a:pt x="7747"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3" name="Freeform 13"/>
          <p:cNvSpPr/>
          <p:nvPr/>
        </p:nvSpPr>
        <p:spPr>
          <a:xfrm>
            <a:off x="8783066" y="465836"/>
            <a:ext cx="20955" cy="14351"/>
          </a:xfrm>
          <a:custGeom>
            <a:avLst/>
            <a:gdLst>
              <a:gd name="connsiteX0" fmla="*/ 7239 w 20955"/>
              <a:gd name="connsiteY0" fmla="*/ 0 h 14351"/>
              <a:gd name="connsiteX1" fmla="*/ 0 w 20955"/>
              <a:gd name="connsiteY1" fmla="*/ 7239 h 14351"/>
              <a:gd name="connsiteX2" fmla="*/ 7239 w 20955"/>
              <a:gd name="connsiteY2" fmla="*/ 14351 h 14351"/>
              <a:gd name="connsiteX3" fmla="*/ 13335 w 20955"/>
              <a:gd name="connsiteY3" fmla="*/ 14351 h 14351"/>
              <a:gd name="connsiteX4" fmla="*/ 20574 w 20955"/>
              <a:gd name="connsiteY4" fmla="*/ 8001 h 14351"/>
              <a:gd name="connsiteX5" fmla="*/ 13715 w 20955"/>
              <a:gd name="connsiteY5" fmla="*/ 0 h 1435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0955" h="14351">
                <a:moveTo>
                  <a:pt x="7239" y="0"/>
                </a:moveTo>
                <a:cubicBezTo>
                  <a:pt x="3428" y="0"/>
                  <a:pt x="0" y="3429"/>
                  <a:pt x="0" y="7239"/>
                </a:cubicBezTo>
                <a:cubicBezTo>
                  <a:pt x="0" y="10922"/>
                  <a:pt x="3428" y="14351"/>
                  <a:pt x="7239" y="14351"/>
                </a:cubicBezTo>
                <a:lnTo>
                  <a:pt x="13335" y="14351"/>
                </a:lnTo>
                <a:cubicBezTo>
                  <a:pt x="17145" y="14351"/>
                  <a:pt x="19812" y="11303"/>
                  <a:pt x="20574" y="8001"/>
                </a:cubicBezTo>
                <a:cubicBezTo>
                  <a:pt x="20955" y="3429"/>
                  <a:pt x="17907" y="0"/>
                  <a:pt x="13715"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4" name="Freeform 14"/>
          <p:cNvSpPr/>
          <p:nvPr/>
        </p:nvSpPr>
        <p:spPr>
          <a:xfrm>
            <a:off x="8925306" y="556006"/>
            <a:ext cx="26543" cy="14097"/>
          </a:xfrm>
          <a:custGeom>
            <a:avLst/>
            <a:gdLst>
              <a:gd name="connsiteX0" fmla="*/ 7238 w 26543"/>
              <a:gd name="connsiteY0" fmla="*/ 0 h 14097"/>
              <a:gd name="connsiteX1" fmla="*/ 0 w 26543"/>
              <a:gd name="connsiteY1" fmla="*/ 7239 h 14097"/>
              <a:gd name="connsiteX2" fmla="*/ 7238 w 26543"/>
              <a:gd name="connsiteY2" fmla="*/ 14097 h 14097"/>
              <a:gd name="connsiteX3" fmla="*/ 19431 w 26543"/>
              <a:gd name="connsiteY3" fmla="*/ 14097 h 14097"/>
              <a:gd name="connsiteX4" fmla="*/ 26543 w 26543"/>
              <a:gd name="connsiteY4" fmla="*/ 7239 h 14097"/>
              <a:gd name="connsiteX5" fmla="*/ 19431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8" y="0"/>
                </a:moveTo>
                <a:cubicBezTo>
                  <a:pt x="3428" y="0"/>
                  <a:pt x="0" y="3429"/>
                  <a:pt x="0" y="7239"/>
                </a:cubicBezTo>
                <a:cubicBezTo>
                  <a:pt x="0" y="11049"/>
                  <a:pt x="3428" y="14097"/>
                  <a:pt x="7238" y="14097"/>
                </a:cubicBezTo>
                <a:lnTo>
                  <a:pt x="19431" y="14097"/>
                </a:lnTo>
                <a:cubicBezTo>
                  <a:pt x="23113" y="14097"/>
                  <a:pt x="26543" y="11049"/>
                  <a:pt x="26543" y="7239"/>
                </a:cubicBezTo>
                <a:cubicBezTo>
                  <a:pt x="26162" y="3429"/>
                  <a:pt x="23113" y="0"/>
                  <a:pt x="19431"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8631809" y="556006"/>
            <a:ext cx="26543" cy="14097"/>
          </a:xfrm>
          <a:custGeom>
            <a:avLst/>
            <a:gdLst>
              <a:gd name="connsiteX0" fmla="*/ 7239 w 26543"/>
              <a:gd name="connsiteY0" fmla="*/ 0 h 14097"/>
              <a:gd name="connsiteX1" fmla="*/ 0 w 26543"/>
              <a:gd name="connsiteY1" fmla="*/ 7239 h 14097"/>
              <a:gd name="connsiteX2" fmla="*/ 7239 w 26543"/>
              <a:gd name="connsiteY2" fmla="*/ 14097 h 14097"/>
              <a:gd name="connsiteX3" fmla="*/ 19304 w 26543"/>
              <a:gd name="connsiteY3" fmla="*/ 14097 h 14097"/>
              <a:gd name="connsiteX4" fmla="*/ 26543 w 26543"/>
              <a:gd name="connsiteY4" fmla="*/ 7239 h 14097"/>
              <a:gd name="connsiteX5" fmla="*/ 19304 w 26543"/>
              <a:gd name="connsiteY5" fmla="*/ 0 h 1409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6543" h="14097">
                <a:moveTo>
                  <a:pt x="7239" y="0"/>
                </a:moveTo>
                <a:cubicBezTo>
                  <a:pt x="3429" y="0"/>
                  <a:pt x="0" y="3429"/>
                  <a:pt x="0" y="7239"/>
                </a:cubicBezTo>
                <a:cubicBezTo>
                  <a:pt x="0" y="11049"/>
                  <a:pt x="3429" y="14097"/>
                  <a:pt x="7239" y="14097"/>
                </a:cubicBezTo>
                <a:lnTo>
                  <a:pt x="19304" y="14097"/>
                </a:lnTo>
                <a:cubicBezTo>
                  <a:pt x="23114" y="14097"/>
                  <a:pt x="26543" y="11049"/>
                  <a:pt x="26543" y="7239"/>
                </a:cubicBezTo>
                <a:cubicBezTo>
                  <a:pt x="26543" y="3429"/>
                  <a:pt x="23114" y="0"/>
                  <a:pt x="1930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8905240" y="480060"/>
            <a:ext cx="26543" cy="20320"/>
          </a:xfrm>
          <a:custGeom>
            <a:avLst/>
            <a:gdLst>
              <a:gd name="connsiteX0" fmla="*/ 18923 w 26543"/>
              <a:gd name="connsiteY0" fmla="*/ 0 h 20320"/>
              <a:gd name="connsiteX1" fmla="*/ 15113 w 26543"/>
              <a:gd name="connsiteY1" fmla="*/ 1270 h 20320"/>
              <a:gd name="connsiteX2" fmla="*/ 4953 w 26543"/>
              <a:gd name="connsiteY2" fmla="*/ 7366 h 20320"/>
              <a:gd name="connsiteX3" fmla="*/ 2667 w 26543"/>
              <a:gd name="connsiteY3" fmla="*/ 16891 h 20320"/>
              <a:gd name="connsiteX4" fmla="*/ 8763 w 26543"/>
              <a:gd name="connsiteY4" fmla="*/ 20320 h 20320"/>
              <a:gd name="connsiteX5" fmla="*/ 12192 w 26543"/>
              <a:gd name="connsiteY5" fmla="*/ 19050 h 20320"/>
              <a:gd name="connsiteX6" fmla="*/ 22352 w 26543"/>
              <a:gd name="connsiteY6" fmla="*/ 13081 h 20320"/>
              <a:gd name="connsiteX7" fmla="*/ 24638 w 26543"/>
              <a:gd name="connsiteY7" fmla="*/ 3556 h 20320"/>
              <a:gd name="connsiteX8" fmla="*/ 18923 w 26543"/>
              <a:gd name="connsiteY8" fmla="*/ 0 h 2032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320">
                <a:moveTo>
                  <a:pt x="18923" y="0"/>
                </a:moveTo>
                <a:cubicBezTo>
                  <a:pt x="17653" y="0"/>
                  <a:pt x="16383" y="381"/>
                  <a:pt x="15113" y="1270"/>
                </a:cubicBezTo>
                <a:lnTo>
                  <a:pt x="4953" y="7366"/>
                </a:lnTo>
                <a:cubicBezTo>
                  <a:pt x="1524" y="9271"/>
                  <a:pt x="0" y="13462"/>
                  <a:pt x="2667" y="16891"/>
                </a:cubicBezTo>
                <a:cubicBezTo>
                  <a:pt x="3810" y="19050"/>
                  <a:pt x="6477" y="20320"/>
                  <a:pt x="8763" y="20320"/>
                </a:cubicBezTo>
                <a:cubicBezTo>
                  <a:pt x="9906" y="20320"/>
                  <a:pt x="11049" y="19558"/>
                  <a:pt x="12192" y="19050"/>
                </a:cubicBezTo>
                <a:lnTo>
                  <a:pt x="22352" y="13081"/>
                </a:lnTo>
                <a:cubicBezTo>
                  <a:pt x="25781" y="11176"/>
                  <a:pt x="26543" y="6985"/>
                  <a:pt x="24638" y="3556"/>
                </a:cubicBezTo>
                <a:cubicBezTo>
                  <a:pt x="23368" y="1397"/>
                  <a:pt x="21209" y="0"/>
                  <a:pt x="18923"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8651875" y="626618"/>
            <a:ext cx="26543" cy="20066"/>
          </a:xfrm>
          <a:custGeom>
            <a:avLst/>
            <a:gdLst>
              <a:gd name="connsiteX0" fmla="*/ 18796 w 26543"/>
              <a:gd name="connsiteY0" fmla="*/ 0 h 20066"/>
              <a:gd name="connsiteX1" fmla="*/ 15240 w 26543"/>
              <a:gd name="connsiteY1" fmla="*/ 1143 h 20066"/>
              <a:gd name="connsiteX2" fmla="*/ 4572 w 26543"/>
              <a:gd name="connsiteY2" fmla="*/ 7239 h 20066"/>
              <a:gd name="connsiteX3" fmla="*/ 2286 w 26543"/>
              <a:gd name="connsiteY3" fmla="*/ 16637 h 20066"/>
              <a:gd name="connsiteX4" fmla="*/ 8382 w 26543"/>
              <a:gd name="connsiteY4" fmla="*/ 20066 h 20066"/>
              <a:gd name="connsiteX5" fmla="*/ 11811 w 26543"/>
              <a:gd name="connsiteY5" fmla="*/ 18923 h 20066"/>
              <a:gd name="connsiteX6" fmla="*/ 21971 w 26543"/>
              <a:gd name="connsiteY6" fmla="*/ 12954 h 20066"/>
              <a:gd name="connsiteX7" fmla="*/ 24638 w 26543"/>
              <a:gd name="connsiteY7" fmla="*/ 3429 h 20066"/>
              <a:gd name="connsiteX8" fmla="*/ 18796 w 26543"/>
              <a:gd name="connsiteY8" fmla="*/ 0 h 2006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20066">
                <a:moveTo>
                  <a:pt x="18796" y="0"/>
                </a:moveTo>
                <a:cubicBezTo>
                  <a:pt x="17526" y="0"/>
                  <a:pt x="16256" y="381"/>
                  <a:pt x="15240" y="1143"/>
                </a:cubicBezTo>
                <a:lnTo>
                  <a:pt x="4572" y="7239"/>
                </a:lnTo>
                <a:cubicBezTo>
                  <a:pt x="1143" y="9144"/>
                  <a:pt x="0" y="13335"/>
                  <a:pt x="2286" y="16637"/>
                </a:cubicBezTo>
                <a:cubicBezTo>
                  <a:pt x="3429" y="18923"/>
                  <a:pt x="6096" y="20066"/>
                  <a:pt x="8382" y="20066"/>
                </a:cubicBezTo>
                <a:cubicBezTo>
                  <a:pt x="9906" y="20066"/>
                  <a:pt x="10668" y="19304"/>
                  <a:pt x="11811" y="18923"/>
                </a:cubicBezTo>
                <a:lnTo>
                  <a:pt x="21971" y="12954"/>
                </a:lnTo>
                <a:cubicBezTo>
                  <a:pt x="25019" y="11049"/>
                  <a:pt x="26543" y="6858"/>
                  <a:pt x="24638" y="3429"/>
                </a:cubicBezTo>
                <a:cubicBezTo>
                  <a:pt x="23495" y="1270"/>
                  <a:pt x="21082" y="0"/>
                  <a:pt x="18796"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8" name="Freeform 18"/>
          <p:cNvSpPr/>
          <p:nvPr/>
        </p:nvSpPr>
        <p:spPr>
          <a:xfrm>
            <a:off x="8854059" y="423799"/>
            <a:ext cx="21972" cy="24130"/>
          </a:xfrm>
          <a:custGeom>
            <a:avLst/>
            <a:gdLst>
              <a:gd name="connsiteX0" fmla="*/ 13970 w 21972"/>
              <a:gd name="connsiteY0" fmla="*/ 0 h 24130"/>
              <a:gd name="connsiteX1" fmla="*/ 8382 w 21972"/>
              <a:gd name="connsiteY1" fmla="*/ 3302 h 24130"/>
              <a:gd name="connsiteX2" fmla="*/ 1905 w 21972"/>
              <a:gd name="connsiteY2" fmla="*/ 13970 h 24130"/>
              <a:gd name="connsiteX3" fmla="*/ 4573 w 21972"/>
              <a:gd name="connsiteY3" fmla="*/ 23368 h 24130"/>
              <a:gd name="connsiteX4" fmla="*/ 7620 w 21972"/>
              <a:gd name="connsiteY4" fmla="*/ 24130 h 24130"/>
              <a:gd name="connsiteX5" fmla="*/ 13970 w 21972"/>
              <a:gd name="connsiteY5" fmla="*/ 20828 h 24130"/>
              <a:gd name="connsiteX6" fmla="*/ 20066 w 21972"/>
              <a:gd name="connsiteY6" fmla="*/ 10541 h 24130"/>
              <a:gd name="connsiteX7" fmla="*/ 17780 w 21972"/>
              <a:gd name="connsiteY7" fmla="*/ 1016 h 24130"/>
              <a:gd name="connsiteX8" fmla="*/ 13970 w 21972"/>
              <a:gd name="connsiteY8" fmla="*/ 0 h 2413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1972" h="24130">
                <a:moveTo>
                  <a:pt x="13970" y="0"/>
                </a:moveTo>
                <a:cubicBezTo>
                  <a:pt x="11685" y="0"/>
                  <a:pt x="9525" y="1143"/>
                  <a:pt x="8382" y="3302"/>
                </a:cubicBezTo>
                <a:lnTo>
                  <a:pt x="1905" y="13970"/>
                </a:lnTo>
                <a:cubicBezTo>
                  <a:pt x="0" y="17018"/>
                  <a:pt x="1143" y="21590"/>
                  <a:pt x="4573" y="23368"/>
                </a:cubicBezTo>
                <a:cubicBezTo>
                  <a:pt x="5335" y="23749"/>
                  <a:pt x="6858" y="24130"/>
                  <a:pt x="7620" y="24130"/>
                </a:cubicBezTo>
                <a:cubicBezTo>
                  <a:pt x="10160" y="24130"/>
                  <a:pt x="12573" y="22606"/>
                  <a:pt x="13970" y="20828"/>
                </a:cubicBezTo>
                <a:lnTo>
                  <a:pt x="20066" y="10541"/>
                </a:lnTo>
                <a:cubicBezTo>
                  <a:pt x="21972" y="7112"/>
                  <a:pt x="20828" y="2921"/>
                  <a:pt x="17780" y="1016"/>
                </a:cubicBezTo>
                <a:cubicBezTo>
                  <a:pt x="16637" y="381"/>
                  <a:pt x="15240" y="0"/>
                  <a:pt x="1397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9" name="Freeform 19"/>
          <p:cNvSpPr/>
          <p:nvPr/>
        </p:nvSpPr>
        <p:spPr>
          <a:xfrm>
            <a:off x="8784590" y="403606"/>
            <a:ext cx="14097" cy="26543"/>
          </a:xfrm>
          <a:custGeom>
            <a:avLst/>
            <a:gdLst>
              <a:gd name="connsiteX0" fmla="*/ 6858 w 14097"/>
              <a:gd name="connsiteY0" fmla="*/ 0 h 26543"/>
              <a:gd name="connsiteX1" fmla="*/ 0 w 14097"/>
              <a:gd name="connsiteY1" fmla="*/ 6858 h 26543"/>
              <a:gd name="connsiteX2" fmla="*/ 0 w 14097"/>
              <a:gd name="connsiteY2" fmla="*/ 19304 h 26543"/>
              <a:gd name="connsiteX3" fmla="*/ 6858 w 14097"/>
              <a:gd name="connsiteY3" fmla="*/ 26543 h 26543"/>
              <a:gd name="connsiteX4" fmla="*/ 14097 w 14097"/>
              <a:gd name="connsiteY4" fmla="*/ 19304 h 26543"/>
              <a:gd name="connsiteX5" fmla="*/ 14097 w 14097"/>
              <a:gd name="connsiteY5" fmla="*/ 6858 h 26543"/>
              <a:gd name="connsiteX6" fmla="*/ 6858 w 14097"/>
              <a:gd name="connsiteY6" fmla="*/ 0 h 2654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4097" h="26543">
                <a:moveTo>
                  <a:pt x="6858" y="0"/>
                </a:moveTo>
                <a:cubicBezTo>
                  <a:pt x="3048" y="0"/>
                  <a:pt x="0" y="3048"/>
                  <a:pt x="0" y="6858"/>
                </a:cubicBezTo>
                <a:lnTo>
                  <a:pt x="0" y="19304"/>
                </a:lnTo>
                <a:cubicBezTo>
                  <a:pt x="0" y="23114"/>
                  <a:pt x="3048" y="26543"/>
                  <a:pt x="6858" y="26543"/>
                </a:cubicBezTo>
                <a:cubicBezTo>
                  <a:pt x="10668" y="26543"/>
                  <a:pt x="14097" y="23114"/>
                  <a:pt x="14097" y="19304"/>
                </a:cubicBezTo>
                <a:lnTo>
                  <a:pt x="14097" y="6858"/>
                </a:lnTo>
                <a:cubicBezTo>
                  <a:pt x="14097" y="3048"/>
                  <a:pt x="11430" y="0"/>
                  <a:pt x="6858"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0" name="Freeform 20"/>
          <p:cNvSpPr/>
          <p:nvPr/>
        </p:nvSpPr>
        <p:spPr>
          <a:xfrm>
            <a:off x="8707247" y="424053"/>
            <a:ext cx="22352" cy="24257"/>
          </a:xfrm>
          <a:custGeom>
            <a:avLst/>
            <a:gdLst>
              <a:gd name="connsiteX0" fmla="*/ 8382 w 22352"/>
              <a:gd name="connsiteY0" fmla="*/ 0 h 24257"/>
              <a:gd name="connsiteX1" fmla="*/ 4572 w 22352"/>
              <a:gd name="connsiteY1" fmla="*/ 1143 h 24257"/>
              <a:gd name="connsiteX2" fmla="*/ 2286 w 22352"/>
              <a:gd name="connsiteY2" fmla="*/ 10668 h 24257"/>
              <a:gd name="connsiteX3" fmla="*/ 8382 w 22352"/>
              <a:gd name="connsiteY3" fmla="*/ 21336 h 24257"/>
              <a:gd name="connsiteX4" fmla="*/ 14860 w 22352"/>
              <a:gd name="connsiteY4" fmla="*/ 24257 h 24257"/>
              <a:gd name="connsiteX5" fmla="*/ 17907 w 22352"/>
              <a:gd name="connsiteY5" fmla="*/ 23495 h 24257"/>
              <a:gd name="connsiteX6" fmla="*/ 20447 w 22352"/>
              <a:gd name="connsiteY6" fmla="*/ 14097 h 24257"/>
              <a:gd name="connsiteX7" fmla="*/ 14097 w 22352"/>
              <a:gd name="connsiteY7" fmla="*/ 3429 h 24257"/>
              <a:gd name="connsiteX8" fmla="*/ 8382 w 22352"/>
              <a:gd name="connsiteY8" fmla="*/ 0 h 2425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2352" h="24257">
                <a:moveTo>
                  <a:pt x="8382" y="0"/>
                </a:moveTo>
                <a:cubicBezTo>
                  <a:pt x="7112" y="0"/>
                  <a:pt x="5842" y="381"/>
                  <a:pt x="4572" y="1143"/>
                </a:cubicBezTo>
                <a:cubicBezTo>
                  <a:pt x="1524" y="3048"/>
                  <a:pt x="0" y="7239"/>
                  <a:pt x="2286" y="10668"/>
                </a:cubicBezTo>
                <a:lnTo>
                  <a:pt x="8382" y="21336"/>
                </a:lnTo>
                <a:cubicBezTo>
                  <a:pt x="9906" y="23495"/>
                  <a:pt x="12192" y="24257"/>
                  <a:pt x="14860" y="24257"/>
                </a:cubicBezTo>
                <a:cubicBezTo>
                  <a:pt x="16002" y="24257"/>
                  <a:pt x="17145" y="23876"/>
                  <a:pt x="17907" y="23495"/>
                </a:cubicBezTo>
                <a:cubicBezTo>
                  <a:pt x="21210" y="21717"/>
                  <a:pt x="22352" y="17526"/>
                  <a:pt x="20447" y="14097"/>
                </a:cubicBezTo>
                <a:lnTo>
                  <a:pt x="14097" y="3429"/>
                </a:lnTo>
                <a:cubicBezTo>
                  <a:pt x="12827" y="1270"/>
                  <a:pt x="10668" y="0"/>
                  <a:pt x="8382"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1" name="Freeform 21"/>
          <p:cNvSpPr/>
          <p:nvPr/>
        </p:nvSpPr>
        <p:spPr>
          <a:xfrm>
            <a:off x="8651875" y="479679"/>
            <a:ext cx="26543" cy="19939"/>
          </a:xfrm>
          <a:custGeom>
            <a:avLst/>
            <a:gdLst>
              <a:gd name="connsiteX0" fmla="*/ 7874 w 26543"/>
              <a:gd name="connsiteY0" fmla="*/ 0 h 19939"/>
              <a:gd name="connsiteX1" fmla="*/ 1905 w 26543"/>
              <a:gd name="connsiteY1" fmla="*/ 3556 h 19939"/>
              <a:gd name="connsiteX2" fmla="*/ 4191 w 26543"/>
              <a:gd name="connsiteY2" fmla="*/ 13081 h 19939"/>
              <a:gd name="connsiteX3" fmla="*/ 14478 w 26543"/>
              <a:gd name="connsiteY3" fmla="*/ 19050 h 19939"/>
              <a:gd name="connsiteX4" fmla="*/ 17780 w 26543"/>
              <a:gd name="connsiteY4" fmla="*/ 19939 h 19939"/>
              <a:gd name="connsiteX5" fmla="*/ 23876 w 26543"/>
              <a:gd name="connsiteY5" fmla="*/ 16891 h 19939"/>
              <a:gd name="connsiteX6" fmla="*/ 21590 w 26543"/>
              <a:gd name="connsiteY6" fmla="*/ 7366 h 19939"/>
              <a:gd name="connsiteX7" fmla="*/ 11430 w 26543"/>
              <a:gd name="connsiteY7" fmla="*/ 889 h 19939"/>
              <a:gd name="connsiteX8" fmla="*/ 7874 w 26543"/>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6543" h="19939">
                <a:moveTo>
                  <a:pt x="7874" y="0"/>
                </a:moveTo>
                <a:cubicBezTo>
                  <a:pt x="5334" y="0"/>
                  <a:pt x="2921" y="1270"/>
                  <a:pt x="1905" y="3556"/>
                </a:cubicBezTo>
                <a:cubicBezTo>
                  <a:pt x="0" y="6604"/>
                  <a:pt x="762" y="11176"/>
                  <a:pt x="4191" y="13081"/>
                </a:cubicBezTo>
                <a:lnTo>
                  <a:pt x="14478" y="19050"/>
                </a:lnTo>
                <a:cubicBezTo>
                  <a:pt x="15621" y="19558"/>
                  <a:pt x="17145" y="19939"/>
                  <a:pt x="17780" y="19939"/>
                </a:cubicBezTo>
                <a:cubicBezTo>
                  <a:pt x="20066" y="19939"/>
                  <a:pt x="22733" y="18796"/>
                  <a:pt x="23876" y="16891"/>
                </a:cubicBezTo>
                <a:cubicBezTo>
                  <a:pt x="26543" y="13462"/>
                  <a:pt x="25019" y="9271"/>
                  <a:pt x="21590" y="7366"/>
                </a:cubicBezTo>
                <a:lnTo>
                  <a:pt x="11430" y="889"/>
                </a:lnTo>
                <a:cubicBezTo>
                  <a:pt x="10287" y="381"/>
                  <a:pt x="9017" y="0"/>
                  <a:pt x="7874"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2" name="Freeform 22"/>
          <p:cNvSpPr/>
          <p:nvPr/>
        </p:nvSpPr>
        <p:spPr>
          <a:xfrm>
            <a:off x="8906002" y="626364"/>
            <a:ext cx="25781" cy="19939"/>
          </a:xfrm>
          <a:custGeom>
            <a:avLst/>
            <a:gdLst>
              <a:gd name="connsiteX0" fmla="*/ 7620 w 25781"/>
              <a:gd name="connsiteY0" fmla="*/ 0 h 19939"/>
              <a:gd name="connsiteX1" fmla="*/ 1905 w 25781"/>
              <a:gd name="connsiteY1" fmla="*/ 3302 h 19939"/>
              <a:gd name="connsiteX2" fmla="*/ 4191 w 25781"/>
              <a:gd name="connsiteY2" fmla="*/ 12827 h 19939"/>
              <a:gd name="connsiteX3" fmla="*/ 14351 w 25781"/>
              <a:gd name="connsiteY3" fmla="*/ 18796 h 19939"/>
              <a:gd name="connsiteX4" fmla="*/ 17907 w 25781"/>
              <a:gd name="connsiteY4" fmla="*/ 19939 h 19939"/>
              <a:gd name="connsiteX5" fmla="*/ 23876 w 25781"/>
              <a:gd name="connsiteY5" fmla="*/ 16510 h 19939"/>
              <a:gd name="connsiteX6" fmla="*/ 21590 w 25781"/>
              <a:gd name="connsiteY6" fmla="*/ 7112 h 19939"/>
              <a:gd name="connsiteX7" fmla="*/ 11430 w 25781"/>
              <a:gd name="connsiteY7" fmla="*/ 1016 h 19939"/>
              <a:gd name="connsiteX8" fmla="*/ 7620 w 25781"/>
              <a:gd name="connsiteY8" fmla="*/ 0 h 1993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25781" h="19939">
                <a:moveTo>
                  <a:pt x="7620" y="0"/>
                </a:moveTo>
                <a:cubicBezTo>
                  <a:pt x="5334" y="0"/>
                  <a:pt x="3175" y="1143"/>
                  <a:pt x="1905" y="3302"/>
                </a:cubicBezTo>
                <a:cubicBezTo>
                  <a:pt x="0" y="6731"/>
                  <a:pt x="762" y="10922"/>
                  <a:pt x="4191" y="12827"/>
                </a:cubicBezTo>
                <a:lnTo>
                  <a:pt x="14351" y="18796"/>
                </a:lnTo>
                <a:cubicBezTo>
                  <a:pt x="15494" y="19177"/>
                  <a:pt x="17018" y="19939"/>
                  <a:pt x="17907" y="19939"/>
                </a:cubicBezTo>
                <a:cubicBezTo>
                  <a:pt x="20066" y="19939"/>
                  <a:pt x="22733" y="18415"/>
                  <a:pt x="23876" y="16510"/>
                </a:cubicBezTo>
                <a:cubicBezTo>
                  <a:pt x="25781" y="13589"/>
                  <a:pt x="25019" y="9017"/>
                  <a:pt x="21590" y="7112"/>
                </a:cubicBezTo>
                <a:lnTo>
                  <a:pt x="11430" y="1016"/>
                </a:lnTo>
                <a:cubicBezTo>
                  <a:pt x="10160" y="381"/>
                  <a:pt x="8890" y="0"/>
                  <a:pt x="7620" y="0"/>
                </a:cubicBezTo>
                <a:close/>
              </a:path>
            </a:pathLst>
          </a:custGeom>
          <a:solidFill>
            <a:srgbClr val="85789C">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3" name="Freeform 23"/>
          <p:cNvSpPr/>
          <p:nvPr/>
        </p:nvSpPr>
        <p:spPr>
          <a:xfrm>
            <a:off x="3583940" y="866140"/>
            <a:ext cx="76200" cy="3774834"/>
          </a:xfrm>
          <a:custGeom>
            <a:avLst/>
            <a:gdLst>
              <a:gd name="connsiteX0" fmla="*/ 47625 w 76200"/>
              <a:gd name="connsiteY0" fmla="*/ 38100 h 3774834"/>
              <a:gd name="connsiteX1" fmla="*/ 47625 w 76200"/>
              <a:gd name="connsiteY1" fmla="*/ 3736734 h 3774834"/>
              <a:gd name="connsiteX2" fmla="*/ 28575 w 76200"/>
              <a:gd name="connsiteY2" fmla="*/ 3736734 h 3774834"/>
              <a:gd name="connsiteX3" fmla="*/ 28575 w 76200"/>
              <a:gd name="connsiteY3" fmla="*/ 38100 h 3774834"/>
              <a:gd name="connsiteX5" fmla="*/ 0 w 76200"/>
              <a:gd name="connsiteY5" fmla="*/ 38100 h 3774834"/>
              <a:gd name="connsiteX6" fmla="*/ 38100 w 76200"/>
              <a:gd name="connsiteY6" fmla="*/ 0 h 3774834"/>
              <a:gd name="connsiteX7" fmla="*/ 76200 w 76200"/>
              <a:gd name="connsiteY7" fmla="*/ 38100 h 3774834"/>
              <a:gd name="connsiteX8" fmla="*/ 38100 w 76200"/>
              <a:gd name="connsiteY8" fmla="*/ 76200 h 3774834"/>
              <a:gd name="connsiteX9" fmla="*/ 0 w 76200"/>
              <a:gd name="connsiteY9" fmla="*/ 38100 h 3774834"/>
              <a:gd name="connsiteX11" fmla="*/ 76200 w 76200"/>
              <a:gd name="connsiteY11" fmla="*/ 3736734 h 3774834"/>
              <a:gd name="connsiteX12" fmla="*/ 38100 w 76200"/>
              <a:gd name="connsiteY12" fmla="*/ 3774834 h 3774834"/>
              <a:gd name="connsiteX13" fmla="*/ 0 w 76200"/>
              <a:gd name="connsiteY13" fmla="*/ 3736734 h 3774834"/>
              <a:gd name="connsiteX14" fmla="*/ 38100 w 76200"/>
              <a:gd name="connsiteY14" fmla="*/ 3698634 h 3774834"/>
              <a:gd name="connsiteX15" fmla="*/ 76200 w 76200"/>
              <a:gd name="connsiteY15" fmla="*/ 3736734 h 377483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3774834">
                <a:moveTo>
                  <a:pt x="47625" y="38100"/>
                </a:moveTo>
                <a:lnTo>
                  <a:pt x="47625" y="3736734"/>
                </a:lnTo>
                <a:lnTo>
                  <a:pt x="28575" y="3736734"/>
                </a:lnTo>
                <a:lnTo>
                  <a:pt x="28575" y="38100"/>
                </a:lnTo>
                <a:moveTo>
                  <a:pt x="0" y="38100"/>
                </a:moveTo>
                <a:cubicBezTo>
                  <a:pt x="0" y="17145"/>
                  <a:pt x="17145" y="0"/>
                  <a:pt x="38100" y="0"/>
                </a:cubicBezTo>
                <a:cubicBezTo>
                  <a:pt x="59182" y="0"/>
                  <a:pt x="76200" y="17145"/>
                  <a:pt x="76200" y="38100"/>
                </a:cubicBezTo>
                <a:cubicBezTo>
                  <a:pt x="76200" y="59182"/>
                  <a:pt x="59182" y="76200"/>
                  <a:pt x="38100" y="76200"/>
                </a:cubicBezTo>
                <a:cubicBezTo>
                  <a:pt x="17145" y="76200"/>
                  <a:pt x="0" y="59182"/>
                  <a:pt x="0" y="38100"/>
                </a:cubicBezTo>
                <a:moveTo>
                  <a:pt x="76200" y="3736734"/>
                </a:moveTo>
                <a:cubicBezTo>
                  <a:pt x="76200" y="3757778"/>
                  <a:pt x="59182" y="3774834"/>
                  <a:pt x="38100" y="3774834"/>
                </a:cubicBezTo>
                <a:cubicBezTo>
                  <a:pt x="17145" y="3774834"/>
                  <a:pt x="0" y="3757778"/>
                  <a:pt x="0" y="3736734"/>
                </a:cubicBezTo>
                <a:cubicBezTo>
                  <a:pt x="0" y="3715689"/>
                  <a:pt x="17145" y="3698634"/>
                  <a:pt x="38100" y="3698634"/>
                </a:cubicBezTo>
                <a:cubicBezTo>
                  <a:pt x="59182" y="3698634"/>
                  <a:pt x="76200" y="3715689"/>
                  <a:pt x="76200" y="3736734"/>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4" name="TextBox 24"/>
          <p:cNvSpPr txBox="1"/>
          <p:nvPr/>
        </p:nvSpPr>
        <p:spPr>
          <a:xfrm>
            <a:off x="430073" y="411226"/>
            <a:ext cx="3152597" cy="3302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6 Bold" pitchFamily="18" charset="0"/>
                <a:cs typeface="6 Bold" pitchFamily="18" charset="0"/>
              </a:rPr>
              <a:t>4. How does performance correlate with </a:t>
            </a:r>
          </a:p>
          <a:p>
            <a:pPr>
              <a:lnSpc>
                <a:spcPts val="1400"/>
              </a:lnSpc>
              <a:spcBef>
                <a:spcPts val="0"/>
              </a:spcBef>
            </a:pPr>
            <a:r>
              <a:rPr lang="en-US" altLang="zh-CN" sz="1200" b="1" i="0" dirty="0">
                <a:solidFill>
                  <a:srgbClr val="5C5C5F"/>
                </a:solidFill>
                <a:latin typeface="6 Bold" pitchFamily="18" charset="0"/>
                <a:cs typeface="6 Bold" pitchFamily="18" charset="0"/>
              </a:rPr>
              <a:t>salary across departments?</a:t>
            </a:r>
          </a:p>
        </p:txBody>
      </p:sp>
      <p:sp>
        <p:nvSpPr>
          <p:cNvPr id="26" name="TextBox 26"/>
          <p:cNvSpPr txBox="1"/>
          <p:nvPr/>
        </p:nvSpPr>
        <p:spPr>
          <a:xfrm>
            <a:off x="3866134" y="601224"/>
            <a:ext cx="532197" cy="156068"/>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Finding</a:t>
            </a:r>
            <a:r>
              <a:rPr lang="en-US" altLang="zh-CN" sz="1200" b="1" dirty="0">
                <a:solidFill>
                  <a:srgbClr val="5C5C5F"/>
                </a:solidFill>
                <a:latin typeface="2 Bold" pitchFamily="18" charset="0"/>
                <a:cs typeface="2 Bold" pitchFamily="18" charset="0"/>
              </a:rPr>
              <a:t>s</a:t>
            </a:r>
            <a:endParaRPr lang="en-US" altLang="zh-CN" sz="1200" b="1" i="0" dirty="0">
              <a:solidFill>
                <a:srgbClr val="5C5C5F"/>
              </a:solidFill>
              <a:latin typeface="2 Bold" pitchFamily="18" charset="0"/>
              <a:cs typeface="2 Bold" pitchFamily="18" charset="0"/>
            </a:endParaRPr>
          </a:p>
        </p:txBody>
      </p:sp>
      <p:sp>
        <p:nvSpPr>
          <p:cNvPr id="27" name="Freeform 27"/>
          <p:cNvSpPr/>
          <p:nvPr/>
        </p:nvSpPr>
        <p:spPr>
          <a:xfrm>
            <a:off x="3865499" y="736600"/>
            <a:ext cx="614172" cy="6096"/>
          </a:xfrm>
          <a:custGeom>
            <a:avLst/>
            <a:gdLst>
              <a:gd name="connsiteX0" fmla="*/ 0 w 614172"/>
              <a:gd name="connsiteY0" fmla="*/ 6096 h 6096"/>
              <a:gd name="connsiteX1" fmla="*/ 614172 w 614172"/>
              <a:gd name="connsiteY1" fmla="*/ 6096 h 6096"/>
              <a:gd name="connsiteX2" fmla="*/ 614172 w 614172"/>
              <a:gd name="connsiteY2" fmla="*/ 0 h 6096"/>
              <a:gd name="connsiteX3" fmla="*/ 0 w 614172"/>
              <a:gd name="connsiteY3" fmla="*/ 0 h 6096"/>
            </a:gdLst>
            <a:ahLst/>
            <a:cxnLst>
              <a:cxn ang="0">
                <a:pos x="connsiteX0" y="connsiteY0"/>
              </a:cxn>
              <a:cxn ang="1">
                <a:pos x="connsiteX1" y="connsiteY1"/>
              </a:cxn>
              <a:cxn ang="2">
                <a:pos x="connsiteX2" y="connsiteY2"/>
              </a:cxn>
              <a:cxn ang="3">
                <a:pos x="connsiteX3" y="connsiteY3"/>
              </a:cxn>
            </a:cxnLst>
            <a:rect l="l" t="t" r="r" b="b"/>
            <a:pathLst>
              <a:path w="614172" h="6096">
                <a:moveTo>
                  <a:pt x="0" y="6096"/>
                </a:moveTo>
                <a:lnTo>
                  <a:pt x="614172" y="6096"/>
                </a:lnTo>
                <a:lnTo>
                  <a:pt x="614172" y="0"/>
                </a:lnTo>
                <a:lnTo>
                  <a:pt x="0" y="0"/>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9" name="TextBox 29"/>
          <p:cNvSpPr txBox="1"/>
          <p:nvPr/>
        </p:nvSpPr>
        <p:spPr>
          <a:xfrm>
            <a:off x="3866134" y="806060"/>
            <a:ext cx="4977815" cy="1839221"/>
          </a:xfrm>
          <a:prstGeom prst="rect">
            <a:avLst/>
          </a:prstGeom>
          <a:noFill/>
        </p:spPr>
        <p:txBody>
          <a:bodyPr wrap="square" lIns="0" tIns="0" rIns="0" bIns="0" rtlCol="0">
            <a:spAutoFit/>
          </a:bodyPr>
          <a:lstStyle/>
          <a:p>
            <a:pPr marL="171450" indent="-171450">
              <a:lnSpc>
                <a:spcPts val="1100"/>
              </a:lnSpc>
              <a:spcBef>
                <a:spcPts val="0"/>
              </a:spcBef>
              <a:buFont typeface="Arial" panose="020B0604020202020204" pitchFamily="34" charset="0"/>
              <a:buChar char="•"/>
            </a:pPr>
            <a:r>
              <a:rPr lang="en-US" sz="1200" b="1" dirty="0">
                <a:latin typeface="2 Bold"/>
              </a:rPr>
              <a:t>Engineering: This department has an average performance score of approximately 4.01 and an average salary of $80,000.</a:t>
            </a:r>
            <a:r>
              <a:rPr lang="en-US" altLang="zh-CN" sz="1200" b="1" i="0" dirty="0">
                <a:solidFill>
                  <a:srgbClr val="5C5C5F"/>
                </a:solidFill>
                <a:latin typeface="2 Bold"/>
                <a:cs typeface="2 Bold" pitchFamily="18" charset="0"/>
              </a:rPr>
              <a:t>   </a:t>
            </a:r>
          </a:p>
          <a:p>
            <a:pPr marL="171450" indent="-171450">
              <a:lnSpc>
                <a:spcPts val="1100"/>
              </a:lnSpc>
              <a:spcBef>
                <a:spcPts val="0"/>
              </a:spcBef>
              <a:buFont typeface="Arial" panose="020B0604020202020204" pitchFamily="34" charset="0"/>
              <a:buChar char="•"/>
            </a:pPr>
            <a:endParaRPr lang="en-US" altLang="zh-CN" sz="1200" b="1" i="0" dirty="0">
              <a:solidFill>
                <a:srgbClr val="5C5C5F"/>
              </a:solidFill>
              <a:latin typeface="2 Bold"/>
              <a:cs typeface="2 Bold" pitchFamily="18" charset="0"/>
            </a:endParaRPr>
          </a:p>
          <a:p>
            <a:pPr marL="171450" indent="-171450">
              <a:lnSpc>
                <a:spcPts val="1100"/>
              </a:lnSpc>
              <a:spcBef>
                <a:spcPts val="0"/>
              </a:spcBef>
              <a:buFont typeface="Arial" panose="020B0604020202020204" pitchFamily="34" charset="0"/>
              <a:buChar char="•"/>
            </a:pPr>
            <a:r>
              <a:rPr lang="en-US" altLang="zh-CN" sz="1200" b="1" dirty="0">
                <a:solidFill>
                  <a:srgbClr val="5C5C5F"/>
                </a:solidFill>
                <a:latin typeface="2 Bold"/>
                <a:cs typeface="2 Bold" pitchFamily="18" charset="0"/>
              </a:rPr>
              <a:t>.</a:t>
            </a:r>
            <a:r>
              <a:rPr lang="en-US" sz="1200" b="1" dirty="0">
                <a:latin typeface="2 Bold"/>
              </a:rPr>
              <a:t>HR: This department has a slightly higher average performance score of approximately 4.11 and an average salary of $81,818.18.</a:t>
            </a:r>
          </a:p>
          <a:p>
            <a:pPr marL="171450" indent="-171450">
              <a:lnSpc>
                <a:spcPts val="1100"/>
              </a:lnSpc>
              <a:spcBef>
                <a:spcPts val="0"/>
              </a:spcBef>
              <a:buFont typeface="Arial" panose="020B0604020202020204" pitchFamily="34" charset="0"/>
              <a:buChar char="•"/>
            </a:pPr>
            <a:endParaRPr lang="en-US" sz="1200" b="1" dirty="0">
              <a:latin typeface="2 Bold"/>
            </a:endParaRPr>
          </a:p>
          <a:p>
            <a:pPr marL="171450" indent="-171450">
              <a:lnSpc>
                <a:spcPts val="1100"/>
              </a:lnSpc>
              <a:spcBef>
                <a:spcPts val="0"/>
              </a:spcBef>
              <a:buFont typeface="Arial" panose="020B0604020202020204" pitchFamily="34" charset="0"/>
              <a:buChar char="•"/>
            </a:pPr>
            <a:r>
              <a:rPr lang="en-US" sz="1200" b="1" dirty="0">
                <a:latin typeface="2 Bold"/>
              </a:rPr>
              <a:t>Marketing: This department has the highest average performance score at approximately 4.17 but a lower average salary compared to HR, at $77,857.14.</a:t>
            </a:r>
          </a:p>
          <a:p>
            <a:pPr marL="171450" indent="-171450">
              <a:lnSpc>
                <a:spcPts val="1100"/>
              </a:lnSpc>
              <a:spcBef>
                <a:spcPts val="0"/>
              </a:spcBef>
              <a:buFont typeface="Arial" panose="020B0604020202020204" pitchFamily="34" charset="0"/>
              <a:buChar char="•"/>
            </a:pPr>
            <a:endParaRPr lang="en-US" sz="1200" b="1" dirty="0">
              <a:latin typeface="2 Bold"/>
            </a:endParaRPr>
          </a:p>
          <a:p>
            <a:pPr marL="171450" indent="-171450">
              <a:lnSpc>
                <a:spcPts val="1100"/>
              </a:lnSpc>
              <a:spcBef>
                <a:spcPts val="0"/>
              </a:spcBef>
              <a:buFont typeface="Arial" panose="020B0604020202020204" pitchFamily="34" charset="0"/>
              <a:buChar char="•"/>
            </a:pPr>
            <a:r>
              <a:rPr lang="en-US" sz="1200" b="1" dirty="0">
                <a:latin typeface="2 Bold"/>
              </a:rPr>
              <a:t>Sales: This department has the lowest average performance score at approximately 4.07 (note: the image shows 4.066, but the next digit is a 9, rounding up to 4.07) but the highest average salary at $82,068.96.</a:t>
            </a:r>
          </a:p>
        </p:txBody>
      </p:sp>
      <p:sp>
        <p:nvSpPr>
          <p:cNvPr id="30" name="TextBox 30"/>
          <p:cNvSpPr txBox="1"/>
          <p:nvPr/>
        </p:nvSpPr>
        <p:spPr>
          <a:xfrm>
            <a:off x="3957323" y="2705081"/>
            <a:ext cx="2303728" cy="152400"/>
          </a:xfrm>
          <a:prstGeom prst="rect">
            <a:avLst/>
          </a:prstGeom>
          <a:noFill/>
        </p:spPr>
        <p:txBody>
          <a:bodyPr wrap="none" lIns="0" tIns="0" rIns="0" bIns="0" rtlCol="0">
            <a:spAutoFit/>
          </a:bodyPr>
          <a:lstStyle/>
          <a:p>
            <a:pPr>
              <a:lnSpc>
                <a:spcPts val="1200"/>
              </a:lnSpc>
              <a:spcBef>
                <a:spcPts val="0"/>
              </a:spcBef>
            </a:pPr>
            <a:r>
              <a:rPr lang="en-US" altLang="zh-CN" sz="1200" b="1" i="0" dirty="0">
                <a:solidFill>
                  <a:srgbClr val="5C5C5F"/>
                </a:solidFill>
                <a:latin typeface="2 Bold" pitchFamily="18" charset="0"/>
                <a:cs typeface="2 Bold" pitchFamily="18" charset="0"/>
              </a:rPr>
              <a:t>Actionable Recommendations</a:t>
            </a:r>
          </a:p>
        </p:txBody>
      </p:sp>
      <p:sp>
        <p:nvSpPr>
          <p:cNvPr id="31" name="Freeform 31"/>
          <p:cNvSpPr/>
          <p:nvPr/>
        </p:nvSpPr>
        <p:spPr>
          <a:xfrm>
            <a:off x="3908095" y="2886437"/>
            <a:ext cx="2176272" cy="6096"/>
          </a:xfrm>
          <a:custGeom>
            <a:avLst/>
            <a:gdLst>
              <a:gd name="connsiteX0" fmla="*/ 0 w 2176272"/>
              <a:gd name="connsiteY0" fmla="*/ 0 h 6096"/>
              <a:gd name="connsiteX1" fmla="*/ 1088136 w 2176272"/>
              <a:gd name="connsiteY1" fmla="*/ 0 h 6096"/>
              <a:gd name="connsiteX2" fmla="*/ 2176272 w 2176272"/>
              <a:gd name="connsiteY2" fmla="*/ 0 h 6096"/>
              <a:gd name="connsiteX3" fmla="*/ 2176272 w 2176272"/>
              <a:gd name="connsiteY3" fmla="*/ 6096 h 6096"/>
              <a:gd name="connsiteX4" fmla="*/ 1088136 w 2176272"/>
              <a:gd name="connsiteY4" fmla="*/ 6096 h 6096"/>
              <a:gd name="connsiteX5" fmla="*/ 0 w 2176272"/>
              <a:gd name="connsiteY5" fmla="*/ 6096 h 609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Lst>
            <a:rect l="l" t="t" r="r" b="b"/>
            <a:pathLst>
              <a:path w="2176272" h="6096">
                <a:moveTo>
                  <a:pt x="0" y="0"/>
                </a:moveTo>
                <a:lnTo>
                  <a:pt x="1088136" y="0"/>
                </a:lnTo>
                <a:lnTo>
                  <a:pt x="2176272" y="0"/>
                </a:lnTo>
                <a:lnTo>
                  <a:pt x="2176272" y="6096"/>
                </a:lnTo>
                <a:lnTo>
                  <a:pt x="1088136" y="6096"/>
                </a:lnTo>
                <a:lnTo>
                  <a:pt x="0" y="6096"/>
                </a:lnTo>
                <a:close/>
              </a:path>
            </a:pathLst>
          </a:custGeom>
          <a:solidFill>
            <a:srgbClr val="5C5C5F">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2" name="TextBox 32"/>
          <p:cNvSpPr txBox="1"/>
          <p:nvPr/>
        </p:nvSpPr>
        <p:spPr>
          <a:xfrm>
            <a:off x="3945699" y="2949948"/>
            <a:ext cx="5006150" cy="1948867"/>
          </a:xfrm>
          <a:prstGeom prst="rect">
            <a:avLst/>
          </a:prstGeom>
          <a:noFill/>
        </p:spPr>
        <p:txBody>
          <a:bodyPr wrap="square" lIns="0" tIns="0" rIns="0" bIns="0" rtlCol="0">
            <a:spAutoFit/>
          </a:bodyPr>
          <a:lstStyle/>
          <a:p>
            <a:pPr marL="171450" indent="-171450">
              <a:spcAft>
                <a:spcPts val="600"/>
              </a:spcAft>
              <a:buFont typeface="Arial" panose="020B0604020202020204" pitchFamily="34" charset="0"/>
              <a:buChar char="•"/>
            </a:pPr>
            <a:r>
              <a:rPr lang="en-US" sz="1200" b="1" dirty="0">
                <a:latin typeface="2 Bold"/>
              </a:rPr>
              <a:t>Conduct a salary audit and implement a performance-based bonus structure to retain top talent.</a:t>
            </a:r>
          </a:p>
          <a:p>
            <a:pPr marL="171450" indent="-171450">
              <a:lnSpc>
                <a:spcPts val="1200"/>
              </a:lnSpc>
              <a:spcBef>
                <a:spcPts val="0"/>
              </a:spcBef>
              <a:spcAft>
                <a:spcPts val="600"/>
              </a:spcAft>
              <a:buFont typeface="Arial" panose="020B0604020202020204" pitchFamily="34" charset="0"/>
              <a:buChar char="•"/>
            </a:pPr>
            <a:r>
              <a:rPr lang="en-US" sz="1200" b="1" dirty="0">
                <a:latin typeface="2 Bold"/>
              </a:rPr>
              <a:t>Conduct a salary audit and implement a performance-based bonus structure to retain top talent.</a:t>
            </a:r>
          </a:p>
          <a:p>
            <a:pPr marL="171450" indent="-171450">
              <a:lnSpc>
                <a:spcPts val="1200"/>
              </a:lnSpc>
              <a:spcBef>
                <a:spcPts val="0"/>
              </a:spcBef>
              <a:spcAft>
                <a:spcPts val="600"/>
              </a:spcAft>
              <a:buFont typeface="Arial" panose="020B0604020202020204" pitchFamily="34" charset="0"/>
              <a:buChar char="•"/>
            </a:pPr>
            <a:r>
              <a:rPr lang="en-US" sz="1200" b="1" dirty="0">
                <a:latin typeface="2 Bold"/>
              </a:rPr>
              <a:t>Implement a proactive retention strategy by conducting one-on-one reviews with high-performers to ensure their compensation and growth opportunities are meeting their expectations.</a:t>
            </a:r>
          </a:p>
          <a:p>
            <a:pPr marL="171450" indent="-171450">
              <a:lnSpc>
                <a:spcPts val="1200"/>
              </a:lnSpc>
              <a:spcBef>
                <a:spcPts val="0"/>
              </a:spcBef>
              <a:spcAft>
                <a:spcPts val="600"/>
              </a:spcAft>
              <a:buFont typeface="Arial" panose="020B0604020202020204" pitchFamily="34" charset="0"/>
              <a:buChar char="•"/>
            </a:pPr>
            <a:r>
              <a:rPr lang="en-US" sz="1200" b="1" dirty="0">
                <a:latin typeface="2 Bold"/>
              </a:rPr>
              <a:t>Establish a transparent compensation framework that clearly links performance to salary and promotions. </a:t>
            </a:r>
          </a:p>
          <a:p>
            <a:pPr marL="172212">
              <a:lnSpc>
                <a:spcPts val="1600"/>
              </a:lnSpc>
              <a:spcBef>
                <a:spcPts val="0"/>
              </a:spcBef>
            </a:pPr>
            <a:endParaRPr lang="en-US" altLang="zh-CN" sz="1200" b="1" i="0" dirty="0">
              <a:solidFill>
                <a:srgbClr val="5C5C5F"/>
              </a:solidFill>
              <a:latin typeface="2 Bold" pitchFamily="18" charset="0"/>
              <a:cs typeface="2 Bold" pitchFamily="18" charset="0"/>
            </a:endParaRPr>
          </a:p>
        </p:txBody>
      </p:sp>
      <p:pic>
        <p:nvPicPr>
          <p:cNvPr id="36" name="Picture 35">
            <a:extLst>
              <a:ext uri="{FF2B5EF4-FFF2-40B4-BE49-F238E27FC236}">
                <a16:creationId xmlns:a16="http://schemas.microsoft.com/office/drawing/2014/main" id="{5C440E3D-C2AF-C34B-1A4C-19087870EACF}"/>
              </a:ext>
            </a:extLst>
          </p:cNvPr>
          <p:cNvPicPr>
            <a:picLocks noChangeAspect="1"/>
          </p:cNvPicPr>
          <p:nvPr/>
        </p:nvPicPr>
        <p:blipFill>
          <a:blip r:embed="rId2"/>
          <a:stretch>
            <a:fillRect/>
          </a:stretch>
        </p:blipFill>
        <p:spPr>
          <a:xfrm>
            <a:off x="345296" y="753624"/>
            <a:ext cx="3152259" cy="394601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8723249"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055" y="1061212"/>
                  <a:pt x="38100" y="1061212"/>
                </a:cubicBezTo>
                <a:cubicBezTo>
                  <a:pt x="17018" y="1061212"/>
                  <a:pt x="0" y="1044067"/>
                  <a:pt x="0" y="1023112"/>
                </a:cubicBezTo>
                <a:cubicBezTo>
                  <a:pt x="0" y="1002030"/>
                  <a:pt x="17018" y="985012"/>
                  <a:pt x="38100" y="985012"/>
                </a:cubicBezTo>
                <a:cubicBezTo>
                  <a:pt x="59055" y="985012"/>
                  <a:pt x="76200" y="1002030"/>
                  <a:pt x="76200" y="1023112"/>
                </a:cubicBezTo>
                <a:moveTo>
                  <a:pt x="0" y="38100"/>
                </a:moveTo>
                <a:cubicBezTo>
                  <a:pt x="0" y="17145"/>
                  <a:pt x="17018" y="0"/>
                  <a:pt x="38100" y="0"/>
                </a:cubicBezTo>
                <a:cubicBezTo>
                  <a:pt x="59055" y="0"/>
                  <a:pt x="76200" y="17145"/>
                  <a:pt x="76200" y="38100"/>
                </a:cubicBezTo>
                <a:cubicBezTo>
                  <a:pt x="76200" y="59182"/>
                  <a:pt x="59055" y="76200"/>
                  <a:pt x="38100" y="76200"/>
                </a:cubicBezTo>
                <a:cubicBezTo>
                  <a:pt x="17018"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Freeform 9"/>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0" name="Freeform 10"/>
          <p:cNvSpPr/>
          <p:nvPr/>
        </p:nvSpPr>
        <p:spPr>
          <a:xfrm>
            <a:off x="356248" y="2041144"/>
            <a:ext cx="76200" cy="1061212"/>
          </a:xfrm>
          <a:custGeom>
            <a:avLst/>
            <a:gdLst>
              <a:gd name="connsiteX0" fmla="*/ 28575 w 76200"/>
              <a:gd name="connsiteY0" fmla="*/ 1023112 h 1061212"/>
              <a:gd name="connsiteX1" fmla="*/ 28575 w 76200"/>
              <a:gd name="connsiteY1" fmla="*/ 38100 h 1061212"/>
              <a:gd name="connsiteX2" fmla="*/ 47625 w 76200"/>
              <a:gd name="connsiteY2" fmla="*/ 38100 h 1061212"/>
              <a:gd name="connsiteX3" fmla="*/ 47625 w 76200"/>
              <a:gd name="connsiteY3" fmla="*/ 1023112 h 1061212"/>
              <a:gd name="connsiteX5" fmla="*/ 76200 w 76200"/>
              <a:gd name="connsiteY5" fmla="*/ 1023112 h 1061212"/>
              <a:gd name="connsiteX6" fmla="*/ 38100 w 76200"/>
              <a:gd name="connsiteY6" fmla="*/ 1061212 h 1061212"/>
              <a:gd name="connsiteX7" fmla="*/ 0 w 76200"/>
              <a:gd name="connsiteY7" fmla="*/ 1023112 h 1061212"/>
              <a:gd name="connsiteX8" fmla="*/ 38100 w 76200"/>
              <a:gd name="connsiteY8" fmla="*/ 985012 h 1061212"/>
              <a:gd name="connsiteX9" fmla="*/ 76200 w 76200"/>
              <a:gd name="connsiteY9" fmla="*/ 1023112 h 1061212"/>
              <a:gd name="connsiteX11" fmla="*/ 0 w 76200"/>
              <a:gd name="connsiteY11" fmla="*/ 38100 h 1061212"/>
              <a:gd name="connsiteX12" fmla="*/ 38100 w 76200"/>
              <a:gd name="connsiteY12" fmla="*/ 0 h 1061212"/>
              <a:gd name="connsiteX13" fmla="*/ 76200 w 76200"/>
              <a:gd name="connsiteY13" fmla="*/ 38100 h 1061212"/>
              <a:gd name="connsiteX14" fmla="*/ 38100 w 76200"/>
              <a:gd name="connsiteY14" fmla="*/ 76200 h 1061212"/>
              <a:gd name="connsiteX15" fmla="*/ 0 w 76200"/>
              <a:gd name="connsiteY15" fmla="*/ 38100 h 1061212"/>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76200" h="1061212">
                <a:moveTo>
                  <a:pt x="28575" y="1023112"/>
                </a:moveTo>
                <a:lnTo>
                  <a:pt x="28575" y="38100"/>
                </a:lnTo>
                <a:lnTo>
                  <a:pt x="47625" y="38100"/>
                </a:lnTo>
                <a:lnTo>
                  <a:pt x="47625" y="1023112"/>
                </a:lnTo>
                <a:moveTo>
                  <a:pt x="76200" y="1023112"/>
                </a:moveTo>
                <a:cubicBezTo>
                  <a:pt x="76200" y="1044067"/>
                  <a:pt x="59144" y="1061212"/>
                  <a:pt x="38100" y="1061212"/>
                </a:cubicBezTo>
                <a:cubicBezTo>
                  <a:pt x="17056" y="1061212"/>
                  <a:pt x="0" y="1044067"/>
                  <a:pt x="0" y="1023112"/>
                </a:cubicBezTo>
                <a:cubicBezTo>
                  <a:pt x="0" y="1002030"/>
                  <a:pt x="17056" y="985012"/>
                  <a:pt x="38100" y="985012"/>
                </a:cubicBezTo>
                <a:cubicBezTo>
                  <a:pt x="59144" y="985012"/>
                  <a:pt x="76200" y="1002030"/>
                  <a:pt x="76200" y="1023112"/>
                </a:cubicBezTo>
                <a:moveTo>
                  <a:pt x="0" y="38100"/>
                </a:moveTo>
                <a:cubicBezTo>
                  <a:pt x="0" y="17145"/>
                  <a:pt x="17056" y="0"/>
                  <a:pt x="38100" y="0"/>
                </a:cubicBezTo>
                <a:cubicBezTo>
                  <a:pt x="59144" y="0"/>
                  <a:pt x="76200" y="17145"/>
                  <a:pt x="76200" y="38100"/>
                </a:cubicBezTo>
                <a:cubicBezTo>
                  <a:pt x="76200" y="59182"/>
                  <a:pt x="59144" y="76200"/>
                  <a:pt x="38100" y="76200"/>
                </a:cubicBezTo>
                <a:cubicBezTo>
                  <a:pt x="17056" y="76200"/>
                  <a:pt x="0" y="59182"/>
                  <a:pt x="0" y="381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1" name="TextBox 11"/>
          <p:cNvSpPr txBox="1"/>
          <p:nvPr/>
        </p:nvSpPr>
        <p:spPr>
          <a:xfrm>
            <a:off x="4487926" y="2172335"/>
            <a:ext cx="2707436" cy="457200"/>
          </a:xfrm>
          <a:prstGeom prst="rect">
            <a:avLst/>
          </a:prstGeom>
          <a:noFill/>
        </p:spPr>
        <p:txBody>
          <a:bodyPr wrap="none" lIns="0" tIns="0" rIns="0" bIns="0" rtlCol="0">
            <a:spAutoFit/>
          </a:bodyPr>
          <a:lstStyle/>
          <a:p>
            <a:pPr>
              <a:lnSpc>
                <a:spcPts val="3600"/>
              </a:lnSpc>
              <a:spcBef>
                <a:spcPts val="0"/>
              </a:spcBef>
            </a:pPr>
            <a:r>
              <a:rPr lang="en-US" altLang="zh-CN" sz="3600" b="1" i="0" dirty="0">
                <a:solidFill>
                  <a:srgbClr val="5C5C5F"/>
                </a:solidFill>
                <a:latin typeface="6 Bold" pitchFamily="18" charset="0"/>
                <a:cs typeface="6 Bold" pitchFamily="18" charset="0"/>
              </a:rPr>
              <a:t>Conclusions</a:t>
            </a:r>
          </a:p>
        </p:txBody>
      </p:sp>
      <p:sp>
        <p:nvSpPr>
          <p:cNvPr id="12" name="TextBox 12"/>
          <p:cNvSpPr txBox="1"/>
          <p:nvPr/>
        </p:nvSpPr>
        <p:spPr>
          <a:xfrm>
            <a:off x="2100072" y="1940941"/>
            <a:ext cx="1033780" cy="762000"/>
          </a:xfrm>
          <a:prstGeom prst="rect">
            <a:avLst/>
          </a:prstGeom>
          <a:noFill/>
        </p:spPr>
        <p:txBody>
          <a:bodyPr wrap="none" lIns="0" tIns="0" rIns="0" bIns="0" rtlCol="0">
            <a:spAutoFit/>
          </a:bodyPr>
          <a:lstStyle/>
          <a:p>
            <a:pPr>
              <a:lnSpc>
                <a:spcPts val="6000"/>
              </a:lnSpc>
              <a:spcBef>
                <a:spcPts val="0"/>
              </a:spcBef>
            </a:pPr>
            <a:r>
              <a:rPr lang="en-US" altLang="zh-CN" sz="6000" b="1" i="0" dirty="0">
                <a:solidFill>
                  <a:srgbClr val="85789C"/>
                </a:solidFill>
                <a:latin typeface="6 Bold" pitchFamily="18" charset="0"/>
                <a:cs typeface="6 Bold" pitchFamily="18" charset="0"/>
              </a:rPr>
              <a:t>05</a:t>
            </a:r>
          </a:p>
        </p:txBody>
      </p:sp>
      <p:sp>
        <p:nvSpPr>
          <p:cNvPr id="13" name="TextBox 13"/>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20</a:t>
            </a:r>
          </a:p>
        </p:txBody>
      </p:sp>
      <p:sp>
        <p:nvSpPr>
          <p:cNvPr id="14" name="Freeform 14"/>
          <p:cNvSpPr/>
          <p:nvPr/>
        </p:nvSpPr>
        <p:spPr>
          <a:xfrm>
            <a:off x="1562481" y="2872486"/>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8100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8100"/>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5" name="Freeform 15"/>
          <p:cNvSpPr/>
          <p:nvPr/>
        </p:nvSpPr>
        <p:spPr>
          <a:xfrm>
            <a:off x="1562481" y="1676273"/>
            <a:ext cx="6018911" cy="82804"/>
          </a:xfrm>
          <a:custGeom>
            <a:avLst/>
            <a:gdLst>
              <a:gd name="connsiteX0" fmla="*/ 38100 w 6018911"/>
              <a:gd name="connsiteY0" fmla="*/ 54229 h 82804"/>
              <a:gd name="connsiteX1" fmla="*/ 5980811 w 6018911"/>
              <a:gd name="connsiteY1" fmla="*/ 47625 h 82804"/>
              <a:gd name="connsiteX2" fmla="*/ 5980811 w 6018911"/>
              <a:gd name="connsiteY2" fmla="*/ 28575 h 82804"/>
              <a:gd name="connsiteX3" fmla="*/ 38100 w 6018911"/>
              <a:gd name="connsiteY3" fmla="*/ 35179 h 82804"/>
              <a:gd name="connsiteX5" fmla="*/ 38100 w 6018911"/>
              <a:gd name="connsiteY5" fmla="*/ 6604 h 82804"/>
              <a:gd name="connsiteX6" fmla="*/ 0 w 6018911"/>
              <a:gd name="connsiteY6" fmla="*/ 44704 h 82804"/>
              <a:gd name="connsiteX7" fmla="*/ 38100 w 6018911"/>
              <a:gd name="connsiteY7" fmla="*/ 82804 h 82804"/>
              <a:gd name="connsiteX8" fmla="*/ 76200 w 6018911"/>
              <a:gd name="connsiteY8" fmla="*/ 44577 h 82804"/>
              <a:gd name="connsiteX9" fmla="*/ 38100 w 6018911"/>
              <a:gd name="connsiteY9" fmla="*/ 6604 h 82804"/>
              <a:gd name="connsiteX11" fmla="*/ 5980811 w 6018911"/>
              <a:gd name="connsiteY11" fmla="*/ 76200 h 82804"/>
              <a:gd name="connsiteX12" fmla="*/ 6018911 w 6018911"/>
              <a:gd name="connsiteY12" fmla="*/ 37973 h 82804"/>
              <a:gd name="connsiteX13" fmla="*/ 5980811 w 6018911"/>
              <a:gd name="connsiteY13" fmla="*/ 0 h 82804"/>
              <a:gd name="connsiteX14" fmla="*/ 5942711 w 6018911"/>
              <a:gd name="connsiteY14" fmla="*/ 38100 h 82804"/>
              <a:gd name="connsiteX15" fmla="*/ 5980811 w 6018911"/>
              <a:gd name="connsiteY15" fmla="*/ 76200 h 82804"/>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 ang="11">
                <a:pos x="connsiteX11" y="connsiteY11"/>
              </a:cxn>
              <a:cxn ang="12">
                <a:pos x="connsiteX12" y="connsiteY12"/>
              </a:cxn>
              <a:cxn ang="13">
                <a:pos x="connsiteX13" y="connsiteY13"/>
              </a:cxn>
              <a:cxn ang="14">
                <a:pos x="connsiteX14" y="connsiteY14"/>
              </a:cxn>
              <a:cxn ang="15">
                <a:pos x="connsiteX15" y="connsiteY15"/>
              </a:cxn>
            </a:cxnLst>
            <a:rect l="l" t="t" r="r" b="b"/>
            <a:pathLst>
              <a:path w="6018911" h="82804">
                <a:moveTo>
                  <a:pt x="38100" y="54229"/>
                </a:moveTo>
                <a:lnTo>
                  <a:pt x="5980811" y="47625"/>
                </a:lnTo>
                <a:lnTo>
                  <a:pt x="5980811" y="28575"/>
                </a:lnTo>
                <a:lnTo>
                  <a:pt x="38100" y="35179"/>
                </a:lnTo>
                <a:moveTo>
                  <a:pt x="38100" y="6604"/>
                </a:moveTo>
                <a:cubicBezTo>
                  <a:pt x="17018" y="6604"/>
                  <a:pt x="0" y="23622"/>
                  <a:pt x="0" y="44704"/>
                </a:cubicBezTo>
                <a:cubicBezTo>
                  <a:pt x="0" y="65786"/>
                  <a:pt x="17145" y="82804"/>
                  <a:pt x="38100" y="82804"/>
                </a:cubicBezTo>
                <a:cubicBezTo>
                  <a:pt x="59182" y="82804"/>
                  <a:pt x="76200" y="65659"/>
                  <a:pt x="76200" y="44577"/>
                </a:cubicBezTo>
                <a:cubicBezTo>
                  <a:pt x="76200" y="23622"/>
                  <a:pt x="59055" y="6604"/>
                  <a:pt x="38100" y="6604"/>
                </a:cubicBezTo>
                <a:moveTo>
                  <a:pt x="5980811" y="76200"/>
                </a:moveTo>
                <a:cubicBezTo>
                  <a:pt x="6001893" y="76200"/>
                  <a:pt x="6018911" y="59055"/>
                  <a:pt x="6018911" y="37973"/>
                </a:cubicBezTo>
                <a:cubicBezTo>
                  <a:pt x="6018911" y="17018"/>
                  <a:pt x="6001766" y="0"/>
                  <a:pt x="5980811" y="0"/>
                </a:cubicBezTo>
                <a:cubicBezTo>
                  <a:pt x="5959729" y="0"/>
                  <a:pt x="5942711" y="17018"/>
                  <a:pt x="5942711" y="38100"/>
                </a:cubicBezTo>
                <a:cubicBezTo>
                  <a:pt x="5942711" y="59182"/>
                  <a:pt x="5959856" y="76200"/>
                  <a:pt x="5980811"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6" name="Freeform 16"/>
          <p:cNvSpPr/>
          <p:nvPr/>
        </p:nvSpPr>
        <p:spPr>
          <a:xfrm>
            <a:off x="3244850" y="2217928"/>
            <a:ext cx="239395" cy="239395"/>
          </a:xfrm>
          <a:custGeom>
            <a:avLst/>
            <a:gdLst>
              <a:gd name="connsiteX0" fmla="*/ 0 w 239395"/>
              <a:gd name="connsiteY0" fmla="*/ 119761 h 239395"/>
              <a:gd name="connsiteX1" fmla="*/ 92964 w 239395"/>
              <a:gd name="connsiteY1" fmla="*/ 93091 h 239395"/>
              <a:gd name="connsiteX2" fmla="*/ 119634 w 239395"/>
              <a:gd name="connsiteY2" fmla="*/ 0 h 239395"/>
              <a:gd name="connsiteX3" fmla="*/ 146304 w 239395"/>
              <a:gd name="connsiteY3" fmla="*/ 93091 h 239395"/>
              <a:gd name="connsiteX4" fmla="*/ 239395 w 239395"/>
              <a:gd name="connsiteY4" fmla="*/ 119761 h 239395"/>
              <a:gd name="connsiteX5" fmla="*/ 146304 w 239395"/>
              <a:gd name="connsiteY5" fmla="*/ 146304 h 239395"/>
              <a:gd name="connsiteX6" fmla="*/ 119634 w 239395"/>
              <a:gd name="connsiteY6" fmla="*/ 239395 h 239395"/>
              <a:gd name="connsiteX7" fmla="*/ 92964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2964" y="93091"/>
                </a:lnTo>
                <a:lnTo>
                  <a:pt x="119634" y="0"/>
                </a:lnTo>
                <a:lnTo>
                  <a:pt x="146304" y="93091"/>
                </a:lnTo>
                <a:lnTo>
                  <a:pt x="239395" y="119761"/>
                </a:lnTo>
                <a:lnTo>
                  <a:pt x="146304" y="146304"/>
                </a:lnTo>
                <a:lnTo>
                  <a:pt x="119634" y="239395"/>
                </a:lnTo>
                <a:lnTo>
                  <a:pt x="92964"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17" name="Freeform 17"/>
          <p:cNvSpPr/>
          <p:nvPr/>
        </p:nvSpPr>
        <p:spPr>
          <a:xfrm>
            <a:off x="7280529" y="2217928"/>
            <a:ext cx="239395" cy="239395"/>
          </a:xfrm>
          <a:custGeom>
            <a:avLst/>
            <a:gdLst>
              <a:gd name="connsiteX0" fmla="*/ 0 w 239395"/>
              <a:gd name="connsiteY0" fmla="*/ 119761 h 239395"/>
              <a:gd name="connsiteX1" fmla="*/ 93090 w 239395"/>
              <a:gd name="connsiteY1" fmla="*/ 93091 h 239395"/>
              <a:gd name="connsiteX2" fmla="*/ 119634 w 239395"/>
              <a:gd name="connsiteY2" fmla="*/ 0 h 239395"/>
              <a:gd name="connsiteX3" fmla="*/ 146303 w 239395"/>
              <a:gd name="connsiteY3" fmla="*/ 93091 h 239395"/>
              <a:gd name="connsiteX4" fmla="*/ 239395 w 239395"/>
              <a:gd name="connsiteY4" fmla="*/ 119761 h 239395"/>
              <a:gd name="connsiteX5" fmla="*/ 146303 w 239395"/>
              <a:gd name="connsiteY5" fmla="*/ 146304 h 239395"/>
              <a:gd name="connsiteX6" fmla="*/ 119634 w 239395"/>
              <a:gd name="connsiteY6" fmla="*/ 239395 h 239395"/>
              <a:gd name="connsiteX7" fmla="*/ 93090 w 239395"/>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395" h="239395">
                <a:moveTo>
                  <a:pt x="0" y="119761"/>
                </a:moveTo>
                <a:lnTo>
                  <a:pt x="93090" y="93091"/>
                </a:lnTo>
                <a:lnTo>
                  <a:pt x="119634" y="0"/>
                </a:lnTo>
                <a:lnTo>
                  <a:pt x="146303" y="93091"/>
                </a:lnTo>
                <a:lnTo>
                  <a:pt x="239395" y="119761"/>
                </a:lnTo>
                <a:lnTo>
                  <a:pt x="146303" y="146304"/>
                </a:lnTo>
                <a:lnTo>
                  <a:pt x="119634" y="239395"/>
                </a:lnTo>
                <a:lnTo>
                  <a:pt x="93090"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Lst>
            <a:ahLst/>
            <a:cxnLst>
              <a:cxn ang="0">
                <a:pos x="connsiteX0" y="connsiteY0"/>
              </a:cxn>
              <a:cxn ang="1">
                <a:pos x="connsiteX1" y="connsiteY1"/>
              </a:cxn>
              <a:cxn ang="2">
                <a:pos x="connsiteX2" y="connsiteY2"/>
              </a:cxn>
              <a:cxn ang="3">
                <a:pos x="connsiteX3" y="connsiteY3"/>
              </a:cxn>
            </a:cxnLst>
            <a:rect l="l" t="t" r="r" b="b"/>
            <a:pathLst>
              <a:path w="9144000" h="5143500">
                <a:moveTo>
                  <a:pt x="0" y="5143500"/>
                </a:moveTo>
                <a:lnTo>
                  <a:pt x="9144000" y="5143500"/>
                </a:lnTo>
                <a:lnTo>
                  <a:pt x="9144000" y="0"/>
                </a:lnTo>
                <a:lnTo>
                  <a:pt x="0" y="0"/>
                </a:ln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Freeform 3"/>
          <p:cNvSpPr/>
          <p:nvPr/>
        </p:nvSpPr>
        <p:spPr>
          <a:xfrm>
            <a:off x="145948" y="149098"/>
            <a:ext cx="8852154" cy="4845304"/>
          </a:xfrm>
          <a:custGeom>
            <a:avLst/>
            <a:gdLst>
              <a:gd name="connsiteX0" fmla="*/ 0 w 8852154"/>
              <a:gd name="connsiteY0" fmla="*/ 4845304 h 4845304"/>
              <a:gd name="connsiteX1" fmla="*/ 8852154 w 8852154"/>
              <a:gd name="connsiteY1" fmla="*/ 4845304 h 4845304"/>
              <a:gd name="connsiteX2" fmla="*/ 8852154 w 8852154"/>
              <a:gd name="connsiteY2" fmla="*/ 0 h 4845304"/>
              <a:gd name="connsiteX3" fmla="*/ 0 w 8852154"/>
              <a:gd name="connsiteY3" fmla="*/ 0 h 4845304"/>
            </a:gdLst>
            <a:ahLst/>
            <a:cxnLst>
              <a:cxn ang="0">
                <a:pos x="connsiteX0" y="connsiteY0"/>
              </a:cxn>
              <a:cxn ang="1">
                <a:pos x="connsiteX1" y="connsiteY1"/>
              </a:cxn>
              <a:cxn ang="2">
                <a:pos x="connsiteX2" y="connsiteY2"/>
              </a:cxn>
              <a:cxn ang="3">
                <a:pos x="connsiteX3" y="connsiteY3"/>
              </a:cxn>
            </a:cxnLst>
            <a:rect l="l" t="t" r="r" b="b"/>
            <a:pathLst>
              <a:path w="8852154" h="4845304">
                <a:moveTo>
                  <a:pt x="0" y="4845304"/>
                </a:moveTo>
                <a:lnTo>
                  <a:pt x="8852154" y="4845304"/>
                </a:lnTo>
                <a:lnTo>
                  <a:pt x="8852154" y="0"/>
                </a:lnTo>
                <a:lnTo>
                  <a:pt x="0" y="0"/>
                </a:lnTo>
                <a:close/>
              </a:path>
            </a:pathLst>
          </a:custGeom>
          <a:solidFill>
            <a:srgbClr val="FAFAFA">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 name="Freeform 4"/>
          <p:cNvSpPr/>
          <p:nvPr/>
        </p:nvSpPr>
        <p:spPr>
          <a:xfrm>
            <a:off x="344526" y="301498"/>
            <a:ext cx="3841521" cy="76200"/>
          </a:xfrm>
          <a:custGeom>
            <a:avLst/>
            <a:gdLst>
              <a:gd name="connsiteX0" fmla="*/ 38100 w 3841521"/>
              <a:gd name="connsiteY0" fmla="*/ 28575 h 76200"/>
              <a:gd name="connsiteX1" fmla="*/ 3841521 w 3841521"/>
              <a:gd name="connsiteY1" fmla="*/ 28575 h 76200"/>
              <a:gd name="connsiteX2" fmla="*/ 3841521 w 3841521"/>
              <a:gd name="connsiteY2" fmla="*/ 47625 h 76200"/>
              <a:gd name="connsiteX3" fmla="*/ 38100 w 3841521"/>
              <a:gd name="connsiteY3" fmla="*/ 47625 h 76200"/>
              <a:gd name="connsiteX5" fmla="*/ 38100 w 3841521"/>
              <a:gd name="connsiteY5" fmla="*/ 76200 h 76200"/>
              <a:gd name="connsiteX6" fmla="*/ 0 w 3841521"/>
              <a:gd name="connsiteY6" fmla="*/ 38100 h 76200"/>
              <a:gd name="connsiteX7" fmla="*/ 38100 w 3841521"/>
              <a:gd name="connsiteY7" fmla="*/ 0 h 76200"/>
              <a:gd name="connsiteX8" fmla="*/ 76200 w 3841521"/>
              <a:gd name="connsiteY8" fmla="*/ 38100 h 76200"/>
              <a:gd name="connsiteX9" fmla="*/ 38100 w 3841521"/>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521" h="76200">
                <a:moveTo>
                  <a:pt x="38100" y="28575"/>
                </a:moveTo>
                <a:lnTo>
                  <a:pt x="3841521" y="28575"/>
                </a:lnTo>
                <a:lnTo>
                  <a:pt x="3841521" y="47625"/>
                </a:lnTo>
                <a:lnTo>
                  <a:pt x="38100" y="47625"/>
                </a:lnTo>
                <a:moveTo>
                  <a:pt x="38100" y="76200"/>
                </a:moveTo>
                <a:cubicBezTo>
                  <a:pt x="17056" y="76200"/>
                  <a:pt x="0" y="59055"/>
                  <a:pt x="0" y="38100"/>
                </a:cubicBezTo>
                <a:cubicBezTo>
                  <a:pt x="0" y="17018"/>
                  <a:pt x="17056" y="0"/>
                  <a:pt x="38100" y="0"/>
                </a:cubicBezTo>
                <a:cubicBezTo>
                  <a:pt x="59144" y="0"/>
                  <a:pt x="76200" y="17018"/>
                  <a:pt x="76200" y="38100"/>
                </a:cubicBezTo>
                <a:cubicBezTo>
                  <a:pt x="76200" y="59055"/>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5" name="Freeform 5"/>
          <p:cNvSpPr/>
          <p:nvPr/>
        </p:nvSpPr>
        <p:spPr>
          <a:xfrm>
            <a:off x="4452239" y="219837"/>
            <a:ext cx="239522" cy="239395"/>
          </a:xfrm>
          <a:custGeom>
            <a:avLst/>
            <a:gdLst>
              <a:gd name="connsiteX0" fmla="*/ 0 w 239522"/>
              <a:gd name="connsiteY0" fmla="*/ 119761 h 239395"/>
              <a:gd name="connsiteX1" fmla="*/ 93091 w 239522"/>
              <a:gd name="connsiteY1" fmla="*/ 93091 h 239395"/>
              <a:gd name="connsiteX2" fmla="*/ 119761 w 239522"/>
              <a:gd name="connsiteY2" fmla="*/ 0 h 239395"/>
              <a:gd name="connsiteX3" fmla="*/ 146431 w 239522"/>
              <a:gd name="connsiteY3" fmla="*/ 93091 h 239395"/>
              <a:gd name="connsiteX4" fmla="*/ 239522 w 239522"/>
              <a:gd name="connsiteY4" fmla="*/ 119761 h 239395"/>
              <a:gd name="connsiteX5" fmla="*/ 146431 w 239522"/>
              <a:gd name="connsiteY5" fmla="*/ 146304 h 239395"/>
              <a:gd name="connsiteX6" fmla="*/ 119761 w 239522"/>
              <a:gd name="connsiteY6" fmla="*/ 239395 h 239395"/>
              <a:gd name="connsiteX7" fmla="*/ 93091 w 239522"/>
              <a:gd name="connsiteY7" fmla="*/ 146304 h 23939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239522" h="239395">
                <a:moveTo>
                  <a:pt x="0" y="119761"/>
                </a:moveTo>
                <a:lnTo>
                  <a:pt x="93091" y="93091"/>
                </a:lnTo>
                <a:lnTo>
                  <a:pt x="119761" y="0"/>
                </a:lnTo>
                <a:lnTo>
                  <a:pt x="146431" y="93091"/>
                </a:lnTo>
                <a:lnTo>
                  <a:pt x="239522" y="119761"/>
                </a:lnTo>
                <a:lnTo>
                  <a:pt x="146431" y="146304"/>
                </a:lnTo>
                <a:lnTo>
                  <a:pt x="119761" y="239395"/>
                </a:lnTo>
                <a:lnTo>
                  <a:pt x="93091" y="146304"/>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6" name="Freeform 6"/>
          <p:cNvSpPr/>
          <p:nvPr/>
        </p:nvSpPr>
        <p:spPr>
          <a:xfrm>
            <a:off x="4957953" y="301498"/>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351" y="0"/>
                  <a:pt x="3841496" y="17018"/>
                  <a:pt x="3841496" y="38100"/>
                </a:cubicBezTo>
                <a:cubicBezTo>
                  <a:pt x="3841496" y="59055"/>
                  <a:pt x="3824351" y="76200"/>
                  <a:pt x="3803396" y="76200"/>
                </a:cubicBezTo>
                <a:cubicBezTo>
                  <a:pt x="3782314" y="76200"/>
                  <a:pt x="3765296" y="59055"/>
                  <a:pt x="3765296" y="38100"/>
                </a:cubicBezTo>
                <a:cubicBezTo>
                  <a:pt x="3765296" y="17018"/>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7" name="Freeform 7"/>
          <p:cNvSpPr/>
          <p:nvPr/>
        </p:nvSpPr>
        <p:spPr>
          <a:xfrm>
            <a:off x="344551" y="4760735"/>
            <a:ext cx="3841496" cy="76200"/>
          </a:xfrm>
          <a:custGeom>
            <a:avLst/>
            <a:gdLst>
              <a:gd name="connsiteX0" fmla="*/ 38100 w 3841496"/>
              <a:gd name="connsiteY0" fmla="*/ 28575 h 76200"/>
              <a:gd name="connsiteX1" fmla="*/ 3841496 w 3841496"/>
              <a:gd name="connsiteY1" fmla="*/ 28575 h 76200"/>
              <a:gd name="connsiteX2" fmla="*/ 3841496 w 3841496"/>
              <a:gd name="connsiteY2" fmla="*/ 47625 h 76200"/>
              <a:gd name="connsiteX3" fmla="*/ 38100 w 3841496"/>
              <a:gd name="connsiteY3" fmla="*/ 47625 h 76200"/>
              <a:gd name="connsiteX5" fmla="*/ 38100 w 3841496"/>
              <a:gd name="connsiteY5" fmla="*/ 76200 h 76200"/>
              <a:gd name="connsiteX6" fmla="*/ 0 w 3841496"/>
              <a:gd name="connsiteY6" fmla="*/ 38100 h 76200"/>
              <a:gd name="connsiteX7" fmla="*/ 38100 w 3841496"/>
              <a:gd name="connsiteY7" fmla="*/ 0 h 76200"/>
              <a:gd name="connsiteX8" fmla="*/ 76200 w 3841496"/>
              <a:gd name="connsiteY8" fmla="*/ 38100 h 76200"/>
              <a:gd name="connsiteX9" fmla="*/ 38100 w 3841496"/>
              <a:gd name="connsiteY9" fmla="*/ 7620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38100" y="28575"/>
                </a:moveTo>
                <a:lnTo>
                  <a:pt x="3841496" y="28575"/>
                </a:lnTo>
                <a:lnTo>
                  <a:pt x="3841496" y="47625"/>
                </a:lnTo>
                <a:lnTo>
                  <a:pt x="38100" y="47625"/>
                </a:lnTo>
                <a:moveTo>
                  <a:pt x="38100" y="76200"/>
                </a:moveTo>
                <a:cubicBezTo>
                  <a:pt x="17056" y="76200"/>
                  <a:pt x="0" y="59144"/>
                  <a:pt x="0" y="38100"/>
                </a:cubicBezTo>
                <a:cubicBezTo>
                  <a:pt x="0" y="17056"/>
                  <a:pt x="17056" y="0"/>
                  <a:pt x="38100" y="0"/>
                </a:cubicBezTo>
                <a:cubicBezTo>
                  <a:pt x="59144" y="0"/>
                  <a:pt x="76200" y="17056"/>
                  <a:pt x="76200" y="38100"/>
                </a:cubicBezTo>
                <a:cubicBezTo>
                  <a:pt x="76200" y="59144"/>
                  <a:pt x="59144" y="76200"/>
                  <a:pt x="38100" y="7620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8" name="Freeform 8"/>
          <p:cNvSpPr/>
          <p:nvPr/>
        </p:nvSpPr>
        <p:spPr>
          <a:xfrm>
            <a:off x="4957953" y="4760735"/>
            <a:ext cx="3841496" cy="76200"/>
          </a:xfrm>
          <a:custGeom>
            <a:avLst/>
            <a:gdLst>
              <a:gd name="connsiteX0" fmla="*/ 0 w 3841496"/>
              <a:gd name="connsiteY0" fmla="*/ 28575 h 76200"/>
              <a:gd name="connsiteX1" fmla="*/ 3803396 w 3841496"/>
              <a:gd name="connsiteY1" fmla="*/ 28575 h 76200"/>
              <a:gd name="connsiteX2" fmla="*/ 3803396 w 3841496"/>
              <a:gd name="connsiteY2" fmla="*/ 47625 h 76200"/>
              <a:gd name="connsiteX3" fmla="*/ 0 w 3841496"/>
              <a:gd name="connsiteY3" fmla="*/ 47625 h 76200"/>
              <a:gd name="connsiteX5" fmla="*/ 3803396 w 3841496"/>
              <a:gd name="connsiteY5" fmla="*/ 0 h 76200"/>
              <a:gd name="connsiteX6" fmla="*/ 3841496 w 3841496"/>
              <a:gd name="connsiteY6" fmla="*/ 38100 h 76200"/>
              <a:gd name="connsiteX7" fmla="*/ 3803396 w 3841496"/>
              <a:gd name="connsiteY7" fmla="*/ 76200 h 76200"/>
              <a:gd name="connsiteX8" fmla="*/ 3765296 w 3841496"/>
              <a:gd name="connsiteY8" fmla="*/ 38100 h 76200"/>
              <a:gd name="connsiteX9" fmla="*/ 3803396 w 3841496"/>
              <a:gd name="connsiteY9" fmla="*/ 0 h 76200"/>
            </a:gdLst>
            <a:ahLst/>
            <a:cxnLst>
              <a:cxn ang="0">
                <a:pos x="connsiteX0" y="connsiteY0"/>
              </a:cxn>
              <a:cxn ang="1">
                <a:pos x="connsiteX1" y="connsiteY1"/>
              </a:cxn>
              <a:cxn ang="2">
                <a:pos x="connsiteX2" y="connsiteY2"/>
              </a:cxn>
              <a:cxn ang="3">
                <a:pos x="connsiteX3" y="connsiteY3"/>
              </a:cxn>
              <a:cxn ang="5">
                <a:pos x="connsiteX5" y="connsiteY5"/>
              </a:cxn>
              <a:cxn ang="6">
                <a:pos x="connsiteX6" y="connsiteY6"/>
              </a:cxn>
              <a:cxn ang="7">
                <a:pos x="connsiteX7" y="connsiteY7"/>
              </a:cxn>
              <a:cxn ang="8">
                <a:pos x="connsiteX8" y="connsiteY8"/>
              </a:cxn>
              <a:cxn ang="9">
                <a:pos x="connsiteX9" y="connsiteY9"/>
              </a:cxn>
            </a:cxnLst>
            <a:rect l="l" t="t" r="r" b="b"/>
            <a:pathLst>
              <a:path w="3841496" h="76200">
                <a:moveTo>
                  <a:pt x="0" y="28575"/>
                </a:moveTo>
                <a:lnTo>
                  <a:pt x="3803396" y="28575"/>
                </a:lnTo>
                <a:lnTo>
                  <a:pt x="3803396" y="47625"/>
                </a:lnTo>
                <a:lnTo>
                  <a:pt x="0" y="47625"/>
                </a:lnTo>
                <a:moveTo>
                  <a:pt x="3803396" y="0"/>
                </a:moveTo>
                <a:cubicBezTo>
                  <a:pt x="3824478" y="0"/>
                  <a:pt x="3841496" y="17056"/>
                  <a:pt x="3841496" y="38100"/>
                </a:cubicBezTo>
                <a:cubicBezTo>
                  <a:pt x="3841496" y="59144"/>
                  <a:pt x="3824478" y="76200"/>
                  <a:pt x="3803396" y="76200"/>
                </a:cubicBezTo>
                <a:cubicBezTo>
                  <a:pt x="3782314" y="76200"/>
                  <a:pt x="3765296" y="59144"/>
                  <a:pt x="3765296" y="38100"/>
                </a:cubicBezTo>
                <a:cubicBezTo>
                  <a:pt x="3765296" y="17056"/>
                  <a:pt x="3782314" y="0"/>
                  <a:pt x="3803396" y="0"/>
                </a:cubicBezTo>
                <a:close/>
              </a:path>
            </a:pathLst>
          </a:custGeom>
          <a:solidFill>
            <a:srgbClr val="D0C9DD">
              <a:alpha val="100000"/>
            </a:srgbClr>
          </a:solidFill>
          <a:ln w="12700" cap="flat">
            <a:solidFill>
              <a:srgbClr val="000000">
                <a:alpha val="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9" name="TextBox 9"/>
          <p:cNvSpPr txBox="1"/>
          <p:nvPr/>
        </p:nvSpPr>
        <p:spPr>
          <a:xfrm>
            <a:off x="716890" y="980876"/>
            <a:ext cx="7228136" cy="3683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There is a substantial human capital investment with total annual salary expenses of $4,850,000 for 60 </a:t>
            </a:r>
          </a:p>
          <a:p>
            <a:pPr marL="172212">
              <a:lnSpc>
                <a:spcPts val="1500"/>
              </a:lnSpc>
              <a:spcBef>
                <a:spcPts val="0"/>
              </a:spcBef>
            </a:pPr>
            <a:r>
              <a:rPr lang="en-US" altLang="zh-CN" sz="1106" b="1" i="0" dirty="0">
                <a:solidFill>
                  <a:srgbClr val="5C5C5F"/>
                </a:solidFill>
                <a:latin typeface="2 Bold" pitchFamily="18" charset="0"/>
                <a:cs typeface="2 Bold" pitchFamily="18" charset="0"/>
              </a:rPr>
              <a:t>employees</a:t>
            </a:r>
          </a:p>
        </p:txBody>
      </p:sp>
      <p:sp>
        <p:nvSpPr>
          <p:cNvPr id="10" name="TextBox 10"/>
          <p:cNvSpPr txBox="1"/>
          <p:nvPr/>
        </p:nvSpPr>
        <p:spPr>
          <a:xfrm>
            <a:off x="716890" y="1366829"/>
            <a:ext cx="7412085" cy="1778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43.3% of employees earn above 80,000 while 56.7% earn below, requiring equitable compensation policies</a:t>
            </a:r>
          </a:p>
        </p:txBody>
      </p:sp>
      <p:sp>
        <p:nvSpPr>
          <p:cNvPr id="11" name="TextBox 11"/>
          <p:cNvSpPr txBox="1"/>
          <p:nvPr/>
        </p:nvSpPr>
        <p:spPr>
          <a:xfrm>
            <a:off x="716890" y="1558853"/>
            <a:ext cx="7116524" cy="3683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Marketing shows a negative correlation (-0.07) between performance and salary, contributing to high </a:t>
            </a:r>
          </a:p>
          <a:p>
            <a:pPr marL="172212">
              <a:lnSpc>
                <a:spcPts val="1500"/>
              </a:lnSpc>
              <a:spcBef>
                <a:spcPts val="0"/>
              </a:spcBef>
            </a:pPr>
            <a:r>
              <a:rPr lang="en-US" altLang="zh-CN" sz="1104" b="1" i="0" dirty="0">
                <a:solidFill>
                  <a:srgbClr val="5C5C5F"/>
                </a:solidFill>
                <a:latin typeface="2 Bold" pitchFamily="18" charset="0"/>
                <a:cs typeface="2 Bold" pitchFamily="18" charset="0"/>
              </a:rPr>
              <a:t>turnover (92.86) </a:t>
            </a:r>
          </a:p>
        </p:txBody>
      </p:sp>
      <p:sp>
        <p:nvSpPr>
          <p:cNvPr id="12" name="TextBox 12"/>
          <p:cNvSpPr txBox="1"/>
          <p:nvPr/>
        </p:nvSpPr>
        <p:spPr>
          <a:xfrm>
            <a:off x="716890" y="1944425"/>
            <a:ext cx="7466344" cy="3683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r>
              <a:rPr lang="en-US" altLang="zh-CN" sz="1104" b="1" i="0" dirty="0">
                <a:solidFill>
                  <a:srgbClr val="5C5C5F"/>
                </a:solidFill>
                <a:latin typeface="2 Bold" pitchFamily="18" charset="0"/>
                <a:cs typeface="2 Bold" pitchFamily="18" charset="0"/>
              </a:rPr>
              <a:t>   Engineering has the strongest (though generally weak) positive correlation (0.21), offering a model-for-pay </a:t>
            </a:r>
          </a:p>
          <a:p>
            <a:pPr marL="172212">
              <a:lnSpc>
                <a:spcPts val="1500"/>
              </a:lnSpc>
              <a:spcBef>
                <a:spcPts val="0"/>
              </a:spcBef>
            </a:pPr>
            <a:r>
              <a:rPr lang="en-US" altLang="zh-CN" sz="1104" b="1" i="0" dirty="0">
                <a:solidFill>
                  <a:srgbClr val="5C5C5F"/>
                </a:solidFill>
                <a:latin typeface="2 Bold" pitchFamily="18" charset="0"/>
                <a:cs typeface="2 Bold" pitchFamily="18" charset="0"/>
              </a:rPr>
              <a:t>performance</a:t>
            </a:r>
          </a:p>
        </p:txBody>
      </p:sp>
      <p:sp>
        <p:nvSpPr>
          <p:cNvPr id="13" name="TextBox 13"/>
          <p:cNvSpPr txBox="1"/>
          <p:nvPr/>
        </p:nvSpPr>
        <p:spPr>
          <a:xfrm>
            <a:off x="716890" y="2329749"/>
            <a:ext cx="3710765" cy="177800"/>
          </a:xfrm>
          <a:prstGeom prst="rect">
            <a:avLst/>
          </a:prstGeom>
          <a:noFill/>
        </p:spPr>
        <p:txBody>
          <a:bodyPr wrap="none" lIns="0" tIns="0" rIns="0" bIns="0" rtlCol="0">
            <a:spAutoFit/>
          </a:bodyPr>
          <a:lstStyle/>
          <a:p>
            <a:pPr>
              <a:lnSpc>
                <a:spcPts val="1400"/>
              </a:lnSpc>
              <a:spcBef>
                <a:spcPts val="0"/>
              </a:spcBef>
            </a:pPr>
            <a:r>
              <a:rPr lang="en-US" altLang="zh-CN" sz="1406" b="0" i="0" dirty="0">
                <a:solidFill>
                  <a:srgbClr val="5C5C5F"/>
                </a:solidFill>
                <a:latin typeface="Arial" pitchFamily="18" charset="0"/>
                <a:cs typeface="Arial" pitchFamily="18" charset="0"/>
              </a:rPr>
              <a:t>•</a:t>
            </a:r>
            <a:r>
              <a:rPr lang="en-US" altLang="zh-CN" sz="1106" b="1" i="0" dirty="0">
                <a:solidFill>
                  <a:srgbClr val="5C5C5F"/>
                </a:solidFill>
                <a:latin typeface="2 Bold" pitchFamily="18" charset="0"/>
                <a:cs typeface="2 Bold" pitchFamily="18" charset="0"/>
              </a:rPr>
              <a:t>   Sales related roles have the highest average salary</a:t>
            </a:r>
          </a:p>
        </p:txBody>
      </p:sp>
      <p:sp>
        <p:nvSpPr>
          <p:cNvPr id="14" name="TextBox 14"/>
          <p:cNvSpPr txBox="1"/>
          <p:nvPr/>
        </p:nvSpPr>
        <p:spPr>
          <a:xfrm>
            <a:off x="716890" y="3402893"/>
            <a:ext cx="189408" cy="1778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p>
        </p:txBody>
      </p:sp>
      <p:sp>
        <p:nvSpPr>
          <p:cNvPr id="15" name="TextBox 15"/>
          <p:cNvSpPr txBox="1"/>
          <p:nvPr/>
        </p:nvSpPr>
        <p:spPr>
          <a:xfrm>
            <a:off x="1003402" y="3435340"/>
            <a:ext cx="7134738" cy="139700"/>
          </a:xfrm>
          <a:prstGeom prst="rect">
            <a:avLst/>
          </a:prstGeom>
          <a:noFill/>
        </p:spPr>
        <p:txBody>
          <a:bodyPr wrap="none" lIns="0" tIns="0" rIns="0" bIns="0" rtlCol="0">
            <a:spAutoFit/>
          </a:bodyPr>
          <a:lstStyle/>
          <a:p>
            <a:pPr>
              <a:lnSpc>
                <a:spcPts val="1100"/>
              </a:lnSpc>
              <a:spcBef>
                <a:spcPts val="0"/>
              </a:spcBef>
            </a:pPr>
            <a:r>
              <a:rPr lang="en-US" altLang="zh-CN" sz="1104" b="1" i="0" dirty="0">
                <a:solidFill>
                  <a:srgbClr val="5C5C5F"/>
                </a:solidFill>
                <a:latin typeface="2 Bold" pitchFamily="18" charset="0"/>
                <a:cs typeface="2 Bold" pitchFamily="18" charset="0"/>
              </a:rPr>
              <a:t>Conduct comprehensive exit/stay surveys/interviews to evaluate leadership, resources and compensation</a:t>
            </a:r>
          </a:p>
        </p:txBody>
      </p:sp>
      <p:sp>
        <p:nvSpPr>
          <p:cNvPr id="16" name="TextBox 16"/>
          <p:cNvSpPr txBox="1"/>
          <p:nvPr/>
        </p:nvSpPr>
        <p:spPr>
          <a:xfrm>
            <a:off x="716890" y="3594917"/>
            <a:ext cx="189408" cy="1778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p>
        </p:txBody>
      </p:sp>
      <p:sp>
        <p:nvSpPr>
          <p:cNvPr id="17" name="TextBox 17"/>
          <p:cNvSpPr txBox="1"/>
          <p:nvPr/>
        </p:nvSpPr>
        <p:spPr>
          <a:xfrm>
            <a:off x="1003402" y="3627364"/>
            <a:ext cx="6887830" cy="330200"/>
          </a:xfrm>
          <a:prstGeom prst="rect">
            <a:avLst/>
          </a:prstGeom>
          <a:noFill/>
        </p:spPr>
        <p:txBody>
          <a:bodyPr wrap="none" lIns="0" tIns="0" rIns="0" bIns="0" rtlCol="0">
            <a:spAutoFit/>
          </a:bodyPr>
          <a:lstStyle/>
          <a:p>
            <a:pPr>
              <a:lnSpc>
                <a:spcPts val="1100"/>
              </a:lnSpc>
              <a:spcBef>
                <a:spcPts val="0"/>
              </a:spcBef>
            </a:pPr>
            <a:r>
              <a:rPr lang="en-US" altLang="zh-CN" sz="1104" b="1" i="0" dirty="0">
                <a:solidFill>
                  <a:srgbClr val="5C5C5F"/>
                </a:solidFill>
                <a:latin typeface="2 Bold" pitchFamily="18" charset="0"/>
                <a:cs typeface="2 Bold" pitchFamily="18" charset="0"/>
              </a:rPr>
              <a:t>Strengthen pay-for performance alignment and compensation equity across all department especially</a:t>
            </a:r>
          </a:p>
          <a:p>
            <a:pPr>
              <a:lnSpc>
                <a:spcPts val="1500"/>
              </a:lnSpc>
              <a:spcBef>
                <a:spcPts val="0"/>
              </a:spcBef>
            </a:pPr>
            <a:r>
              <a:rPr lang="en-US" altLang="zh-CN" sz="1104" b="1" i="0" dirty="0">
                <a:solidFill>
                  <a:srgbClr val="5C5C5F"/>
                </a:solidFill>
                <a:latin typeface="2 Bold" pitchFamily="18" charset="0"/>
                <a:cs typeface="2 Bold" pitchFamily="18" charset="0"/>
              </a:rPr>
              <a:t>marketing</a:t>
            </a:r>
          </a:p>
        </p:txBody>
      </p:sp>
      <p:sp>
        <p:nvSpPr>
          <p:cNvPr id="18" name="TextBox 18"/>
          <p:cNvSpPr txBox="1"/>
          <p:nvPr/>
        </p:nvSpPr>
        <p:spPr>
          <a:xfrm>
            <a:off x="716890" y="3980438"/>
            <a:ext cx="189408" cy="1778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p>
        </p:txBody>
      </p:sp>
      <p:sp>
        <p:nvSpPr>
          <p:cNvPr id="19" name="TextBox 19"/>
          <p:cNvSpPr txBox="1"/>
          <p:nvPr/>
        </p:nvSpPr>
        <p:spPr>
          <a:xfrm>
            <a:off x="1003402" y="4012885"/>
            <a:ext cx="5140981" cy="139700"/>
          </a:xfrm>
          <a:prstGeom prst="rect">
            <a:avLst/>
          </a:prstGeom>
          <a:noFill/>
        </p:spPr>
        <p:txBody>
          <a:bodyPr wrap="none" lIns="0" tIns="0" rIns="0" bIns="0" rtlCol="0">
            <a:spAutoFit/>
          </a:bodyPr>
          <a:lstStyle/>
          <a:p>
            <a:pPr>
              <a:lnSpc>
                <a:spcPts val="1100"/>
              </a:lnSpc>
              <a:spcBef>
                <a:spcPts val="0"/>
              </a:spcBef>
            </a:pPr>
            <a:r>
              <a:rPr lang="en-US" altLang="zh-CN" sz="1104" b="1" i="0" dirty="0">
                <a:solidFill>
                  <a:srgbClr val="5C5C5F"/>
                </a:solidFill>
                <a:latin typeface="2 Bold" pitchFamily="18" charset="0"/>
                <a:cs typeface="2 Bold" pitchFamily="18" charset="0"/>
              </a:rPr>
              <a:t>Create clear career paths, while implementing targeted retention initiatives</a:t>
            </a:r>
          </a:p>
        </p:txBody>
      </p:sp>
      <p:sp>
        <p:nvSpPr>
          <p:cNvPr id="20" name="TextBox 20"/>
          <p:cNvSpPr txBox="1"/>
          <p:nvPr/>
        </p:nvSpPr>
        <p:spPr>
          <a:xfrm>
            <a:off x="716890" y="4173739"/>
            <a:ext cx="189514" cy="177800"/>
          </a:xfrm>
          <a:prstGeom prst="rect">
            <a:avLst/>
          </a:prstGeom>
          <a:noFill/>
        </p:spPr>
        <p:txBody>
          <a:bodyPr wrap="none" lIns="0" tIns="0" rIns="0" bIns="0" rtlCol="0">
            <a:spAutoFit/>
          </a:bodyPr>
          <a:lstStyle/>
          <a:p>
            <a:pPr>
              <a:lnSpc>
                <a:spcPts val="1400"/>
              </a:lnSpc>
              <a:spcBef>
                <a:spcPts val="0"/>
              </a:spcBef>
            </a:pPr>
            <a:r>
              <a:rPr lang="en-US" altLang="zh-CN" sz="1406" b="0" i="0" dirty="0">
                <a:solidFill>
                  <a:srgbClr val="5C5C5F"/>
                </a:solidFill>
                <a:latin typeface="Arial" pitchFamily="18" charset="0"/>
                <a:cs typeface="Arial" pitchFamily="18" charset="0"/>
              </a:rPr>
              <a:t>•</a:t>
            </a:r>
          </a:p>
        </p:txBody>
      </p:sp>
      <p:sp>
        <p:nvSpPr>
          <p:cNvPr id="21" name="TextBox 21"/>
          <p:cNvSpPr txBox="1"/>
          <p:nvPr/>
        </p:nvSpPr>
        <p:spPr>
          <a:xfrm>
            <a:off x="1003402" y="4206433"/>
            <a:ext cx="4544113" cy="139700"/>
          </a:xfrm>
          <a:prstGeom prst="rect">
            <a:avLst/>
          </a:prstGeom>
          <a:noFill/>
        </p:spPr>
        <p:txBody>
          <a:bodyPr wrap="none" lIns="0" tIns="0" rIns="0" bIns="0" rtlCol="0">
            <a:spAutoFit/>
          </a:bodyPr>
          <a:lstStyle/>
          <a:p>
            <a:pPr>
              <a:lnSpc>
                <a:spcPts val="1100"/>
              </a:lnSpc>
              <a:spcBef>
                <a:spcPts val="0"/>
              </a:spcBef>
            </a:pPr>
            <a:r>
              <a:rPr lang="en-US" altLang="zh-CN" sz="1104" b="1" i="0" dirty="0">
                <a:solidFill>
                  <a:srgbClr val="5C5C5F"/>
                </a:solidFill>
                <a:latin typeface="2 Bold" pitchFamily="18" charset="0"/>
                <a:cs typeface="2 Bold" pitchFamily="18" charset="0"/>
              </a:rPr>
              <a:t>Foster a positive work environment and improve work life balance</a:t>
            </a:r>
          </a:p>
        </p:txBody>
      </p:sp>
      <p:sp>
        <p:nvSpPr>
          <p:cNvPr id="22" name="TextBox 22"/>
          <p:cNvSpPr txBox="1"/>
          <p:nvPr/>
        </p:nvSpPr>
        <p:spPr>
          <a:xfrm>
            <a:off x="716890" y="4366315"/>
            <a:ext cx="189408" cy="177800"/>
          </a:xfrm>
          <a:prstGeom prst="rect">
            <a:avLst/>
          </a:prstGeom>
          <a:noFill/>
        </p:spPr>
        <p:txBody>
          <a:bodyPr wrap="none" lIns="0" tIns="0" rIns="0" bIns="0" rtlCol="0">
            <a:spAutoFit/>
          </a:bodyPr>
          <a:lstStyle/>
          <a:p>
            <a:pPr>
              <a:lnSpc>
                <a:spcPts val="1400"/>
              </a:lnSpc>
              <a:spcBef>
                <a:spcPts val="0"/>
              </a:spcBef>
            </a:pPr>
            <a:r>
              <a:rPr lang="en-US" altLang="zh-CN" sz="1404" b="0" i="0" dirty="0">
                <a:solidFill>
                  <a:srgbClr val="5C5C5F"/>
                </a:solidFill>
                <a:latin typeface="Arial" pitchFamily="18" charset="0"/>
                <a:cs typeface="Arial" pitchFamily="18" charset="0"/>
              </a:rPr>
              <a:t>•</a:t>
            </a:r>
          </a:p>
        </p:txBody>
      </p:sp>
      <p:sp>
        <p:nvSpPr>
          <p:cNvPr id="23" name="TextBox 23"/>
          <p:cNvSpPr txBox="1"/>
          <p:nvPr/>
        </p:nvSpPr>
        <p:spPr>
          <a:xfrm>
            <a:off x="1003402" y="4398762"/>
            <a:ext cx="6764448" cy="330200"/>
          </a:xfrm>
          <a:prstGeom prst="rect">
            <a:avLst/>
          </a:prstGeom>
          <a:noFill/>
        </p:spPr>
        <p:txBody>
          <a:bodyPr wrap="none" lIns="0" tIns="0" rIns="0" bIns="0" rtlCol="0">
            <a:spAutoFit/>
          </a:bodyPr>
          <a:lstStyle/>
          <a:p>
            <a:pPr>
              <a:lnSpc>
                <a:spcPts val="1100"/>
              </a:lnSpc>
              <a:spcBef>
                <a:spcPts val="0"/>
              </a:spcBef>
            </a:pPr>
            <a:r>
              <a:rPr lang="en-US" altLang="zh-CN" sz="1104" b="1" i="0" dirty="0">
                <a:solidFill>
                  <a:srgbClr val="5C5C5F"/>
                </a:solidFill>
                <a:latin typeface="2 Bold" pitchFamily="18" charset="0"/>
                <a:cs typeface="2 Bold" pitchFamily="18" charset="0"/>
              </a:rPr>
              <a:t>Build HR analytics platforms/dashboards to conduct regular monitoring and audits of compensation</a:t>
            </a:r>
          </a:p>
          <a:p>
            <a:pPr>
              <a:lnSpc>
                <a:spcPts val="1500"/>
              </a:lnSpc>
              <a:spcBef>
                <a:spcPts val="0"/>
              </a:spcBef>
            </a:pPr>
            <a:r>
              <a:rPr lang="en-US" altLang="zh-CN" sz="1104" b="1" i="0" dirty="0">
                <a:solidFill>
                  <a:srgbClr val="5C5C5F"/>
                </a:solidFill>
                <a:latin typeface="2 Bold" pitchFamily="18" charset="0"/>
                <a:cs typeface="2 Bold" pitchFamily="18" charset="0"/>
              </a:rPr>
              <a:t>packages</a:t>
            </a:r>
          </a:p>
        </p:txBody>
      </p:sp>
      <p:sp>
        <p:nvSpPr>
          <p:cNvPr id="24" name="Freeform 24"/>
          <p:cNvSpPr/>
          <p:nvPr/>
        </p:nvSpPr>
        <p:spPr>
          <a:xfrm>
            <a:off x="625411" y="502996"/>
            <a:ext cx="7703947" cy="308407"/>
          </a:xfrm>
          <a:custGeom>
            <a:avLst/>
            <a:gdLst>
              <a:gd name="connsiteX0" fmla="*/ 0 w 7703947"/>
              <a:gd name="connsiteY0" fmla="*/ 308407 h 308407"/>
              <a:gd name="connsiteX1" fmla="*/ 7703947 w 7703947"/>
              <a:gd name="connsiteY1" fmla="*/ 308407 h 308407"/>
              <a:gd name="connsiteX2" fmla="*/ 7703947 w 7703947"/>
              <a:gd name="connsiteY2" fmla="*/ 0 h 308407"/>
              <a:gd name="connsiteX3" fmla="*/ 0 w 7703947"/>
              <a:gd name="connsiteY3" fmla="*/ 0 h 308407"/>
            </a:gdLst>
            <a:ahLst/>
            <a:cxnLst>
              <a:cxn ang="0">
                <a:pos x="connsiteX0" y="connsiteY0"/>
              </a:cxn>
              <a:cxn ang="1">
                <a:pos x="connsiteX1" y="connsiteY1"/>
              </a:cxn>
              <a:cxn ang="2">
                <a:pos x="connsiteX2" y="connsiteY2"/>
              </a:cxn>
              <a:cxn ang="3">
                <a:pos x="connsiteX3" y="connsiteY3"/>
              </a:cxn>
            </a:cxnLst>
            <a:rect l="l" t="t" r="r" b="b"/>
            <a:pathLst>
              <a:path w="7703947" h="308407">
                <a:moveTo>
                  <a:pt x="0" y="308407"/>
                </a:moveTo>
                <a:lnTo>
                  <a:pt x="7703947" y="308407"/>
                </a:lnTo>
                <a:lnTo>
                  <a:pt x="7703947"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5" name="TextBox 25"/>
          <p:cNvSpPr txBox="1"/>
          <p:nvPr/>
        </p:nvSpPr>
        <p:spPr>
          <a:xfrm>
            <a:off x="716890" y="542265"/>
            <a:ext cx="1812607" cy="254000"/>
          </a:xfrm>
          <a:prstGeom prst="rect">
            <a:avLst/>
          </a:prstGeom>
          <a:noFill/>
        </p:spPr>
        <p:txBody>
          <a:bodyPr wrap="none" lIns="0" tIns="0" rIns="0" bIns="0" rtlCol="0">
            <a:spAutoFit/>
          </a:bodyPr>
          <a:lstStyle/>
          <a:p>
            <a:pPr>
              <a:lnSpc>
                <a:spcPts val="2000"/>
              </a:lnSpc>
              <a:spcBef>
                <a:spcPts val="0"/>
              </a:spcBef>
            </a:pPr>
            <a:r>
              <a:rPr lang="en-US" altLang="zh-CN" sz="2004" b="1" i="0" dirty="0">
                <a:solidFill>
                  <a:srgbClr val="85789C"/>
                </a:solidFill>
                <a:latin typeface="6 Bold" pitchFamily="18" charset="0"/>
                <a:cs typeface="6 Bold" pitchFamily="18" charset="0"/>
              </a:rPr>
              <a:t>KEY INSIGHTS</a:t>
            </a:r>
          </a:p>
        </p:txBody>
      </p:sp>
      <p:sp>
        <p:nvSpPr>
          <p:cNvPr id="26" name="Freeform 26"/>
          <p:cNvSpPr/>
          <p:nvPr/>
        </p:nvSpPr>
        <p:spPr>
          <a:xfrm>
            <a:off x="625411" y="2894533"/>
            <a:ext cx="7703947" cy="308407"/>
          </a:xfrm>
          <a:custGeom>
            <a:avLst/>
            <a:gdLst>
              <a:gd name="connsiteX0" fmla="*/ 0 w 7703947"/>
              <a:gd name="connsiteY0" fmla="*/ 308407 h 308407"/>
              <a:gd name="connsiteX1" fmla="*/ 7703947 w 7703947"/>
              <a:gd name="connsiteY1" fmla="*/ 308407 h 308407"/>
              <a:gd name="connsiteX2" fmla="*/ 7703947 w 7703947"/>
              <a:gd name="connsiteY2" fmla="*/ 0 h 308407"/>
              <a:gd name="connsiteX3" fmla="*/ 0 w 7703947"/>
              <a:gd name="connsiteY3" fmla="*/ 0 h 308407"/>
            </a:gdLst>
            <a:ahLst/>
            <a:cxnLst>
              <a:cxn ang="0">
                <a:pos x="connsiteX0" y="connsiteY0"/>
              </a:cxn>
              <a:cxn ang="1">
                <a:pos x="connsiteX1" y="connsiteY1"/>
              </a:cxn>
              <a:cxn ang="2">
                <a:pos x="connsiteX2" y="connsiteY2"/>
              </a:cxn>
              <a:cxn ang="3">
                <a:pos x="connsiteX3" y="connsiteY3"/>
              </a:cxn>
            </a:cxnLst>
            <a:rect l="l" t="t" r="r" b="b"/>
            <a:pathLst>
              <a:path w="7703947" h="308407">
                <a:moveTo>
                  <a:pt x="0" y="308407"/>
                </a:moveTo>
                <a:lnTo>
                  <a:pt x="7703947" y="308407"/>
                </a:lnTo>
                <a:lnTo>
                  <a:pt x="7703947" y="0"/>
                </a:lnTo>
                <a:lnTo>
                  <a:pt x="0" y="0"/>
                </a:lnTo>
                <a:close/>
              </a:path>
            </a:pathLst>
          </a:custGeom>
          <a:solidFill>
            <a:srgbClr val="000000">
              <a:alpha val="0"/>
            </a:srgbClr>
          </a:solidFill>
          <a:ln w="19050" cap="flat">
            <a:solidFill>
              <a:srgbClr val="D0C9DD">
                <a:alpha val="100000"/>
              </a:srgbClr>
            </a:solidFill>
            <a:prstDash val="solid"/>
          </a:ln>
        </p:spPr>
        <p:style>
          <a:lnRef idx="1">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7" name="TextBox 27"/>
          <p:cNvSpPr txBox="1"/>
          <p:nvPr/>
        </p:nvSpPr>
        <p:spPr>
          <a:xfrm>
            <a:off x="716890" y="2934066"/>
            <a:ext cx="5214593" cy="254000"/>
          </a:xfrm>
          <a:prstGeom prst="rect">
            <a:avLst/>
          </a:prstGeom>
          <a:noFill/>
        </p:spPr>
        <p:txBody>
          <a:bodyPr wrap="none" lIns="0" tIns="0" rIns="0" bIns="0" rtlCol="0">
            <a:spAutoFit/>
          </a:bodyPr>
          <a:lstStyle/>
          <a:p>
            <a:pPr>
              <a:lnSpc>
                <a:spcPts val="2000"/>
              </a:lnSpc>
              <a:spcBef>
                <a:spcPts val="0"/>
              </a:spcBef>
            </a:pPr>
            <a:r>
              <a:rPr lang="en-US" altLang="zh-CN" sz="2006" b="1" i="0" dirty="0">
                <a:solidFill>
                  <a:srgbClr val="85789C"/>
                </a:solidFill>
                <a:latin typeface="6 Bold" pitchFamily="18" charset="0"/>
                <a:cs typeface="6 Bold" pitchFamily="18" charset="0"/>
              </a:rPr>
              <a:t>ACTIONABLERECOMMENDATIONSFORHR?</a:t>
            </a:r>
          </a:p>
        </p:txBody>
      </p:sp>
      <p:sp>
        <p:nvSpPr>
          <p:cNvPr id="28" name="TextBox 28"/>
          <p:cNvSpPr txBox="1"/>
          <p:nvPr/>
        </p:nvSpPr>
        <p:spPr>
          <a:xfrm>
            <a:off x="4473829" y="4722440"/>
            <a:ext cx="324510" cy="152400"/>
          </a:xfrm>
          <a:prstGeom prst="rect">
            <a:avLst/>
          </a:prstGeom>
          <a:noFill/>
        </p:spPr>
        <p:txBody>
          <a:bodyPr wrap="none" lIns="0" tIns="0" rIns="0" bIns="0" rtlCol="0">
            <a:spAutoFit/>
          </a:bodyPr>
          <a:lstStyle/>
          <a:p>
            <a:pPr>
              <a:lnSpc>
                <a:spcPts val="1200"/>
              </a:lnSpc>
              <a:spcBef>
                <a:spcPts val="0"/>
              </a:spcBef>
            </a:pPr>
            <a:r>
              <a:rPr lang="en-US" altLang="zh-CN" sz="1296" b="0" i="0" dirty="0">
                <a:solidFill>
                  <a:srgbClr val="85789C"/>
                </a:solidFill>
                <a:latin typeface="1 Regular" pitchFamily="18" charset="0"/>
                <a:cs typeface="1 Regular" pitchFamily="18" charset="0"/>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1609</Words>
  <Application>Microsoft Office PowerPoint</Application>
  <PresentationFormat>On-screen Show (16:9)</PresentationFormat>
  <Paragraphs>288</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1 Regular</vt:lpstr>
      <vt:lpstr>2 Bold</vt:lpstr>
      <vt:lpstr>5 Regular</vt:lpstr>
      <vt:lpstr>6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Microsoft</Manager>
  <Company>SIA Webby, Powered by Flyingbee PDF SDK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core.xml</dc:title>
  <dc:creator>SIA Webby</dc:creator>
  <cp:lastModifiedBy>Adelanwa Ogunlolu</cp:lastModifiedBy>
  <cp:revision>4</cp:revision>
  <dcterms:created xsi:type="dcterms:W3CDTF">2025-08-03T22:43:31Z</dcterms:created>
  <dcterms:modified xsi:type="dcterms:W3CDTF">2025-09-25T01:55:24Z</dcterms:modified>
</cp:coreProperties>
</file>